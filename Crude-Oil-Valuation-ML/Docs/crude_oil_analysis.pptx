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6"/>
  </p:notesMasterIdLst>
  <p:handoutMasterIdLst>
    <p:handoutMasterId r:id="rId57"/>
  </p:handoutMasterIdLst>
  <p:sldIdLst>
    <p:sldId id="399" r:id="rId5"/>
    <p:sldId id="397" r:id="rId6"/>
    <p:sldId id="380" r:id="rId7"/>
    <p:sldId id="369" r:id="rId8"/>
    <p:sldId id="391" r:id="rId9"/>
    <p:sldId id="309" r:id="rId10"/>
    <p:sldId id="400" r:id="rId11"/>
    <p:sldId id="392" r:id="rId12"/>
    <p:sldId id="310" r:id="rId13"/>
    <p:sldId id="371" r:id="rId14"/>
    <p:sldId id="398" r:id="rId15"/>
    <p:sldId id="401" r:id="rId16"/>
    <p:sldId id="393" r:id="rId17"/>
    <p:sldId id="402" r:id="rId18"/>
    <p:sldId id="403" r:id="rId19"/>
    <p:sldId id="406" r:id="rId20"/>
    <p:sldId id="405" r:id="rId21"/>
    <p:sldId id="404" r:id="rId22"/>
    <p:sldId id="407" r:id="rId23"/>
    <p:sldId id="409" r:id="rId24"/>
    <p:sldId id="408" r:id="rId25"/>
    <p:sldId id="411" r:id="rId26"/>
    <p:sldId id="311" r:id="rId27"/>
    <p:sldId id="362" r:id="rId28"/>
    <p:sldId id="412" r:id="rId29"/>
    <p:sldId id="413" r:id="rId30"/>
    <p:sldId id="348" r:id="rId31"/>
    <p:sldId id="414" r:id="rId32"/>
    <p:sldId id="415" r:id="rId33"/>
    <p:sldId id="416" r:id="rId34"/>
    <p:sldId id="417" r:id="rId35"/>
    <p:sldId id="420" r:id="rId36"/>
    <p:sldId id="419" r:id="rId37"/>
    <p:sldId id="418" r:id="rId38"/>
    <p:sldId id="421" r:id="rId39"/>
    <p:sldId id="423" r:id="rId40"/>
    <p:sldId id="422" r:id="rId41"/>
    <p:sldId id="425" r:id="rId42"/>
    <p:sldId id="424" r:id="rId43"/>
    <p:sldId id="426" r:id="rId44"/>
    <p:sldId id="427" r:id="rId45"/>
    <p:sldId id="428" r:id="rId46"/>
    <p:sldId id="429" r:id="rId47"/>
    <p:sldId id="430" r:id="rId48"/>
    <p:sldId id="343" r:id="rId49"/>
    <p:sldId id="376" r:id="rId50"/>
    <p:sldId id="432" r:id="rId51"/>
    <p:sldId id="433" r:id="rId52"/>
    <p:sldId id="434" r:id="rId53"/>
    <p:sldId id="435" r:id="rId54"/>
    <p:sldId id="381" r:id="rId55"/>
  </p:sldIdLst>
  <p:sldSz cx="12192000" cy="6858000"/>
  <p:notesSz cx="6858000" cy="9144000"/>
  <p:custDataLst>
    <p:tags r:id="rId5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7D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70B693-2F7C-4E20-7BAE-710142DF56DE}" v="113" dt="2025-11-26T09:50:59.272"/>
    <p1510:client id="{65FE758B-3E07-4389-BD64-92D843490DF9}" v="1305" dt="2025-11-26T11:04:56.698"/>
    <p1510:client id="{80D75277-FF4B-4F03-B864-A92043250CE6}" v="21" dt="2025-11-25T22:00:52.515"/>
    <p1510:client id="{9CBA60A9-D91D-4E8C-A2DA-7E4DAE136499}" v="161" dt="2025-11-26T04:43:05.773"/>
    <p1510:client id="{AB01C248-85B8-4774-B4A6-BD11A8FCFEEF}" v="122" dt="2025-11-26T04:27:05.524"/>
    <p1510:client id="{F0086030-6AF7-4254-9F1E-037585A16433}" v="1513" dt="2025-11-25T21:56:08.192"/>
    <p1510:client id="{F6415235-2E20-43ED-995A-BE4CE82CC013}" v="1412" dt="2025-11-26T08:26:01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65147B-20AD-4DEC-86A5-9B797D0910B9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Segoe UI Black"/>
              <a:cs typeface="+mn-cs"/>
            </a:rPr>
            <a:t>Analyzed crude oil quality and composition (41 samples).</a:t>
          </a:r>
        </a:p>
      </dgm:t>
    </dgm:pt>
    <dgm:pt modelId="{32058C94-31E6-40A3-9C26-AE84E070D007}" type="parTrans" cxnId="{08868A75-595E-4F05-AFE3-6A4ED9EF6BC7}">
      <dgm:prSet/>
      <dgm:spPr/>
      <dgm:t>
        <a:bodyPr/>
        <a:lstStyle/>
        <a:p>
          <a:endParaRPr lang="en-US"/>
        </a:p>
      </dgm:t>
    </dgm:pt>
    <dgm:pt modelId="{CDD008E0-FBE5-48B8-BB50-27A1994DD7B4}" type="sibTrans" cxnId="{08868A75-595E-4F05-AFE3-6A4ED9EF6BC7}">
      <dgm:prSet/>
      <dgm:spPr/>
      <dgm:t>
        <a:bodyPr/>
        <a:lstStyle/>
        <a:p>
          <a:endParaRPr lang="en-US"/>
        </a:p>
      </dgm:t>
    </dgm:pt>
    <dgm:pt modelId="{AC1CF65C-1E5E-47AA-AFD7-0D493C55F53B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Segoe UI Black"/>
              <a:cs typeface="+mn-cs"/>
            </a:rPr>
            <a:t>Cleaned 33 features (27 numerical, 6 categorical); no missing values.</a:t>
          </a: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C08723B0-F87F-45BD-9750-FE661D50F9EC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Calculated Mean, Mode, SD, and Range to find averages and outliers.</a:t>
          </a:r>
        </a:p>
      </dgm:t>
    </dgm:pt>
    <dgm:pt modelId="{011AC146-C9E5-420E-98FD-8FAC1BA65964}" type="parTrans" cxnId="{1F708F11-10A7-479B-8CBC-F386F0228CB2}">
      <dgm:prSet/>
      <dgm:spPr/>
      <dgm:t>
        <a:bodyPr/>
        <a:lstStyle/>
        <a:p>
          <a:endParaRPr lang="en-US"/>
        </a:p>
      </dgm:t>
    </dgm:pt>
    <dgm:pt modelId="{BB18F552-86C6-4895-9443-52FD9359C959}" type="sibTrans" cxnId="{1F708F11-10A7-479B-8CBC-F386F0228CB2}">
      <dgm:prSet/>
      <dgm:spPr/>
      <dgm:t>
        <a:bodyPr/>
        <a:lstStyle/>
        <a:p>
          <a:endParaRPr lang="en-US"/>
        </a:p>
      </dgm:t>
    </dgm:pt>
    <dgm:pt modelId="{8B3330F5-169E-404D-B1D6-60C1831A2DB0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Segoe UI Black"/>
              <a:cs typeface="+mn-cs"/>
            </a:rPr>
            <a:t>Mapped distributions of crude types, regions, and sulfur levels</a:t>
          </a:r>
          <a:r>
            <a:rPr lang="en-US" sz="1400">
              <a:solidFill>
                <a:srgbClr val="2F2F2F"/>
              </a:solidFill>
              <a:latin typeface="Aptos"/>
              <a:ea typeface="Segoe UI Black"/>
              <a:cs typeface="+mn-cs"/>
            </a:rPr>
            <a:t>.</a:t>
          </a:r>
        </a:p>
      </dgm:t>
    </dgm:pt>
    <dgm:pt modelId="{06292654-6C36-4304-BEF0-28FC1A4592B6}" type="parTrans" cxnId="{1D9F105D-F078-49FE-AEEE-272B33F973CB}">
      <dgm:prSet/>
      <dgm:spPr/>
    </dgm:pt>
    <dgm:pt modelId="{0ECDA96B-0345-463C-864D-72D5A4D29CE0}" type="sibTrans" cxnId="{1D9F105D-F078-49FE-AEEE-272B33F973CB}">
      <dgm:prSet/>
      <dgm:spPr/>
    </dgm:pt>
    <dgm:pt modelId="{05000FEB-4C08-41DF-A9F1-B2254A1D20BB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7496A8BE-C92F-4187-A742-2782847EC43F}" type="pres">
      <dgm:prSet presAssocID="{3465147B-20AD-4DEC-86A5-9B797D0910B9}" presName="parentLin" presStyleCnt="0"/>
      <dgm:spPr/>
    </dgm:pt>
    <dgm:pt modelId="{56A87AE4-3F13-40A9-9A23-3083301E85C9}" type="pres">
      <dgm:prSet presAssocID="{3465147B-20AD-4DEC-86A5-9B797D0910B9}" presName="parentLeftMargin" presStyleLbl="node1" presStyleIdx="0" presStyleCnt="4"/>
      <dgm:spPr/>
    </dgm:pt>
    <dgm:pt modelId="{A15711A4-FE2E-49D6-BCA0-26A17F5F03CD}" type="pres">
      <dgm:prSet presAssocID="{3465147B-20AD-4DEC-86A5-9B797D0910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A422E6-AFC5-4A40-8FE8-209D8FABFEA9}" type="pres">
      <dgm:prSet presAssocID="{3465147B-20AD-4DEC-86A5-9B797D0910B9}" presName="negativeSpace" presStyleCnt="0"/>
      <dgm:spPr/>
    </dgm:pt>
    <dgm:pt modelId="{E0C1AF03-CA66-4422-9093-B61A642D0EB5}" type="pres">
      <dgm:prSet presAssocID="{3465147B-20AD-4DEC-86A5-9B797D0910B9}" presName="childText" presStyleLbl="conFgAcc1" presStyleIdx="0" presStyleCnt="4">
        <dgm:presLayoutVars>
          <dgm:bulletEnabled val="1"/>
        </dgm:presLayoutVars>
      </dgm:prSet>
      <dgm:spPr/>
    </dgm:pt>
    <dgm:pt modelId="{12BFA82B-099B-4852-9342-61376AFD6009}" type="pres">
      <dgm:prSet presAssocID="{CDD008E0-FBE5-48B8-BB50-27A1994DD7B4}" presName="spaceBetweenRectangles" presStyleCnt="0"/>
      <dgm:spPr/>
    </dgm:pt>
    <dgm:pt modelId="{D00D4483-7F6C-4EA6-A979-DE425C677028}" type="pres">
      <dgm:prSet presAssocID="{AC1CF65C-1E5E-47AA-AFD7-0D493C55F53B}" presName="parentLin" presStyleCnt="0"/>
      <dgm:spPr/>
    </dgm:pt>
    <dgm:pt modelId="{6EBA1F7C-1215-48B5-A48C-3E7475B0DE8F}" type="pres">
      <dgm:prSet presAssocID="{AC1CF65C-1E5E-47AA-AFD7-0D493C55F53B}" presName="parentLeftMargin" presStyleLbl="node1" presStyleIdx="0" presStyleCnt="4"/>
      <dgm:spPr/>
    </dgm:pt>
    <dgm:pt modelId="{2054FAFB-559A-4027-A4FA-98A7314E7390}" type="pres">
      <dgm:prSet presAssocID="{AC1CF65C-1E5E-47AA-AFD7-0D493C55F5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94B7AB-A743-4944-B340-01F4C548B18F}" type="pres">
      <dgm:prSet presAssocID="{AC1CF65C-1E5E-47AA-AFD7-0D493C55F53B}" presName="negativeSpace" presStyleCnt="0"/>
      <dgm:spPr/>
    </dgm:pt>
    <dgm:pt modelId="{2B7D1C17-0E06-4FDC-8AF4-7BB2C586D44F}" type="pres">
      <dgm:prSet presAssocID="{AC1CF65C-1E5E-47AA-AFD7-0D493C55F53B}" presName="childText" presStyleLbl="conFgAcc1" presStyleIdx="1" presStyleCnt="4">
        <dgm:presLayoutVars>
          <dgm:bulletEnabled val="1"/>
        </dgm:presLayoutVars>
      </dgm:prSet>
      <dgm:spPr/>
    </dgm:pt>
    <dgm:pt modelId="{AD6C13F1-5FB0-4459-A891-73590449359A}" type="pres">
      <dgm:prSet presAssocID="{639A6B98-4123-40B2-B21E-C3A26996FE5B}" presName="spaceBetweenRectangles" presStyleCnt="0"/>
      <dgm:spPr/>
    </dgm:pt>
    <dgm:pt modelId="{CF2BD2F9-C772-4035-AF94-368D8BD796AE}" type="pres">
      <dgm:prSet presAssocID="{C08723B0-F87F-45BD-9750-FE661D50F9EC}" presName="parentLin" presStyleCnt="0"/>
      <dgm:spPr/>
    </dgm:pt>
    <dgm:pt modelId="{C00C0AA8-9ADB-4A06-B709-D2A66F6AFF34}" type="pres">
      <dgm:prSet presAssocID="{C08723B0-F87F-45BD-9750-FE661D50F9EC}" presName="parentLeftMargin" presStyleLbl="node1" presStyleIdx="1" presStyleCnt="4"/>
      <dgm:spPr/>
    </dgm:pt>
    <dgm:pt modelId="{870AF119-0CAE-4EDC-9570-695DA6C66E42}" type="pres">
      <dgm:prSet presAssocID="{C08723B0-F87F-45BD-9750-FE661D50F9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5CCDA0-FAAA-41F3-AEC1-6C54F8677AAE}" type="pres">
      <dgm:prSet presAssocID="{C08723B0-F87F-45BD-9750-FE661D50F9EC}" presName="negativeSpace" presStyleCnt="0"/>
      <dgm:spPr/>
    </dgm:pt>
    <dgm:pt modelId="{D6535CAD-C7A9-4A3B-ABD3-EA25CBF7989D}" type="pres">
      <dgm:prSet presAssocID="{C08723B0-F87F-45BD-9750-FE661D50F9EC}" presName="childText" presStyleLbl="conFgAcc1" presStyleIdx="2" presStyleCnt="4">
        <dgm:presLayoutVars>
          <dgm:bulletEnabled val="1"/>
        </dgm:presLayoutVars>
      </dgm:prSet>
      <dgm:spPr/>
    </dgm:pt>
    <dgm:pt modelId="{98FE7BFB-D7D7-4603-A470-C82319253991}" type="pres">
      <dgm:prSet presAssocID="{BB18F552-86C6-4895-9443-52FD9359C959}" presName="spaceBetweenRectangles" presStyleCnt="0"/>
      <dgm:spPr/>
    </dgm:pt>
    <dgm:pt modelId="{2BD65587-82DD-473E-A1DF-1693C19E5384}" type="pres">
      <dgm:prSet presAssocID="{8B3330F5-169E-404D-B1D6-60C1831A2DB0}" presName="parentLin" presStyleCnt="0"/>
      <dgm:spPr/>
    </dgm:pt>
    <dgm:pt modelId="{302E20E2-87E8-4F00-A540-7C59E9CE5867}" type="pres">
      <dgm:prSet presAssocID="{8B3330F5-169E-404D-B1D6-60C1831A2DB0}" presName="parentLeftMargin" presStyleLbl="node1" presStyleIdx="2" presStyleCnt="4"/>
      <dgm:spPr/>
    </dgm:pt>
    <dgm:pt modelId="{D3815F28-CC61-4D1E-8383-F53D2B99B962}" type="pres">
      <dgm:prSet presAssocID="{8B3330F5-169E-404D-B1D6-60C1831A2DB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D983E34-7859-45DE-9D76-75AF0E0EABA4}" type="pres">
      <dgm:prSet presAssocID="{8B3330F5-169E-404D-B1D6-60C1831A2DB0}" presName="negativeSpace" presStyleCnt="0"/>
      <dgm:spPr/>
    </dgm:pt>
    <dgm:pt modelId="{2FC84F47-0755-41D2-B59E-7E22DF4AA98C}" type="pres">
      <dgm:prSet presAssocID="{8B3330F5-169E-404D-B1D6-60C1831A2DB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99E8F00-0EEA-4920-8F14-8954B42FFCCD}" type="presOf" srcId="{AC1CF65C-1E5E-47AA-AFD7-0D493C55F53B}" destId="{2054FAFB-559A-4027-A4FA-98A7314E7390}" srcOrd="1" destOrd="0" presId="urn:microsoft.com/office/officeart/2005/8/layout/list1"/>
    <dgm:cxn modelId="{7CE7E207-7945-4AF5-B3B2-FD048B77D99C}" type="presOf" srcId="{3465147B-20AD-4DEC-86A5-9B797D0910B9}" destId="{56A87AE4-3F13-40A9-9A23-3083301E85C9}" srcOrd="0" destOrd="0" presId="urn:microsoft.com/office/officeart/2005/8/layout/list1"/>
    <dgm:cxn modelId="{1F708F11-10A7-479B-8CBC-F386F0228CB2}" srcId="{AA11A835-FED2-4DD8-AB14-53FCF77812AF}" destId="{C08723B0-F87F-45BD-9750-FE661D50F9EC}" srcOrd="2" destOrd="0" parTransId="{011AC146-C9E5-420E-98FD-8FAC1BA65964}" sibTransId="{BB18F552-86C6-4895-9443-52FD9359C959}"/>
    <dgm:cxn modelId="{1D9F105D-F078-49FE-AEEE-272B33F973CB}" srcId="{AA11A835-FED2-4DD8-AB14-53FCF77812AF}" destId="{8B3330F5-169E-404D-B1D6-60C1831A2DB0}" srcOrd="3" destOrd="0" parTransId="{06292654-6C36-4304-BEF0-28FC1A4592B6}" sibTransId="{0ECDA96B-0345-463C-864D-72D5A4D29CE0}"/>
    <dgm:cxn modelId="{85192066-4888-485D-85AE-102DB1DA41A5}" type="presOf" srcId="{3465147B-20AD-4DEC-86A5-9B797D0910B9}" destId="{A15711A4-FE2E-49D6-BCA0-26A17F5F03CD}" srcOrd="1" destOrd="0" presId="urn:microsoft.com/office/officeart/2005/8/layout/list1"/>
    <dgm:cxn modelId="{52049969-9E19-452F-A1A4-BE3E99ACCF40}" type="presOf" srcId="{8B3330F5-169E-404D-B1D6-60C1831A2DB0}" destId="{302E20E2-87E8-4F00-A540-7C59E9CE5867}" srcOrd="0" destOrd="0" presId="urn:microsoft.com/office/officeart/2005/8/layout/list1"/>
    <dgm:cxn modelId="{167D0C51-4CF5-409C-B499-57AEB3F52A55}" type="presOf" srcId="{AA11A835-FED2-4DD8-AB14-53FCF77812AF}" destId="{05000FEB-4C08-41DF-A9F1-B2254A1D20BB}" srcOrd="0" destOrd="0" presId="urn:microsoft.com/office/officeart/2005/8/layout/list1"/>
    <dgm:cxn modelId="{1E948572-0F47-4817-AF6B-A81B8F69C471}" type="presOf" srcId="{C08723B0-F87F-45BD-9750-FE661D50F9EC}" destId="{C00C0AA8-9ADB-4A06-B709-D2A66F6AFF34}" srcOrd="0" destOrd="0" presId="urn:microsoft.com/office/officeart/2005/8/layout/list1"/>
    <dgm:cxn modelId="{08868A75-595E-4F05-AFE3-6A4ED9EF6BC7}" srcId="{AA11A835-FED2-4DD8-AB14-53FCF77812AF}" destId="{3465147B-20AD-4DEC-86A5-9B797D0910B9}" srcOrd="0" destOrd="0" parTransId="{32058C94-31E6-40A3-9C26-AE84E070D007}" sibTransId="{CDD008E0-FBE5-48B8-BB50-27A1994DD7B4}"/>
    <dgm:cxn modelId="{E9E8C78E-ADA0-48C0-B307-DDD882D12F95}" type="presOf" srcId="{8B3330F5-169E-404D-B1D6-60C1831A2DB0}" destId="{D3815F28-CC61-4D1E-8383-F53D2B99B962}" srcOrd="1" destOrd="0" presId="urn:microsoft.com/office/officeart/2005/8/layout/list1"/>
    <dgm:cxn modelId="{842E6495-D749-4980-8F90-7CDF829E253E}" type="presOf" srcId="{C08723B0-F87F-45BD-9750-FE661D50F9EC}" destId="{870AF119-0CAE-4EDC-9570-695DA6C66E42}" srcOrd="1" destOrd="0" presId="urn:microsoft.com/office/officeart/2005/8/layout/list1"/>
    <dgm:cxn modelId="{3BB2C2BD-6452-41C7-8EB7-957AA688C705}" type="presOf" srcId="{AC1CF65C-1E5E-47AA-AFD7-0D493C55F53B}" destId="{6EBA1F7C-1215-48B5-A48C-3E7475B0DE8F}" srcOrd="0" destOrd="0" presId="urn:microsoft.com/office/officeart/2005/8/layout/list1"/>
    <dgm:cxn modelId="{F59D4FED-B9B0-4F3C-B98F-6A1F2B978545}" srcId="{AA11A835-FED2-4DD8-AB14-53FCF77812AF}" destId="{AC1CF65C-1E5E-47AA-AFD7-0D493C55F53B}" srcOrd="1" destOrd="0" parTransId="{9ABDCDB9-393A-4A55-B4A8-1FDA2B180809}" sibTransId="{639A6B98-4123-40B2-B21E-C3A26996FE5B}"/>
    <dgm:cxn modelId="{1BF38C22-BA99-4898-92B3-205CA390F2DB}" type="presParOf" srcId="{05000FEB-4C08-41DF-A9F1-B2254A1D20BB}" destId="{7496A8BE-C92F-4187-A742-2782847EC43F}" srcOrd="0" destOrd="0" presId="urn:microsoft.com/office/officeart/2005/8/layout/list1"/>
    <dgm:cxn modelId="{7510C590-BDC7-4BB1-9EBB-5B5F2584B38E}" type="presParOf" srcId="{7496A8BE-C92F-4187-A742-2782847EC43F}" destId="{56A87AE4-3F13-40A9-9A23-3083301E85C9}" srcOrd="0" destOrd="0" presId="urn:microsoft.com/office/officeart/2005/8/layout/list1"/>
    <dgm:cxn modelId="{A86C2375-4C74-4DF6-90AB-03AC8C280539}" type="presParOf" srcId="{7496A8BE-C92F-4187-A742-2782847EC43F}" destId="{A15711A4-FE2E-49D6-BCA0-26A17F5F03CD}" srcOrd="1" destOrd="0" presId="urn:microsoft.com/office/officeart/2005/8/layout/list1"/>
    <dgm:cxn modelId="{331F9620-76C2-4488-860C-19258DDBF57E}" type="presParOf" srcId="{05000FEB-4C08-41DF-A9F1-B2254A1D20BB}" destId="{4BA422E6-AFC5-4A40-8FE8-209D8FABFEA9}" srcOrd="1" destOrd="0" presId="urn:microsoft.com/office/officeart/2005/8/layout/list1"/>
    <dgm:cxn modelId="{A42C6297-AF67-4E3E-8E4C-0D3B8E22F23A}" type="presParOf" srcId="{05000FEB-4C08-41DF-A9F1-B2254A1D20BB}" destId="{E0C1AF03-CA66-4422-9093-B61A642D0EB5}" srcOrd="2" destOrd="0" presId="urn:microsoft.com/office/officeart/2005/8/layout/list1"/>
    <dgm:cxn modelId="{31FB0533-C7BE-446F-9246-758832C03023}" type="presParOf" srcId="{05000FEB-4C08-41DF-A9F1-B2254A1D20BB}" destId="{12BFA82B-099B-4852-9342-61376AFD6009}" srcOrd="3" destOrd="0" presId="urn:microsoft.com/office/officeart/2005/8/layout/list1"/>
    <dgm:cxn modelId="{49684496-5677-4F5A-8053-6B07B4ED7F32}" type="presParOf" srcId="{05000FEB-4C08-41DF-A9F1-B2254A1D20BB}" destId="{D00D4483-7F6C-4EA6-A979-DE425C677028}" srcOrd="4" destOrd="0" presId="urn:microsoft.com/office/officeart/2005/8/layout/list1"/>
    <dgm:cxn modelId="{5EAAB867-B5D0-4DE4-86FD-E35D66DE6B1E}" type="presParOf" srcId="{D00D4483-7F6C-4EA6-A979-DE425C677028}" destId="{6EBA1F7C-1215-48B5-A48C-3E7475B0DE8F}" srcOrd="0" destOrd="0" presId="urn:microsoft.com/office/officeart/2005/8/layout/list1"/>
    <dgm:cxn modelId="{638DD687-2F95-414A-93A6-885F9E1BDDA6}" type="presParOf" srcId="{D00D4483-7F6C-4EA6-A979-DE425C677028}" destId="{2054FAFB-559A-4027-A4FA-98A7314E7390}" srcOrd="1" destOrd="0" presId="urn:microsoft.com/office/officeart/2005/8/layout/list1"/>
    <dgm:cxn modelId="{4FAB74FB-0636-4F5F-831C-D0E39AB66D88}" type="presParOf" srcId="{05000FEB-4C08-41DF-A9F1-B2254A1D20BB}" destId="{3694B7AB-A743-4944-B340-01F4C548B18F}" srcOrd="5" destOrd="0" presId="urn:microsoft.com/office/officeart/2005/8/layout/list1"/>
    <dgm:cxn modelId="{9667C801-6516-4C50-8A55-A2AC40F0B819}" type="presParOf" srcId="{05000FEB-4C08-41DF-A9F1-B2254A1D20BB}" destId="{2B7D1C17-0E06-4FDC-8AF4-7BB2C586D44F}" srcOrd="6" destOrd="0" presId="urn:microsoft.com/office/officeart/2005/8/layout/list1"/>
    <dgm:cxn modelId="{6CB30FA8-7468-4084-AADC-BA6E9AE9C86F}" type="presParOf" srcId="{05000FEB-4C08-41DF-A9F1-B2254A1D20BB}" destId="{AD6C13F1-5FB0-4459-A891-73590449359A}" srcOrd="7" destOrd="0" presId="urn:microsoft.com/office/officeart/2005/8/layout/list1"/>
    <dgm:cxn modelId="{0F0086F0-6004-4923-B17E-8150311E424A}" type="presParOf" srcId="{05000FEB-4C08-41DF-A9F1-B2254A1D20BB}" destId="{CF2BD2F9-C772-4035-AF94-368D8BD796AE}" srcOrd="8" destOrd="0" presId="urn:microsoft.com/office/officeart/2005/8/layout/list1"/>
    <dgm:cxn modelId="{7CC476FA-CB02-4257-811A-4209B9CE5F17}" type="presParOf" srcId="{CF2BD2F9-C772-4035-AF94-368D8BD796AE}" destId="{C00C0AA8-9ADB-4A06-B709-D2A66F6AFF34}" srcOrd="0" destOrd="0" presId="urn:microsoft.com/office/officeart/2005/8/layout/list1"/>
    <dgm:cxn modelId="{083D5F98-13D2-4E59-8E6D-8B3F064962D6}" type="presParOf" srcId="{CF2BD2F9-C772-4035-AF94-368D8BD796AE}" destId="{870AF119-0CAE-4EDC-9570-695DA6C66E42}" srcOrd="1" destOrd="0" presId="urn:microsoft.com/office/officeart/2005/8/layout/list1"/>
    <dgm:cxn modelId="{767BD101-44C1-4461-8E77-4E8F62483D15}" type="presParOf" srcId="{05000FEB-4C08-41DF-A9F1-B2254A1D20BB}" destId="{8C5CCDA0-FAAA-41F3-AEC1-6C54F8677AAE}" srcOrd="9" destOrd="0" presId="urn:microsoft.com/office/officeart/2005/8/layout/list1"/>
    <dgm:cxn modelId="{283B7B9A-8AEF-4C93-A667-418F48EEFD2E}" type="presParOf" srcId="{05000FEB-4C08-41DF-A9F1-B2254A1D20BB}" destId="{D6535CAD-C7A9-4A3B-ABD3-EA25CBF7989D}" srcOrd="10" destOrd="0" presId="urn:microsoft.com/office/officeart/2005/8/layout/list1"/>
    <dgm:cxn modelId="{E17D9CFC-0C89-4173-8112-26FF39B8CF18}" type="presParOf" srcId="{05000FEB-4C08-41DF-A9F1-B2254A1D20BB}" destId="{98FE7BFB-D7D7-4603-A470-C82319253991}" srcOrd="11" destOrd="0" presId="urn:microsoft.com/office/officeart/2005/8/layout/list1"/>
    <dgm:cxn modelId="{16558222-9D3D-42F8-89B8-46CBEC7D7030}" type="presParOf" srcId="{05000FEB-4C08-41DF-A9F1-B2254A1D20BB}" destId="{2BD65587-82DD-473E-A1DF-1693C19E5384}" srcOrd="12" destOrd="0" presId="urn:microsoft.com/office/officeart/2005/8/layout/list1"/>
    <dgm:cxn modelId="{79C049BB-1095-447D-857D-12BF6FD60394}" type="presParOf" srcId="{2BD65587-82DD-473E-A1DF-1693C19E5384}" destId="{302E20E2-87E8-4F00-A540-7C59E9CE5867}" srcOrd="0" destOrd="0" presId="urn:microsoft.com/office/officeart/2005/8/layout/list1"/>
    <dgm:cxn modelId="{F9A91B17-E130-4779-858E-52A66ACD7814}" type="presParOf" srcId="{2BD65587-82DD-473E-A1DF-1693C19E5384}" destId="{D3815F28-CC61-4D1E-8383-F53D2B99B962}" srcOrd="1" destOrd="0" presId="urn:microsoft.com/office/officeart/2005/8/layout/list1"/>
    <dgm:cxn modelId="{2DBBE947-7CCE-443E-9743-511305CA310E}" type="presParOf" srcId="{05000FEB-4C08-41DF-A9F1-B2254A1D20BB}" destId="{2D983E34-7859-45DE-9D76-75AF0E0EABA4}" srcOrd="13" destOrd="0" presId="urn:microsoft.com/office/officeart/2005/8/layout/list1"/>
    <dgm:cxn modelId="{8535463A-8A96-4894-9692-C412F07C22FE}" type="presParOf" srcId="{05000FEB-4C08-41DF-A9F1-B2254A1D20BB}" destId="{2FC84F47-0755-41D2-B59E-7E22DF4AA98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hList6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65147B-20AD-4DEC-86A5-9B797D0910B9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0">
              <a:solidFill>
                <a:srgbClr val="2F2F2F"/>
              </a:solidFill>
              <a:latin typeface="Aptos"/>
              <a:ea typeface="+mn-ea"/>
              <a:cs typeface="+mn-cs"/>
            </a:rPr>
            <a:t>Quality Summary: The dataset represents mostly high-quality, sweet, medium-light crudes.</a:t>
          </a:r>
        </a:p>
      </dgm:t>
    </dgm:pt>
    <dgm:pt modelId="{32058C94-31E6-40A3-9C26-AE84E070D007}" type="parTrans" cxnId="{08868A75-595E-4F05-AFE3-6A4ED9EF6BC7}">
      <dgm:prSet/>
      <dgm:spPr/>
      <dgm:t>
        <a:bodyPr/>
        <a:lstStyle/>
        <a:p>
          <a:endParaRPr lang="en-US"/>
        </a:p>
      </dgm:t>
    </dgm:pt>
    <dgm:pt modelId="{CDD008E0-FBE5-48B8-BB50-27A1994DD7B4}" type="sibTrans" cxnId="{08868A75-595E-4F05-AFE3-6A4ED9EF6BC7}">
      <dgm:prSet/>
      <dgm:spPr/>
      <dgm:t>
        <a:bodyPr/>
        <a:lstStyle/>
        <a:p>
          <a:endParaRPr lang="en-US"/>
        </a:p>
      </dgm:t>
    </dgm:pt>
    <dgm:pt modelId="{AC1CF65C-1E5E-47AA-AFD7-0D493C55F53B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800" b="0">
              <a:solidFill>
                <a:srgbClr val="2F2F2F"/>
              </a:solidFill>
              <a:latin typeface="Aptos"/>
              <a:ea typeface="+mn-ea"/>
              <a:cs typeface="+mn-cs"/>
            </a:rPr>
            <a:t>Low sulfur content suggests lower processing costs (less desulfurization needed).</a:t>
          </a: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C08723B0-F87F-45BD-9750-FE661D50F9EC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800" b="0">
              <a:solidFill>
                <a:srgbClr val="2F2F2F"/>
              </a:solidFill>
              <a:latin typeface="Aptos"/>
              <a:ea typeface="+mn-ea"/>
              <a:cs typeface="+mn-cs"/>
            </a:rPr>
            <a:t>Wide API range requires flexible distillation capabilities.</a:t>
          </a:r>
        </a:p>
      </dgm:t>
    </dgm:pt>
    <dgm:pt modelId="{011AC146-C9E5-420E-98FD-8FAC1BA65964}" type="parTrans" cxnId="{1F708F11-10A7-479B-8CBC-F386F0228CB2}">
      <dgm:prSet/>
      <dgm:spPr/>
      <dgm:t>
        <a:bodyPr/>
        <a:lstStyle/>
        <a:p>
          <a:endParaRPr lang="en-US"/>
        </a:p>
      </dgm:t>
    </dgm:pt>
    <dgm:pt modelId="{BB18F552-86C6-4895-9443-52FD9359C959}" type="sibTrans" cxnId="{1F708F11-10A7-479B-8CBC-F386F0228CB2}">
      <dgm:prSet/>
      <dgm:spPr/>
      <dgm:t>
        <a:bodyPr/>
        <a:lstStyle/>
        <a:p>
          <a:endParaRPr lang="en-US"/>
        </a:p>
      </dgm:t>
    </dgm:pt>
    <dgm:pt modelId="{8B3330F5-169E-404D-B1D6-60C1831A2DB0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800" b="0">
              <a:solidFill>
                <a:srgbClr val="2F2F2F"/>
              </a:solidFill>
              <a:latin typeface="Aptos"/>
              <a:ea typeface="+mn-ea"/>
              <a:cs typeface="+mn-cs"/>
            </a:rPr>
            <a:t>High variance in viscosity and metals suggests that while "average" quality is high, individual handling protocols must be strictly tailored to the specific crude batch.</a:t>
          </a:r>
        </a:p>
      </dgm:t>
    </dgm:pt>
    <dgm:pt modelId="{06292654-6C36-4304-BEF0-28FC1A4592B6}" type="parTrans" cxnId="{1D9F105D-F078-49FE-AEEE-272B33F973CB}">
      <dgm:prSet/>
      <dgm:spPr/>
    </dgm:pt>
    <dgm:pt modelId="{0ECDA96B-0345-463C-864D-72D5A4D29CE0}" type="sibTrans" cxnId="{1D9F105D-F078-49FE-AEEE-272B33F973CB}">
      <dgm:prSet/>
      <dgm:spPr/>
    </dgm:pt>
    <dgm:pt modelId="{16DA8534-3A72-43D9-BF0C-AEB83593593F}" type="pres">
      <dgm:prSet presAssocID="{AA11A835-FED2-4DD8-AB14-53FCF77812AF}" presName="Name0" presStyleCnt="0">
        <dgm:presLayoutVars>
          <dgm:dir/>
          <dgm:resizeHandles val="exact"/>
        </dgm:presLayoutVars>
      </dgm:prSet>
      <dgm:spPr/>
    </dgm:pt>
    <dgm:pt modelId="{56AB284A-D884-4841-ADE7-BFF0FF93589F}" type="pres">
      <dgm:prSet presAssocID="{3465147B-20AD-4DEC-86A5-9B797D0910B9}" presName="node" presStyleLbl="node1" presStyleIdx="0" presStyleCnt="4">
        <dgm:presLayoutVars>
          <dgm:bulletEnabled val="1"/>
        </dgm:presLayoutVars>
      </dgm:prSet>
      <dgm:spPr/>
    </dgm:pt>
    <dgm:pt modelId="{7E39DD27-7320-4958-99E1-0A4117C38E5D}" type="pres">
      <dgm:prSet presAssocID="{CDD008E0-FBE5-48B8-BB50-27A1994DD7B4}" presName="sibTrans" presStyleCnt="0"/>
      <dgm:spPr/>
    </dgm:pt>
    <dgm:pt modelId="{94F82973-52BD-4620-ADD7-1F539A04391A}" type="pres">
      <dgm:prSet presAssocID="{AC1CF65C-1E5E-47AA-AFD7-0D493C55F53B}" presName="node" presStyleLbl="node1" presStyleIdx="1" presStyleCnt="4">
        <dgm:presLayoutVars>
          <dgm:bulletEnabled val="1"/>
        </dgm:presLayoutVars>
      </dgm:prSet>
      <dgm:spPr/>
    </dgm:pt>
    <dgm:pt modelId="{4CFF4C04-3372-4086-ADBF-5278EAC4EC8C}" type="pres">
      <dgm:prSet presAssocID="{639A6B98-4123-40B2-B21E-C3A26996FE5B}" presName="sibTrans" presStyleCnt="0"/>
      <dgm:spPr/>
    </dgm:pt>
    <dgm:pt modelId="{ECA3E5FC-5A70-4C76-B230-F572E083E66D}" type="pres">
      <dgm:prSet presAssocID="{C08723B0-F87F-45BD-9750-FE661D50F9EC}" presName="node" presStyleLbl="node1" presStyleIdx="2" presStyleCnt="4">
        <dgm:presLayoutVars>
          <dgm:bulletEnabled val="1"/>
        </dgm:presLayoutVars>
      </dgm:prSet>
      <dgm:spPr/>
    </dgm:pt>
    <dgm:pt modelId="{C9615798-832C-4FC7-97A1-284FAE3674B0}" type="pres">
      <dgm:prSet presAssocID="{BB18F552-86C6-4895-9443-52FD9359C959}" presName="sibTrans" presStyleCnt="0"/>
      <dgm:spPr/>
    </dgm:pt>
    <dgm:pt modelId="{1B72EED4-C387-4CFF-AC26-71F62FD454C2}" type="pres">
      <dgm:prSet presAssocID="{8B3330F5-169E-404D-B1D6-60C1831A2DB0}" presName="node" presStyleLbl="node1" presStyleIdx="3" presStyleCnt="4">
        <dgm:presLayoutVars>
          <dgm:bulletEnabled val="1"/>
        </dgm:presLayoutVars>
      </dgm:prSet>
      <dgm:spPr/>
    </dgm:pt>
  </dgm:ptLst>
  <dgm:cxnLst>
    <dgm:cxn modelId="{1F708F11-10A7-479B-8CBC-F386F0228CB2}" srcId="{AA11A835-FED2-4DD8-AB14-53FCF77812AF}" destId="{C08723B0-F87F-45BD-9750-FE661D50F9EC}" srcOrd="2" destOrd="0" parTransId="{011AC146-C9E5-420E-98FD-8FAC1BA65964}" sibTransId="{BB18F552-86C6-4895-9443-52FD9359C959}"/>
    <dgm:cxn modelId="{8C046419-ABB4-45F3-9E31-29DC24A73E83}" type="presOf" srcId="{AA11A835-FED2-4DD8-AB14-53FCF77812AF}" destId="{16DA8534-3A72-43D9-BF0C-AEB83593593F}" srcOrd="0" destOrd="0" presId="urn:microsoft.com/office/officeart/2005/8/layout/hList6"/>
    <dgm:cxn modelId="{544C783A-49AA-4D10-83DB-CC61FD83315D}" type="presOf" srcId="{8B3330F5-169E-404D-B1D6-60C1831A2DB0}" destId="{1B72EED4-C387-4CFF-AC26-71F62FD454C2}" srcOrd="0" destOrd="0" presId="urn:microsoft.com/office/officeart/2005/8/layout/hList6"/>
    <dgm:cxn modelId="{1D9F105D-F078-49FE-AEEE-272B33F973CB}" srcId="{AA11A835-FED2-4DD8-AB14-53FCF77812AF}" destId="{8B3330F5-169E-404D-B1D6-60C1831A2DB0}" srcOrd="3" destOrd="0" parTransId="{06292654-6C36-4304-BEF0-28FC1A4592B6}" sibTransId="{0ECDA96B-0345-463C-864D-72D5A4D29CE0}"/>
    <dgm:cxn modelId="{19251446-BDFF-475F-9BFF-2E581BE7774F}" type="presOf" srcId="{C08723B0-F87F-45BD-9750-FE661D50F9EC}" destId="{ECA3E5FC-5A70-4C76-B230-F572E083E66D}" srcOrd="0" destOrd="0" presId="urn:microsoft.com/office/officeart/2005/8/layout/hList6"/>
    <dgm:cxn modelId="{1DB0154F-BE5A-450B-8F2D-D11F8315B99C}" type="presOf" srcId="{3465147B-20AD-4DEC-86A5-9B797D0910B9}" destId="{56AB284A-D884-4841-ADE7-BFF0FF93589F}" srcOrd="0" destOrd="0" presId="urn:microsoft.com/office/officeart/2005/8/layout/hList6"/>
    <dgm:cxn modelId="{08868A75-595E-4F05-AFE3-6A4ED9EF6BC7}" srcId="{AA11A835-FED2-4DD8-AB14-53FCF77812AF}" destId="{3465147B-20AD-4DEC-86A5-9B797D0910B9}" srcOrd="0" destOrd="0" parTransId="{32058C94-31E6-40A3-9C26-AE84E070D007}" sibTransId="{CDD008E0-FBE5-48B8-BB50-27A1994DD7B4}"/>
    <dgm:cxn modelId="{763BCA8D-0BDE-42CC-B771-39C3E0CD5523}" type="presOf" srcId="{AC1CF65C-1E5E-47AA-AFD7-0D493C55F53B}" destId="{94F82973-52BD-4620-ADD7-1F539A04391A}" srcOrd="0" destOrd="0" presId="urn:microsoft.com/office/officeart/2005/8/layout/hList6"/>
    <dgm:cxn modelId="{F59D4FED-B9B0-4F3C-B98F-6A1F2B978545}" srcId="{AA11A835-FED2-4DD8-AB14-53FCF77812AF}" destId="{AC1CF65C-1E5E-47AA-AFD7-0D493C55F53B}" srcOrd="1" destOrd="0" parTransId="{9ABDCDB9-393A-4A55-B4A8-1FDA2B180809}" sibTransId="{639A6B98-4123-40B2-B21E-C3A26996FE5B}"/>
    <dgm:cxn modelId="{28B9BF49-9745-4C04-BB39-8C12D2577D7A}" type="presParOf" srcId="{16DA8534-3A72-43D9-BF0C-AEB83593593F}" destId="{56AB284A-D884-4841-ADE7-BFF0FF93589F}" srcOrd="0" destOrd="0" presId="urn:microsoft.com/office/officeart/2005/8/layout/hList6"/>
    <dgm:cxn modelId="{E7879852-EE43-4400-9A38-56E68CE9986B}" type="presParOf" srcId="{16DA8534-3A72-43D9-BF0C-AEB83593593F}" destId="{7E39DD27-7320-4958-99E1-0A4117C38E5D}" srcOrd="1" destOrd="0" presId="urn:microsoft.com/office/officeart/2005/8/layout/hList6"/>
    <dgm:cxn modelId="{EC4CB3BA-FD06-4823-B803-20BAE0F8A163}" type="presParOf" srcId="{16DA8534-3A72-43D9-BF0C-AEB83593593F}" destId="{94F82973-52BD-4620-ADD7-1F539A04391A}" srcOrd="2" destOrd="0" presId="urn:microsoft.com/office/officeart/2005/8/layout/hList6"/>
    <dgm:cxn modelId="{4B70471D-8D97-4470-B843-DAC6C6E69101}" type="presParOf" srcId="{16DA8534-3A72-43D9-BF0C-AEB83593593F}" destId="{4CFF4C04-3372-4086-ADBF-5278EAC4EC8C}" srcOrd="3" destOrd="0" presId="urn:microsoft.com/office/officeart/2005/8/layout/hList6"/>
    <dgm:cxn modelId="{2CDDD5A6-5D36-4C13-854F-923A4B1F4F87}" type="presParOf" srcId="{16DA8534-3A72-43D9-BF0C-AEB83593593F}" destId="{ECA3E5FC-5A70-4C76-B230-F572E083E66D}" srcOrd="4" destOrd="0" presId="urn:microsoft.com/office/officeart/2005/8/layout/hList6"/>
    <dgm:cxn modelId="{4CCA18D4-6A98-4423-BEE6-F7D22E0A9416}" type="presParOf" srcId="{16DA8534-3A72-43D9-BF0C-AEB83593593F}" destId="{C9615798-832C-4FC7-97A1-284FAE3674B0}" srcOrd="5" destOrd="0" presId="urn:microsoft.com/office/officeart/2005/8/layout/hList6"/>
    <dgm:cxn modelId="{D4292E69-4EA4-401C-8BB1-35FB7D62187B}" type="presParOf" srcId="{16DA8534-3A72-43D9-BF0C-AEB83593593F}" destId="{1B72EED4-C387-4CFF-AC26-71F62FD454C2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65147B-20AD-4DEC-86A5-9B797D0910B9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Visualized data structure beyond simple averages.</a:t>
          </a:r>
          <a:endParaRPr lang="en-US">
            <a:solidFill>
              <a:srgbClr val="2F2F2F"/>
            </a:solidFill>
            <a:latin typeface="Aptos"/>
            <a:ea typeface="+mn-ea"/>
            <a:cs typeface="+mn-cs"/>
          </a:endParaRPr>
        </a:p>
      </dgm:t>
    </dgm:pt>
    <dgm:pt modelId="{32058C94-31E6-40A3-9C26-AE84E070D007}" type="parTrans" cxnId="{08868A75-595E-4F05-AFE3-6A4ED9EF6BC7}">
      <dgm:prSet/>
      <dgm:spPr/>
      <dgm:t>
        <a:bodyPr/>
        <a:lstStyle/>
        <a:p>
          <a:endParaRPr lang="en-US"/>
        </a:p>
      </dgm:t>
    </dgm:pt>
    <dgm:pt modelId="{CDD008E0-FBE5-48B8-BB50-27A1994DD7B4}" type="sibTrans" cxnId="{08868A75-595E-4F05-AFE3-6A4ED9EF6BC7}">
      <dgm:prSet/>
      <dgm:spPr/>
      <dgm:t>
        <a:bodyPr/>
        <a:lstStyle/>
        <a:p>
          <a:endParaRPr lang="en-US"/>
        </a:p>
      </dgm:t>
    </dgm:pt>
    <dgm:pt modelId="{AC1CF65C-1E5E-47AA-AFD7-0D493C55F53B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Histograms: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Analyzed distribution shapes (Normal vs. Skewed).</a:t>
          </a:r>
          <a:endParaRPr lang="en-US">
            <a:solidFill>
              <a:srgbClr val="2F2F2F"/>
            </a:solidFill>
            <a:latin typeface="Aptos"/>
            <a:ea typeface="+mn-ea"/>
            <a:cs typeface="+mn-cs"/>
          </a:endParaRP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C08723B0-F87F-45BD-9750-FE661D50F9EC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Box Plots: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Identified statistical outliers and data spread.</a:t>
          </a:r>
          <a:endParaRPr lang="en-US">
            <a:solidFill>
              <a:srgbClr val="2F2F2F"/>
            </a:solidFill>
            <a:latin typeface="Aptos"/>
            <a:ea typeface="+mn-ea"/>
            <a:cs typeface="+mn-cs"/>
          </a:endParaRPr>
        </a:p>
      </dgm:t>
    </dgm:pt>
    <dgm:pt modelId="{011AC146-C9E5-420E-98FD-8FAC1BA65964}" type="parTrans" cxnId="{1F708F11-10A7-479B-8CBC-F386F0228CB2}">
      <dgm:prSet/>
      <dgm:spPr/>
      <dgm:t>
        <a:bodyPr/>
        <a:lstStyle/>
        <a:p>
          <a:endParaRPr lang="en-US"/>
        </a:p>
      </dgm:t>
    </dgm:pt>
    <dgm:pt modelId="{BB18F552-86C6-4895-9443-52FD9359C959}" type="sibTrans" cxnId="{1F708F11-10A7-479B-8CBC-F386F0228CB2}">
      <dgm:prSet/>
      <dgm:spPr/>
      <dgm:t>
        <a:bodyPr/>
        <a:lstStyle/>
        <a:p>
          <a:endParaRPr lang="en-US"/>
        </a:p>
      </dgm:t>
    </dgm:pt>
    <dgm:pt modelId="{8B3330F5-169E-404D-B1D6-60C1831A2DB0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Focus: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Key quality drivers (API, Sulfur, Viscosity</a:t>
          </a:r>
          <a:r>
            <a:rPr lang="en-US" sz="1600">
              <a:solidFill>
                <a:srgbClr val="2F2F2F"/>
              </a:solidFill>
              <a:latin typeface="Aptos"/>
              <a:ea typeface="Segoe UI Black"/>
              <a:cs typeface="+mn-cs"/>
            </a:rPr>
            <a:t>).</a:t>
          </a:r>
        </a:p>
      </dgm:t>
    </dgm:pt>
    <dgm:pt modelId="{06292654-6C36-4304-BEF0-28FC1A4592B6}" type="parTrans" cxnId="{1D9F105D-F078-49FE-AEEE-272B33F973CB}">
      <dgm:prSet/>
      <dgm:spPr/>
    </dgm:pt>
    <dgm:pt modelId="{0ECDA96B-0345-463C-864D-72D5A4D29CE0}" type="sibTrans" cxnId="{1D9F105D-F078-49FE-AEEE-272B33F973CB}">
      <dgm:prSet/>
      <dgm:spPr/>
    </dgm:pt>
    <dgm:pt modelId="{05000FEB-4C08-41DF-A9F1-B2254A1D20BB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7496A8BE-C92F-4187-A742-2782847EC43F}" type="pres">
      <dgm:prSet presAssocID="{3465147B-20AD-4DEC-86A5-9B797D0910B9}" presName="parentLin" presStyleCnt="0"/>
      <dgm:spPr/>
    </dgm:pt>
    <dgm:pt modelId="{56A87AE4-3F13-40A9-9A23-3083301E85C9}" type="pres">
      <dgm:prSet presAssocID="{3465147B-20AD-4DEC-86A5-9B797D0910B9}" presName="parentLeftMargin" presStyleLbl="node1" presStyleIdx="0" presStyleCnt="4"/>
      <dgm:spPr/>
    </dgm:pt>
    <dgm:pt modelId="{A15711A4-FE2E-49D6-BCA0-26A17F5F03CD}" type="pres">
      <dgm:prSet presAssocID="{3465147B-20AD-4DEC-86A5-9B797D0910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A422E6-AFC5-4A40-8FE8-209D8FABFEA9}" type="pres">
      <dgm:prSet presAssocID="{3465147B-20AD-4DEC-86A5-9B797D0910B9}" presName="negativeSpace" presStyleCnt="0"/>
      <dgm:spPr/>
    </dgm:pt>
    <dgm:pt modelId="{E0C1AF03-CA66-4422-9093-B61A642D0EB5}" type="pres">
      <dgm:prSet presAssocID="{3465147B-20AD-4DEC-86A5-9B797D0910B9}" presName="childText" presStyleLbl="conFgAcc1" presStyleIdx="0" presStyleCnt="4">
        <dgm:presLayoutVars>
          <dgm:bulletEnabled val="1"/>
        </dgm:presLayoutVars>
      </dgm:prSet>
      <dgm:spPr/>
    </dgm:pt>
    <dgm:pt modelId="{12BFA82B-099B-4852-9342-61376AFD6009}" type="pres">
      <dgm:prSet presAssocID="{CDD008E0-FBE5-48B8-BB50-27A1994DD7B4}" presName="spaceBetweenRectangles" presStyleCnt="0"/>
      <dgm:spPr/>
    </dgm:pt>
    <dgm:pt modelId="{D00D4483-7F6C-4EA6-A979-DE425C677028}" type="pres">
      <dgm:prSet presAssocID="{AC1CF65C-1E5E-47AA-AFD7-0D493C55F53B}" presName="parentLin" presStyleCnt="0"/>
      <dgm:spPr/>
    </dgm:pt>
    <dgm:pt modelId="{6EBA1F7C-1215-48B5-A48C-3E7475B0DE8F}" type="pres">
      <dgm:prSet presAssocID="{AC1CF65C-1E5E-47AA-AFD7-0D493C55F53B}" presName="parentLeftMargin" presStyleLbl="node1" presStyleIdx="0" presStyleCnt="4"/>
      <dgm:spPr/>
    </dgm:pt>
    <dgm:pt modelId="{2054FAFB-559A-4027-A4FA-98A7314E7390}" type="pres">
      <dgm:prSet presAssocID="{AC1CF65C-1E5E-47AA-AFD7-0D493C55F5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94B7AB-A743-4944-B340-01F4C548B18F}" type="pres">
      <dgm:prSet presAssocID="{AC1CF65C-1E5E-47AA-AFD7-0D493C55F53B}" presName="negativeSpace" presStyleCnt="0"/>
      <dgm:spPr/>
    </dgm:pt>
    <dgm:pt modelId="{2B7D1C17-0E06-4FDC-8AF4-7BB2C586D44F}" type="pres">
      <dgm:prSet presAssocID="{AC1CF65C-1E5E-47AA-AFD7-0D493C55F53B}" presName="childText" presStyleLbl="conFgAcc1" presStyleIdx="1" presStyleCnt="4">
        <dgm:presLayoutVars>
          <dgm:bulletEnabled val="1"/>
        </dgm:presLayoutVars>
      </dgm:prSet>
      <dgm:spPr/>
    </dgm:pt>
    <dgm:pt modelId="{AD6C13F1-5FB0-4459-A891-73590449359A}" type="pres">
      <dgm:prSet presAssocID="{639A6B98-4123-40B2-B21E-C3A26996FE5B}" presName="spaceBetweenRectangles" presStyleCnt="0"/>
      <dgm:spPr/>
    </dgm:pt>
    <dgm:pt modelId="{CF2BD2F9-C772-4035-AF94-368D8BD796AE}" type="pres">
      <dgm:prSet presAssocID="{C08723B0-F87F-45BD-9750-FE661D50F9EC}" presName="parentLin" presStyleCnt="0"/>
      <dgm:spPr/>
    </dgm:pt>
    <dgm:pt modelId="{C00C0AA8-9ADB-4A06-B709-D2A66F6AFF34}" type="pres">
      <dgm:prSet presAssocID="{C08723B0-F87F-45BD-9750-FE661D50F9EC}" presName="parentLeftMargin" presStyleLbl="node1" presStyleIdx="1" presStyleCnt="4"/>
      <dgm:spPr/>
    </dgm:pt>
    <dgm:pt modelId="{870AF119-0CAE-4EDC-9570-695DA6C66E42}" type="pres">
      <dgm:prSet presAssocID="{C08723B0-F87F-45BD-9750-FE661D50F9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5CCDA0-FAAA-41F3-AEC1-6C54F8677AAE}" type="pres">
      <dgm:prSet presAssocID="{C08723B0-F87F-45BD-9750-FE661D50F9EC}" presName="negativeSpace" presStyleCnt="0"/>
      <dgm:spPr/>
    </dgm:pt>
    <dgm:pt modelId="{D6535CAD-C7A9-4A3B-ABD3-EA25CBF7989D}" type="pres">
      <dgm:prSet presAssocID="{C08723B0-F87F-45BD-9750-FE661D50F9EC}" presName="childText" presStyleLbl="conFgAcc1" presStyleIdx="2" presStyleCnt="4">
        <dgm:presLayoutVars>
          <dgm:bulletEnabled val="1"/>
        </dgm:presLayoutVars>
      </dgm:prSet>
      <dgm:spPr/>
    </dgm:pt>
    <dgm:pt modelId="{98FE7BFB-D7D7-4603-A470-C82319253991}" type="pres">
      <dgm:prSet presAssocID="{BB18F552-86C6-4895-9443-52FD9359C959}" presName="spaceBetweenRectangles" presStyleCnt="0"/>
      <dgm:spPr/>
    </dgm:pt>
    <dgm:pt modelId="{2BD65587-82DD-473E-A1DF-1693C19E5384}" type="pres">
      <dgm:prSet presAssocID="{8B3330F5-169E-404D-B1D6-60C1831A2DB0}" presName="parentLin" presStyleCnt="0"/>
      <dgm:spPr/>
    </dgm:pt>
    <dgm:pt modelId="{302E20E2-87E8-4F00-A540-7C59E9CE5867}" type="pres">
      <dgm:prSet presAssocID="{8B3330F5-169E-404D-B1D6-60C1831A2DB0}" presName="parentLeftMargin" presStyleLbl="node1" presStyleIdx="2" presStyleCnt="4"/>
      <dgm:spPr/>
    </dgm:pt>
    <dgm:pt modelId="{D3815F28-CC61-4D1E-8383-F53D2B99B962}" type="pres">
      <dgm:prSet presAssocID="{8B3330F5-169E-404D-B1D6-60C1831A2DB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D983E34-7859-45DE-9D76-75AF0E0EABA4}" type="pres">
      <dgm:prSet presAssocID="{8B3330F5-169E-404D-B1D6-60C1831A2DB0}" presName="negativeSpace" presStyleCnt="0"/>
      <dgm:spPr/>
    </dgm:pt>
    <dgm:pt modelId="{2FC84F47-0755-41D2-B59E-7E22DF4AA98C}" type="pres">
      <dgm:prSet presAssocID="{8B3330F5-169E-404D-B1D6-60C1831A2DB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99E8F00-0EEA-4920-8F14-8954B42FFCCD}" type="presOf" srcId="{AC1CF65C-1E5E-47AA-AFD7-0D493C55F53B}" destId="{2054FAFB-559A-4027-A4FA-98A7314E7390}" srcOrd="1" destOrd="0" presId="urn:microsoft.com/office/officeart/2005/8/layout/list1"/>
    <dgm:cxn modelId="{7CE7E207-7945-4AF5-B3B2-FD048B77D99C}" type="presOf" srcId="{3465147B-20AD-4DEC-86A5-9B797D0910B9}" destId="{56A87AE4-3F13-40A9-9A23-3083301E85C9}" srcOrd="0" destOrd="0" presId="urn:microsoft.com/office/officeart/2005/8/layout/list1"/>
    <dgm:cxn modelId="{1F708F11-10A7-479B-8CBC-F386F0228CB2}" srcId="{AA11A835-FED2-4DD8-AB14-53FCF77812AF}" destId="{C08723B0-F87F-45BD-9750-FE661D50F9EC}" srcOrd="2" destOrd="0" parTransId="{011AC146-C9E5-420E-98FD-8FAC1BA65964}" sibTransId="{BB18F552-86C6-4895-9443-52FD9359C959}"/>
    <dgm:cxn modelId="{1D9F105D-F078-49FE-AEEE-272B33F973CB}" srcId="{AA11A835-FED2-4DD8-AB14-53FCF77812AF}" destId="{8B3330F5-169E-404D-B1D6-60C1831A2DB0}" srcOrd="3" destOrd="0" parTransId="{06292654-6C36-4304-BEF0-28FC1A4592B6}" sibTransId="{0ECDA96B-0345-463C-864D-72D5A4D29CE0}"/>
    <dgm:cxn modelId="{85192066-4888-485D-85AE-102DB1DA41A5}" type="presOf" srcId="{3465147B-20AD-4DEC-86A5-9B797D0910B9}" destId="{A15711A4-FE2E-49D6-BCA0-26A17F5F03CD}" srcOrd="1" destOrd="0" presId="urn:microsoft.com/office/officeart/2005/8/layout/list1"/>
    <dgm:cxn modelId="{52049969-9E19-452F-A1A4-BE3E99ACCF40}" type="presOf" srcId="{8B3330F5-169E-404D-B1D6-60C1831A2DB0}" destId="{302E20E2-87E8-4F00-A540-7C59E9CE5867}" srcOrd="0" destOrd="0" presId="urn:microsoft.com/office/officeart/2005/8/layout/list1"/>
    <dgm:cxn modelId="{167D0C51-4CF5-409C-B499-57AEB3F52A55}" type="presOf" srcId="{AA11A835-FED2-4DD8-AB14-53FCF77812AF}" destId="{05000FEB-4C08-41DF-A9F1-B2254A1D20BB}" srcOrd="0" destOrd="0" presId="urn:microsoft.com/office/officeart/2005/8/layout/list1"/>
    <dgm:cxn modelId="{1E948572-0F47-4817-AF6B-A81B8F69C471}" type="presOf" srcId="{C08723B0-F87F-45BD-9750-FE661D50F9EC}" destId="{C00C0AA8-9ADB-4A06-B709-D2A66F6AFF34}" srcOrd="0" destOrd="0" presId="urn:microsoft.com/office/officeart/2005/8/layout/list1"/>
    <dgm:cxn modelId="{08868A75-595E-4F05-AFE3-6A4ED9EF6BC7}" srcId="{AA11A835-FED2-4DD8-AB14-53FCF77812AF}" destId="{3465147B-20AD-4DEC-86A5-9B797D0910B9}" srcOrd="0" destOrd="0" parTransId="{32058C94-31E6-40A3-9C26-AE84E070D007}" sibTransId="{CDD008E0-FBE5-48B8-BB50-27A1994DD7B4}"/>
    <dgm:cxn modelId="{E9E8C78E-ADA0-48C0-B307-DDD882D12F95}" type="presOf" srcId="{8B3330F5-169E-404D-B1D6-60C1831A2DB0}" destId="{D3815F28-CC61-4D1E-8383-F53D2B99B962}" srcOrd="1" destOrd="0" presId="urn:microsoft.com/office/officeart/2005/8/layout/list1"/>
    <dgm:cxn modelId="{842E6495-D749-4980-8F90-7CDF829E253E}" type="presOf" srcId="{C08723B0-F87F-45BD-9750-FE661D50F9EC}" destId="{870AF119-0CAE-4EDC-9570-695DA6C66E42}" srcOrd="1" destOrd="0" presId="urn:microsoft.com/office/officeart/2005/8/layout/list1"/>
    <dgm:cxn modelId="{3BB2C2BD-6452-41C7-8EB7-957AA688C705}" type="presOf" srcId="{AC1CF65C-1E5E-47AA-AFD7-0D493C55F53B}" destId="{6EBA1F7C-1215-48B5-A48C-3E7475B0DE8F}" srcOrd="0" destOrd="0" presId="urn:microsoft.com/office/officeart/2005/8/layout/list1"/>
    <dgm:cxn modelId="{F59D4FED-B9B0-4F3C-B98F-6A1F2B978545}" srcId="{AA11A835-FED2-4DD8-AB14-53FCF77812AF}" destId="{AC1CF65C-1E5E-47AA-AFD7-0D493C55F53B}" srcOrd="1" destOrd="0" parTransId="{9ABDCDB9-393A-4A55-B4A8-1FDA2B180809}" sibTransId="{639A6B98-4123-40B2-B21E-C3A26996FE5B}"/>
    <dgm:cxn modelId="{1BF38C22-BA99-4898-92B3-205CA390F2DB}" type="presParOf" srcId="{05000FEB-4C08-41DF-A9F1-B2254A1D20BB}" destId="{7496A8BE-C92F-4187-A742-2782847EC43F}" srcOrd="0" destOrd="0" presId="urn:microsoft.com/office/officeart/2005/8/layout/list1"/>
    <dgm:cxn modelId="{7510C590-BDC7-4BB1-9EBB-5B5F2584B38E}" type="presParOf" srcId="{7496A8BE-C92F-4187-A742-2782847EC43F}" destId="{56A87AE4-3F13-40A9-9A23-3083301E85C9}" srcOrd="0" destOrd="0" presId="urn:microsoft.com/office/officeart/2005/8/layout/list1"/>
    <dgm:cxn modelId="{A86C2375-4C74-4DF6-90AB-03AC8C280539}" type="presParOf" srcId="{7496A8BE-C92F-4187-A742-2782847EC43F}" destId="{A15711A4-FE2E-49D6-BCA0-26A17F5F03CD}" srcOrd="1" destOrd="0" presId="urn:microsoft.com/office/officeart/2005/8/layout/list1"/>
    <dgm:cxn modelId="{331F9620-76C2-4488-860C-19258DDBF57E}" type="presParOf" srcId="{05000FEB-4C08-41DF-A9F1-B2254A1D20BB}" destId="{4BA422E6-AFC5-4A40-8FE8-209D8FABFEA9}" srcOrd="1" destOrd="0" presId="urn:microsoft.com/office/officeart/2005/8/layout/list1"/>
    <dgm:cxn modelId="{A42C6297-AF67-4E3E-8E4C-0D3B8E22F23A}" type="presParOf" srcId="{05000FEB-4C08-41DF-A9F1-B2254A1D20BB}" destId="{E0C1AF03-CA66-4422-9093-B61A642D0EB5}" srcOrd="2" destOrd="0" presId="urn:microsoft.com/office/officeart/2005/8/layout/list1"/>
    <dgm:cxn modelId="{31FB0533-C7BE-446F-9246-758832C03023}" type="presParOf" srcId="{05000FEB-4C08-41DF-A9F1-B2254A1D20BB}" destId="{12BFA82B-099B-4852-9342-61376AFD6009}" srcOrd="3" destOrd="0" presId="urn:microsoft.com/office/officeart/2005/8/layout/list1"/>
    <dgm:cxn modelId="{49684496-5677-4F5A-8053-6B07B4ED7F32}" type="presParOf" srcId="{05000FEB-4C08-41DF-A9F1-B2254A1D20BB}" destId="{D00D4483-7F6C-4EA6-A979-DE425C677028}" srcOrd="4" destOrd="0" presId="urn:microsoft.com/office/officeart/2005/8/layout/list1"/>
    <dgm:cxn modelId="{5EAAB867-B5D0-4DE4-86FD-E35D66DE6B1E}" type="presParOf" srcId="{D00D4483-7F6C-4EA6-A979-DE425C677028}" destId="{6EBA1F7C-1215-48B5-A48C-3E7475B0DE8F}" srcOrd="0" destOrd="0" presId="urn:microsoft.com/office/officeart/2005/8/layout/list1"/>
    <dgm:cxn modelId="{638DD687-2F95-414A-93A6-885F9E1BDDA6}" type="presParOf" srcId="{D00D4483-7F6C-4EA6-A979-DE425C677028}" destId="{2054FAFB-559A-4027-A4FA-98A7314E7390}" srcOrd="1" destOrd="0" presId="urn:microsoft.com/office/officeart/2005/8/layout/list1"/>
    <dgm:cxn modelId="{4FAB74FB-0636-4F5F-831C-D0E39AB66D88}" type="presParOf" srcId="{05000FEB-4C08-41DF-A9F1-B2254A1D20BB}" destId="{3694B7AB-A743-4944-B340-01F4C548B18F}" srcOrd="5" destOrd="0" presId="urn:microsoft.com/office/officeart/2005/8/layout/list1"/>
    <dgm:cxn modelId="{9667C801-6516-4C50-8A55-A2AC40F0B819}" type="presParOf" srcId="{05000FEB-4C08-41DF-A9F1-B2254A1D20BB}" destId="{2B7D1C17-0E06-4FDC-8AF4-7BB2C586D44F}" srcOrd="6" destOrd="0" presId="urn:microsoft.com/office/officeart/2005/8/layout/list1"/>
    <dgm:cxn modelId="{6CB30FA8-7468-4084-AADC-BA6E9AE9C86F}" type="presParOf" srcId="{05000FEB-4C08-41DF-A9F1-B2254A1D20BB}" destId="{AD6C13F1-5FB0-4459-A891-73590449359A}" srcOrd="7" destOrd="0" presId="urn:microsoft.com/office/officeart/2005/8/layout/list1"/>
    <dgm:cxn modelId="{0F0086F0-6004-4923-B17E-8150311E424A}" type="presParOf" srcId="{05000FEB-4C08-41DF-A9F1-B2254A1D20BB}" destId="{CF2BD2F9-C772-4035-AF94-368D8BD796AE}" srcOrd="8" destOrd="0" presId="urn:microsoft.com/office/officeart/2005/8/layout/list1"/>
    <dgm:cxn modelId="{7CC476FA-CB02-4257-811A-4209B9CE5F17}" type="presParOf" srcId="{CF2BD2F9-C772-4035-AF94-368D8BD796AE}" destId="{C00C0AA8-9ADB-4A06-B709-D2A66F6AFF34}" srcOrd="0" destOrd="0" presId="urn:microsoft.com/office/officeart/2005/8/layout/list1"/>
    <dgm:cxn modelId="{083D5F98-13D2-4E59-8E6D-8B3F064962D6}" type="presParOf" srcId="{CF2BD2F9-C772-4035-AF94-368D8BD796AE}" destId="{870AF119-0CAE-4EDC-9570-695DA6C66E42}" srcOrd="1" destOrd="0" presId="urn:microsoft.com/office/officeart/2005/8/layout/list1"/>
    <dgm:cxn modelId="{767BD101-44C1-4461-8E77-4E8F62483D15}" type="presParOf" srcId="{05000FEB-4C08-41DF-A9F1-B2254A1D20BB}" destId="{8C5CCDA0-FAAA-41F3-AEC1-6C54F8677AAE}" srcOrd="9" destOrd="0" presId="urn:microsoft.com/office/officeart/2005/8/layout/list1"/>
    <dgm:cxn modelId="{283B7B9A-8AEF-4C93-A667-418F48EEFD2E}" type="presParOf" srcId="{05000FEB-4C08-41DF-A9F1-B2254A1D20BB}" destId="{D6535CAD-C7A9-4A3B-ABD3-EA25CBF7989D}" srcOrd="10" destOrd="0" presId="urn:microsoft.com/office/officeart/2005/8/layout/list1"/>
    <dgm:cxn modelId="{E17D9CFC-0C89-4173-8112-26FF39B8CF18}" type="presParOf" srcId="{05000FEB-4C08-41DF-A9F1-B2254A1D20BB}" destId="{98FE7BFB-D7D7-4603-A470-C82319253991}" srcOrd="11" destOrd="0" presId="urn:microsoft.com/office/officeart/2005/8/layout/list1"/>
    <dgm:cxn modelId="{16558222-9D3D-42F8-89B8-46CBEC7D7030}" type="presParOf" srcId="{05000FEB-4C08-41DF-A9F1-B2254A1D20BB}" destId="{2BD65587-82DD-473E-A1DF-1693C19E5384}" srcOrd="12" destOrd="0" presId="urn:microsoft.com/office/officeart/2005/8/layout/list1"/>
    <dgm:cxn modelId="{79C049BB-1095-447D-857D-12BF6FD60394}" type="presParOf" srcId="{2BD65587-82DD-473E-A1DF-1693C19E5384}" destId="{302E20E2-87E8-4F00-A540-7C59E9CE5867}" srcOrd="0" destOrd="0" presId="urn:microsoft.com/office/officeart/2005/8/layout/list1"/>
    <dgm:cxn modelId="{F9A91B17-E130-4779-858E-52A66ACD7814}" type="presParOf" srcId="{2BD65587-82DD-473E-A1DF-1693C19E5384}" destId="{D3815F28-CC61-4D1E-8383-F53D2B99B962}" srcOrd="1" destOrd="0" presId="urn:microsoft.com/office/officeart/2005/8/layout/list1"/>
    <dgm:cxn modelId="{2DBBE947-7CCE-443E-9743-511305CA310E}" type="presParOf" srcId="{05000FEB-4C08-41DF-A9F1-B2254A1D20BB}" destId="{2D983E34-7859-45DE-9D76-75AF0E0EABA4}" srcOrd="13" destOrd="0" presId="urn:microsoft.com/office/officeart/2005/8/layout/list1"/>
    <dgm:cxn modelId="{8535463A-8A96-4894-9692-C412F07C22FE}" type="presParOf" srcId="{05000FEB-4C08-41DF-A9F1-B2254A1D20BB}" destId="{2FC84F47-0755-41D2-B59E-7E22DF4AA98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65147B-20AD-4DEC-86A5-9B797D0910B9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Uncovered hidden relationships and dependencies between different crude oil properties.</a:t>
          </a:r>
        </a:p>
      </dgm:t>
    </dgm:pt>
    <dgm:pt modelId="{32058C94-31E6-40A3-9C26-AE84E070D007}" type="parTrans" cxnId="{08868A75-595E-4F05-AFE3-6A4ED9EF6BC7}">
      <dgm:prSet/>
      <dgm:spPr/>
      <dgm:t>
        <a:bodyPr/>
        <a:lstStyle/>
        <a:p>
          <a:endParaRPr lang="en-US"/>
        </a:p>
      </dgm:t>
    </dgm:pt>
    <dgm:pt modelId="{CDD008E0-FBE5-48B8-BB50-27A1994DD7B4}" type="sibTrans" cxnId="{08868A75-595E-4F05-AFE3-6A4ED9EF6BC7}">
      <dgm:prSet/>
      <dgm:spPr/>
      <dgm:t>
        <a:bodyPr/>
        <a:lstStyle/>
        <a:p>
          <a:endParaRPr lang="en-US"/>
        </a:p>
      </dgm:t>
    </dgm:pt>
    <dgm:pt modelId="{AC1CF65C-1E5E-47AA-AFD7-0D493C55F53B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Pearson Correlation: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Measured linear relationships (straight-line trends).</a:t>
          </a: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C08723B0-F87F-45BD-9750-FE661D50F9EC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Spearman Correlation: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Captured non-linear/rank-based trends (curved relationships).</a:t>
          </a:r>
        </a:p>
      </dgm:t>
    </dgm:pt>
    <dgm:pt modelId="{011AC146-C9E5-420E-98FD-8FAC1BA65964}" type="parTrans" cxnId="{1F708F11-10A7-479B-8CBC-F386F0228CB2}">
      <dgm:prSet/>
      <dgm:spPr/>
      <dgm:t>
        <a:bodyPr/>
        <a:lstStyle/>
        <a:p>
          <a:endParaRPr lang="en-US"/>
        </a:p>
      </dgm:t>
    </dgm:pt>
    <dgm:pt modelId="{BB18F552-86C6-4895-9443-52FD9359C959}" type="sibTrans" cxnId="{1F708F11-10A7-479B-8CBC-F386F0228CB2}">
      <dgm:prSet/>
      <dgm:spPr/>
      <dgm:t>
        <a:bodyPr/>
        <a:lstStyle/>
        <a:p>
          <a:endParaRPr lang="en-US"/>
        </a:p>
      </dgm:t>
    </dgm:pt>
    <dgm:pt modelId="{8B3330F5-169E-404D-B1D6-60C1831A2DB0}">
      <dgm:prSet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Mutual Information: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Quantified how much one variable tells us about another.</a:t>
          </a:r>
        </a:p>
      </dgm:t>
    </dgm:pt>
    <dgm:pt modelId="{06292654-6C36-4304-BEF0-28FC1A4592B6}" type="parTrans" cxnId="{1D9F105D-F078-49FE-AEEE-272B33F973CB}">
      <dgm:prSet/>
      <dgm:spPr/>
    </dgm:pt>
    <dgm:pt modelId="{0ECDA96B-0345-463C-864D-72D5A4D29CE0}" type="sibTrans" cxnId="{1D9F105D-F078-49FE-AEEE-272B33F973CB}">
      <dgm:prSet/>
      <dgm:spPr/>
    </dgm:pt>
    <dgm:pt modelId="{05000FEB-4C08-41DF-A9F1-B2254A1D20BB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7496A8BE-C92F-4187-A742-2782847EC43F}" type="pres">
      <dgm:prSet presAssocID="{3465147B-20AD-4DEC-86A5-9B797D0910B9}" presName="parentLin" presStyleCnt="0"/>
      <dgm:spPr/>
    </dgm:pt>
    <dgm:pt modelId="{56A87AE4-3F13-40A9-9A23-3083301E85C9}" type="pres">
      <dgm:prSet presAssocID="{3465147B-20AD-4DEC-86A5-9B797D0910B9}" presName="parentLeftMargin" presStyleLbl="node1" presStyleIdx="0" presStyleCnt="4"/>
      <dgm:spPr/>
    </dgm:pt>
    <dgm:pt modelId="{A15711A4-FE2E-49D6-BCA0-26A17F5F03CD}" type="pres">
      <dgm:prSet presAssocID="{3465147B-20AD-4DEC-86A5-9B797D0910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A422E6-AFC5-4A40-8FE8-209D8FABFEA9}" type="pres">
      <dgm:prSet presAssocID="{3465147B-20AD-4DEC-86A5-9B797D0910B9}" presName="negativeSpace" presStyleCnt="0"/>
      <dgm:spPr/>
    </dgm:pt>
    <dgm:pt modelId="{E0C1AF03-CA66-4422-9093-B61A642D0EB5}" type="pres">
      <dgm:prSet presAssocID="{3465147B-20AD-4DEC-86A5-9B797D0910B9}" presName="childText" presStyleLbl="conFgAcc1" presStyleIdx="0" presStyleCnt="4">
        <dgm:presLayoutVars>
          <dgm:bulletEnabled val="1"/>
        </dgm:presLayoutVars>
      </dgm:prSet>
      <dgm:spPr/>
    </dgm:pt>
    <dgm:pt modelId="{12BFA82B-099B-4852-9342-61376AFD6009}" type="pres">
      <dgm:prSet presAssocID="{CDD008E0-FBE5-48B8-BB50-27A1994DD7B4}" presName="spaceBetweenRectangles" presStyleCnt="0"/>
      <dgm:spPr/>
    </dgm:pt>
    <dgm:pt modelId="{D00D4483-7F6C-4EA6-A979-DE425C677028}" type="pres">
      <dgm:prSet presAssocID="{AC1CF65C-1E5E-47AA-AFD7-0D493C55F53B}" presName="parentLin" presStyleCnt="0"/>
      <dgm:spPr/>
    </dgm:pt>
    <dgm:pt modelId="{6EBA1F7C-1215-48B5-A48C-3E7475B0DE8F}" type="pres">
      <dgm:prSet presAssocID="{AC1CF65C-1E5E-47AA-AFD7-0D493C55F53B}" presName="parentLeftMargin" presStyleLbl="node1" presStyleIdx="0" presStyleCnt="4"/>
      <dgm:spPr/>
    </dgm:pt>
    <dgm:pt modelId="{2054FAFB-559A-4027-A4FA-98A7314E7390}" type="pres">
      <dgm:prSet presAssocID="{AC1CF65C-1E5E-47AA-AFD7-0D493C55F5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94B7AB-A743-4944-B340-01F4C548B18F}" type="pres">
      <dgm:prSet presAssocID="{AC1CF65C-1E5E-47AA-AFD7-0D493C55F53B}" presName="negativeSpace" presStyleCnt="0"/>
      <dgm:spPr/>
    </dgm:pt>
    <dgm:pt modelId="{2B7D1C17-0E06-4FDC-8AF4-7BB2C586D44F}" type="pres">
      <dgm:prSet presAssocID="{AC1CF65C-1E5E-47AA-AFD7-0D493C55F53B}" presName="childText" presStyleLbl="conFgAcc1" presStyleIdx="1" presStyleCnt="4">
        <dgm:presLayoutVars>
          <dgm:bulletEnabled val="1"/>
        </dgm:presLayoutVars>
      </dgm:prSet>
      <dgm:spPr/>
    </dgm:pt>
    <dgm:pt modelId="{AD6C13F1-5FB0-4459-A891-73590449359A}" type="pres">
      <dgm:prSet presAssocID="{639A6B98-4123-40B2-B21E-C3A26996FE5B}" presName="spaceBetweenRectangles" presStyleCnt="0"/>
      <dgm:spPr/>
    </dgm:pt>
    <dgm:pt modelId="{CF2BD2F9-C772-4035-AF94-368D8BD796AE}" type="pres">
      <dgm:prSet presAssocID="{C08723B0-F87F-45BD-9750-FE661D50F9EC}" presName="parentLin" presStyleCnt="0"/>
      <dgm:spPr/>
    </dgm:pt>
    <dgm:pt modelId="{C00C0AA8-9ADB-4A06-B709-D2A66F6AFF34}" type="pres">
      <dgm:prSet presAssocID="{C08723B0-F87F-45BD-9750-FE661D50F9EC}" presName="parentLeftMargin" presStyleLbl="node1" presStyleIdx="1" presStyleCnt="4"/>
      <dgm:spPr/>
    </dgm:pt>
    <dgm:pt modelId="{870AF119-0CAE-4EDC-9570-695DA6C66E42}" type="pres">
      <dgm:prSet presAssocID="{C08723B0-F87F-45BD-9750-FE661D50F9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5CCDA0-FAAA-41F3-AEC1-6C54F8677AAE}" type="pres">
      <dgm:prSet presAssocID="{C08723B0-F87F-45BD-9750-FE661D50F9EC}" presName="negativeSpace" presStyleCnt="0"/>
      <dgm:spPr/>
    </dgm:pt>
    <dgm:pt modelId="{D6535CAD-C7A9-4A3B-ABD3-EA25CBF7989D}" type="pres">
      <dgm:prSet presAssocID="{C08723B0-F87F-45BD-9750-FE661D50F9EC}" presName="childText" presStyleLbl="conFgAcc1" presStyleIdx="2" presStyleCnt="4">
        <dgm:presLayoutVars>
          <dgm:bulletEnabled val="1"/>
        </dgm:presLayoutVars>
      </dgm:prSet>
      <dgm:spPr/>
    </dgm:pt>
    <dgm:pt modelId="{98FE7BFB-D7D7-4603-A470-C82319253991}" type="pres">
      <dgm:prSet presAssocID="{BB18F552-86C6-4895-9443-52FD9359C959}" presName="spaceBetweenRectangles" presStyleCnt="0"/>
      <dgm:spPr/>
    </dgm:pt>
    <dgm:pt modelId="{2BD65587-82DD-473E-A1DF-1693C19E5384}" type="pres">
      <dgm:prSet presAssocID="{8B3330F5-169E-404D-B1D6-60C1831A2DB0}" presName="parentLin" presStyleCnt="0"/>
      <dgm:spPr/>
    </dgm:pt>
    <dgm:pt modelId="{302E20E2-87E8-4F00-A540-7C59E9CE5867}" type="pres">
      <dgm:prSet presAssocID="{8B3330F5-169E-404D-B1D6-60C1831A2DB0}" presName="parentLeftMargin" presStyleLbl="node1" presStyleIdx="2" presStyleCnt="4"/>
      <dgm:spPr/>
    </dgm:pt>
    <dgm:pt modelId="{D3815F28-CC61-4D1E-8383-F53D2B99B962}" type="pres">
      <dgm:prSet presAssocID="{8B3330F5-169E-404D-B1D6-60C1831A2DB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D983E34-7859-45DE-9D76-75AF0E0EABA4}" type="pres">
      <dgm:prSet presAssocID="{8B3330F5-169E-404D-B1D6-60C1831A2DB0}" presName="negativeSpace" presStyleCnt="0"/>
      <dgm:spPr/>
    </dgm:pt>
    <dgm:pt modelId="{2FC84F47-0755-41D2-B59E-7E22DF4AA98C}" type="pres">
      <dgm:prSet presAssocID="{8B3330F5-169E-404D-B1D6-60C1831A2DB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99E8F00-0EEA-4920-8F14-8954B42FFCCD}" type="presOf" srcId="{AC1CF65C-1E5E-47AA-AFD7-0D493C55F53B}" destId="{2054FAFB-559A-4027-A4FA-98A7314E7390}" srcOrd="1" destOrd="0" presId="urn:microsoft.com/office/officeart/2005/8/layout/list1"/>
    <dgm:cxn modelId="{7CE7E207-7945-4AF5-B3B2-FD048B77D99C}" type="presOf" srcId="{3465147B-20AD-4DEC-86A5-9B797D0910B9}" destId="{56A87AE4-3F13-40A9-9A23-3083301E85C9}" srcOrd="0" destOrd="0" presId="urn:microsoft.com/office/officeart/2005/8/layout/list1"/>
    <dgm:cxn modelId="{1F708F11-10A7-479B-8CBC-F386F0228CB2}" srcId="{AA11A835-FED2-4DD8-AB14-53FCF77812AF}" destId="{C08723B0-F87F-45BD-9750-FE661D50F9EC}" srcOrd="2" destOrd="0" parTransId="{011AC146-C9E5-420E-98FD-8FAC1BA65964}" sibTransId="{BB18F552-86C6-4895-9443-52FD9359C959}"/>
    <dgm:cxn modelId="{1D9F105D-F078-49FE-AEEE-272B33F973CB}" srcId="{AA11A835-FED2-4DD8-AB14-53FCF77812AF}" destId="{8B3330F5-169E-404D-B1D6-60C1831A2DB0}" srcOrd="3" destOrd="0" parTransId="{06292654-6C36-4304-BEF0-28FC1A4592B6}" sibTransId="{0ECDA96B-0345-463C-864D-72D5A4D29CE0}"/>
    <dgm:cxn modelId="{85192066-4888-485D-85AE-102DB1DA41A5}" type="presOf" srcId="{3465147B-20AD-4DEC-86A5-9B797D0910B9}" destId="{A15711A4-FE2E-49D6-BCA0-26A17F5F03CD}" srcOrd="1" destOrd="0" presId="urn:microsoft.com/office/officeart/2005/8/layout/list1"/>
    <dgm:cxn modelId="{52049969-9E19-452F-A1A4-BE3E99ACCF40}" type="presOf" srcId="{8B3330F5-169E-404D-B1D6-60C1831A2DB0}" destId="{302E20E2-87E8-4F00-A540-7C59E9CE5867}" srcOrd="0" destOrd="0" presId="urn:microsoft.com/office/officeart/2005/8/layout/list1"/>
    <dgm:cxn modelId="{167D0C51-4CF5-409C-B499-57AEB3F52A55}" type="presOf" srcId="{AA11A835-FED2-4DD8-AB14-53FCF77812AF}" destId="{05000FEB-4C08-41DF-A9F1-B2254A1D20BB}" srcOrd="0" destOrd="0" presId="urn:microsoft.com/office/officeart/2005/8/layout/list1"/>
    <dgm:cxn modelId="{1E948572-0F47-4817-AF6B-A81B8F69C471}" type="presOf" srcId="{C08723B0-F87F-45BD-9750-FE661D50F9EC}" destId="{C00C0AA8-9ADB-4A06-B709-D2A66F6AFF34}" srcOrd="0" destOrd="0" presId="urn:microsoft.com/office/officeart/2005/8/layout/list1"/>
    <dgm:cxn modelId="{08868A75-595E-4F05-AFE3-6A4ED9EF6BC7}" srcId="{AA11A835-FED2-4DD8-AB14-53FCF77812AF}" destId="{3465147B-20AD-4DEC-86A5-9B797D0910B9}" srcOrd="0" destOrd="0" parTransId="{32058C94-31E6-40A3-9C26-AE84E070D007}" sibTransId="{CDD008E0-FBE5-48B8-BB50-27A1994DD7B4}"/>
    <dgm:cxn modelId="{E9E8C78E-ADA0-48C0-B307-DDD882D12F95}" type="presOf" srcId="{8B3330F5-169E-404D-B1D6-60C1831A2DB0}" destId="{D3815F28-CC61-4D1E-8383-F53D2B99B962}" srcOrd="1" destOrd="0" presId="urn:microsoft.com/office/officeart/2005/8/layout/list1"/>
    <dgm:cxn modelId="{842E6495-D749-4980-8F90-7CDF829E253E}" type="presOf" srcId="{C08723B0-F87F-45BD-9750-FE661D50F9EC}" destId="{870AF119-0CAE-4EDC-9570-695DA6C66E42}" srcOrd="1" destOrd="0" presId="urn:microsoft.com/office/officeart/2005/8/layout/list1"/>
    <dgm:cxn modelId="{3BB2C2BD-6452-41C7-8EB7-957AA688C705}" type="presOf" srcId="{AC1CF65C-1E5E-47AA-AFD7-0D493C55F53B}" destId="{6EBA1F7C-1215-48B5-A48C-3E7475B0DE8F}" srcOrd="0" destOrd="0" presId="urn:microsoft.com/office/officeart/2005/8/layout/list1"/>
    <dgm:cxn modelId="{F59D4FED-B9B0-4F3C-B98F-6A1F2B978545}" srcId="{AA11A835-FED2-4DD8-AB14-53FCF77812AF}" destId="{AC1CF65C-1E5E-47AA-AFD7-0D493C55F53B}" srcOrd="1" destOrd="0" parTransId="{9ABDCDB9-393A-4A55-B4A8-1FDA2B180809}" sibTransId="{639A6B98-4123-40B2-B21E-C3A26996FE5B}"/>
    <dgm:cxn modelId="{1BF38C22-BA99-4898-92B3-205CA390F2DB}" type="presParOf" srcId="{05000FEB-4C08-41DF-A9F1-B2254A1D20BB}" destId="{7496A8BE-C92F-4187-A742-2782847EC43F}" srcOrd="0" destOrd="0" presId="urn:microsoft.com/office/officeart/2005/8/layout/list1"/>
    <dgm:cxn modelId="{7510C590-BDC7-4BB1-9EBB-5B5F2584B38E}" type="presParOf" srcId="{7496A8BE-C92F-4187-A742-2782847EC43F}" destId="{56A87AE4-3F13-40A9-9A23-3083301E85C9}" srcOrd="0" destOrd="0" presId="urn:microsoft.com/office/officeart/2005/8/layout/list1"/>
    <dgm:cxn modelId="{A86C2375-4C74-4DF6-90AB-03AC8C280539}" type="presParOf" srcId="{7496A8BE-C92F-4187-A742-2782847EC43F}" destId="{A15711A4-FE2E-49D6-BCA0-26A17F5F03CD}" srcOrd="1" destOrd="0" presId="urn:microsoft.com/office/officeart/2005/8/layout/list1"/>
    <dgm:cxn modelId="{331F9620-76C2-4488-860C-19258DDBF57E}" type="presParOf" srcId="{05000FEB-4C08-41DF-A9F1-B2254A1D20BB}" destId="{4BA422E6-AFC5-4A40-8FE8-209D8FABFEA9}" srcOrd="1" destOrd="0" presId="urn:microsoft.com/office/officeart/2005/8/layout/list1"/>
    <dgm:cxn modelId="{A42C6297-AF67-4E3E-8E4C-0D3B8E22F23A}" type="presParOf" srcId="{05000FEB-4C08-41DF-A9F1-B2254A1D20BB}" destId="{E0C1AF03-CA66-4422-9093-B61A642D0EB5}" srcOrd="2" destOrd="0" presId="urn:microsoft.com/office/officeart/2005/8/layout/list1"/>
    <dgm:cxn modelId="{31FB0533-C7BE-446F-9246-758832C03023}" type="presParOf" srcId="{05000FEB-4C08-41DF-A9F1-B2254A1D20BB}" destId="{12BFA82B-099B-4852-9342-61376AFD6009}" srcOrd="3" destOrd="0" presId="urn:microsoft.com/office/officeart/2005/8/layout/list1"/>
    <dgm:cxn modelId="{49684496-5677-4F5A-8053-6B07B4ED7F32}" type="presParOf" srcId="{05000FEB-4C08-41DF-A9F1-B2254A1D20BB}" destId="{D00D4483-7F6C-4EA6-A979-DE425C677028}" srcOrd="4" destOrd="0" presId="urn:microsoft.com/office/officeart/2005/8/layout/list1"/>
    <dgm:cxn modelId="{5EAAB867-B5D0-4DE4-86FD-E35D66DE6B1E}" type="presParOf" srcId="{D00D4483-7F6C-4EA6-A979-DE425C677028}" destId="{6EBA1F7C-1215-48B5-A48C-3E7475B0DE8F}" srcOrd="0" destOrd="0" presId="urn:microsoft.com/office/officeart/2005/8/layout/list1"/>
    <dgm:cxn modelId="{638DD687-2F95-414A-93A6-885F9E1BDDA6}" type="presParOf" srcId="{D00D4483-7F6C-4EA6-A979-DE425C677028}" destId="{2054FAFB-559A-4027-A4FA-98A7314E7390}" srcOrd="1" destOrd="0" presId="urn:microsoft.com/office/officeart/2005/8/layout/list1"/>
    <dgm:cxn modelId="{4FAB74FB-0636-4F5F-831C-D0E39AB66D88}" type="presParOf" srcId="{05000FEB-4C08-41DF-A9F1-B2254A1D20BB}" destId="{3694B7AB-A743-4944-B340-01F4C548B18F}" srcOrd="5" destOrd="0" presId="urn:microsoft.com/office/officeart/2005/8/layout/list1"/>
    <dgm:cxn modelId="{9667C801-6516-4C50-8A55-A2AC40F0B819}" type="presParOf" srcId="{05000FEB-4C08-41DF-A9F1-B2254A1D20BB}" destId="{2B7D1C17-0E06-4FDC-8AF4-7BB2C586D44F}" srcOrd="6" destOrd="0" presId="urn:microsoft.com/office/officeart/2005/8/layout/list1"/>
    <dgm:cxn modelId="{6CB30FA8-7468-4084-AADC-BA6E9AE9C86F}" type="presParOf" srcId="{05000FEB-4C08-41DF-A9F1-B2254A1D20BB}" destId="{AD6C13F1-5FB0-4459-A891-73590449359A}" srcOrd="7" destOrd="0" presId="urn:microsoft.com/office/officeart/2005/8/layout/list1"/>
    <dgm:cxn modelId="{0F0086F0-6004-4923-B17E-8150311E424A}" type="presParOf" srcId="{05000FEB-4C08-41DF-A9F1-B2254A1D20BB}" destId="{CF2BD2F9-C772-4035-AF94-368D8BD796AE}" srcOrd="8" destOrd="0" presId="urn:microsoft.com/office/officeart/2005/8/layout/list1"/>
    <dgm:cxn modelId="{7CC476FA-CB02-4257-811A-4209B9CE5F17}" type="presParOf" srcId="{CF2BD2F9-C772-4035-AF94-368D8BD796AE}" destId="{C00C0AA8-9ADB-4A06-B709-D2A66F6AFF34}" srcOrd="0" destOrd="0" presId="urn:microsoft.com/office/officeart/2005/8/layout/list1"/>
    <dgm:cxn modelId="{083D5F98-13D2-4E59-8E6D-8B3F064962D6}" type="presParOf" srcId="{CF2BD2F9-C772-4035-AF94-368D8BD796AE}" destId="{870AF119-0CAE-4EDC-9570-695DA6C66E42}" srcOrd="1" destOrd="0" presId="urn:microsoft.com/office/officeart/2005/8/layout/list1"/>
    <dgm:cxn modelId="{767BD101-44C1-4461-8E77-4E8F62483D15}" type="presParOf" srcId="{05000FEB-4C08-41DF-A9F1-B2254A1D20BB}" destId="{8C5CCDA0-FAAA-41F3-AEC1-6C54F8677AAE}" srcOrd="9" destOrd="0" presId="urn:microsoft.com/office/officeart/2005/8/layout/list1"/>
    <dgm:cxn modelId="{283B7B9A-8AEF-4C93-A667-418F48EEFD2E}" type="presParOf" srcId="{05000FEB-4C08-41DF-A9F1-B2254A1D20BB}" destId="{D6535CAD-C7A9-4A3B-ABD3-EA25CBF7989D}" srcOrd="10" destOrd="0" presId="urn:microsoft.com/office/officeart/2005/8/layout/list1"/>
    <dgm:cxn modelId="{E17D9CFC-0C89-4173-8112-26FF39B8CF18}" type="presParOf" srcId="{05000FEB-4C08-41DF-A9F1-B2254A1D20BB}" destId="{98FE7BFB-D7D7-4603-A470-C82319253991}" srcOrd="11" destOrd="0" presId="urn:microsoft.com/office/officeart/2005/8/layout/list1"/>
    <dgm:cxn modelId="{16558222-9D3D-42F8-89B8-46CBEC7D7030}" type="presParOf" srcId="{05000FEB-4C08-41DF-A9F1-B2254A1D20BB}" destId="{2BD65587-82DD-473E-A1DF-1693C19E5384}" srcOrd="12" destOrd="0" presId="urn:microsoft.com/office/officeart/2005/8/layout/list1"/>
    <dgm:cxn modelId="{79C049BB-1095-447D-857D-12BF6FD60394}" type="presParOf" srcId="{2BD65587-82DD-473E-A1DF-1693C19E5384}" destId="{302E20E2-87E8-4F00-A540-7C59E9CE5867}" srcOrd="0" destOrd="0" presId="urn:microsoft.com/office/officeart/2005/8/layout/list1"/>
    <dgm:cxn modelId="{F9A91B17-E130-4779-858E-52A66ACD7814}" type="presParOf" srcId="{2BD65587-82DD-473E-A1DF-1693C19E5384}" destId="{D3815F28-CC61-4D1E-8383-F53D2B99B962}" srcOrd="1" destOrd="0" presId="urn:microsoft.com/office/officeart/2005/8/layout/list1"/>
    <dgm:cxn modelId="{2DBBE947-7CCE-443E-9743-511305CA310E}" type="presParOf" srcId="{05000FEB-4C08-41DF-A9F1-B2254A1D20BB}" destId="{2D983E34-7859-45DE-9D76-75AF0E0EABA4}" srcOrd="13" destOrd="0" presId="urn:microsoft.com/office/officeart/2005/8/layout/list1"/>
    <dgm:cxn modelId="{8535463A-8A96-4894-9692-C412F07C22FE}" type="presParOf" srcId="{05000FEB-4C08-41DF-A9F1-B2254A1D20BB}" destId="{2FC84F47-0755-41D2-B59E-7E22DF4AA98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465147B-20AD-4DEC-86A5-9B797D0910B9}">
      <dgm:prSet phldrT="[Text]" phldr="0"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>
              <a:latin typeface="Aptos"/>
            </a:rPr>
            <a:t>Linear Dependencies: Sulfur, Nitrogen, and Metals</a:t>
          </a:r>
          <a:r>
            <a:rPr lang="en-US" sz="1400" b="0">
              <a:latin typeface="Aptos"/>
            </a:rPr>
            <a:t> rise and fall together. If a crude is "Sour" (High Sulfur), it is guaranteed to be "Dirty" (High Metals).</a:t>
          </a:r>
          <a:endParaRPr lang="en-US" sz="1400" b="1">
            <a:latin typeface="Aptos"/>
          </a:endParaRPr>
        </a:p>
      </dgm:t>
    </dgm:pt>
    <dgm:pt modelId="{32058C94-31E6-40A3-9C26-AE84E070D007}" type="parTrans" cxnId="{08868A75-595E-4F05-AFE3-6A4ED9EF6BC7}">
      <dgm:prSet/>
      <dgm:spPr/>
      <dgm:t>
        <a:bodyPr/>
        <a:lstStyle/>
        <a:p>
          <a:endParaRPr lang="en-US"/>
        </a:p>
      </dgm:t>
    </dgm:pt>
    <dgm:pt modelId="{CDD008E0-FBE5-48B8-BB50-27A1994DD7B4}" type="sibTrans" cxnId="{08868A75-595E-4F05-AFE3-6A4ED9EF6BC7}">
      <dgm:prSet/>
      <dgm:spPr/>
      <dgm:t>
        <a:bodyPr/>
        <a:lstStyle/>
        <a:p>
          <a:endParaRPr lang="en-US"/>
        </a:p>
      </dgm:t>
    </dgm:pt>
    <dgm:pt modelId="{31CCC270-2B7F-4A73-A5DA-FD7204BC4DEE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>
              <a:latin typeface="Aptos"/>
            </a:rPr>
            <a:t>Non-Linear Dependencies: Viscosity</a:t>
          </a:r>
          <a:r>
            <a:rPr lang="en-US" sz="1400" b="0">
              <a:latin typeface="Aptos"/>
            </a:rPr>
            <a:t> does not scale evenly with density. Heavy crudes require exponentially more heating/pumping energy than medium crudes.</a:t>
          </a:r>
          <a:endParaRPr lang="en-US" sz="1400" b="1">
            <a:latin typeface="Aptos"/>
          </a:endParaRPr>
        </a:p>
      </dgm:t>
    </dgm:pt>
    <dgm:pt modelId="{86D635AF-2ED2-4805-B747-00302F35750C}" type="parTrans" cxnId="{9A62B585-ECAC-43DA-9DCC-8769B8463A44}">
      <dgm:prSet/>
      <dgm:spPr/>
    </dgm:pt>
    <dgm:pt modelId="{92ECEA4F-9289-4DAE-8EB6-B312FB8A3AD4}" type="sibTrans" cxnId="{9A62B585-ECAC-43DA-9DCC-8769B8463A44}">
      <dgm:prSet/>
      <dgm:spPr/>
      <dgm:t>
        <a:bodyPr/>
        <a:lstStyle/>
        <a:p>
          <a:endParaRPr lang="en-US"/>
        </a:p>
      </dgm:t>
    </dgm:pt>
    <dgm:pt modelId="{F7513F33-4F05-48D6-B605-60ECE23543CA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>
              <a:latin typeface="Aptos"/>
            </a:rPr>
            <a:t>Strategic Conclusion: Predictive Power:</a:t>
          </a:r>
          <a:r>
            <a:rPr lang="en-US" sz="1400" b="0">
              <a:latin typeface="Aptos"/>
            </a:rPr>
            <a:t> We can confidently impute missing </a:t>
          </a:r>
          <a:r>
            <a:rPr lang="en-US" sz="1400" b="1">
              <a:latin typeface="Aptos"/>
            </a:rPr>
            <a:t>Vanadium/Nickel</a:t>
          </a:r>
          <a:r>
            <a:rPr lang="en-US" sz="1400" b="0">
              <a:latin typeface="Aptos"/>
            </a:rPr>
            <a:t> values using </a:t>
          </a:r>
          <a:r>
            <a:rPr lang="en-US" sz="1400" b="1">
              <a:latin typeface="Aptos"/>
            </a:rPr>
            <a:t>Sulfur</a:t>
          </a:r>
          <a:r>
            <a:rPr lang="en-US" sz="1400" b="0">
              <a:latin typeface="Aptos"/>
            </a:rPr>
            <a:t> data due to the 90%+ correlation.</a:t>
          </a:r>
          <a:endParaRPr lang="en-US" sz="1400">
            <a:latin typeface="Aptos"/>
          </a:endParaRPr>
        </a:p>
      </dgm:t>
    </dgm:pt>
    <dgm:pt modelId="{2614F373-B684-453C-844D-5CF2F7498070}" type="parTrans" cxnId="{13668B24-FBCB-497A-ADAF-92295772CC3E}">
      <dgm:prSet/>
      <dgm:spPr/>
    </dgm:pt>
    <dgm:pt modelId="{2C381636-7A92-40ED-86CA-4CEF761C8BB8}" type="sibTrans" cxnId="{13668B24-FBCB-497A-ADAF-92295772CC3E}">
      <dgm:prSet/>
      <dgm:spPr/>
    </dgm:pt>
    <dgm:pt modelId="{29157B79-C898-42DA-BA8C-9C8884E0A316}" type="pres">
      <dgm:prSet presAssocID="{AA11A835-FED2-4DD8-AB14-53FCF77812AF}" presName="Name0" presStyleCnt="0">
        <dgm:presLayoutVars>
          <dgm:dir/>
          <dgm:animLvl val="lvl"/>
          <dgm:resizeHandles val="exact"/>
        </dgm:presLayoutVars>
      </dgm:prSet>
      <dgm:spPr/>
    </dgm:pt>
    <dgm:pt modelId="{838913EB-8856-4EA7-9010-253F45D4F37D}" type="pres">
      <dgm:prSet presAssocID="{3465147B-20AD-4DEC-86A5-9B797D0910B9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330139D-0642-4AFB-BA55-66B559F9B30C}" type="pres">
      <dgm:prSet presAssocID="{CDD008E0-FBE5-48B8-BB50-27A1994DD7B4}" presName="parTxOnlySpace" presStyleCnt="0"/>
      <dgm:spPr/>
    </dgm:pt>
    <dgm:pt modelId="{CA044851-36A4-4775-A314-BB0B65721BF7}" type="pres">
      <dgm:prSet presAssocID="{31CCC270-2B7F-4A73-A5DA-FD7204BC4DE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D0053F37-8811-4FC0-9180-D789CC67CEC3}" type="pres">
      <dgm:prSet presAssocID="{92ECEA4F-9289-4DAE-8EB6-B312FB8A3AD4}" presName="parTxOnlySpace" presStyleCnt="0"/>
      <dgm:spPr/>
    </dgm:pt>
    <dgm:pt modelId="{BA9C09D1-1EDD-436F-9E25-D1AD6279DA89}" type="pres">
      <dgm:prSet presAssocID="{F7513F33-4F05-48D6-B605-60ECE23543C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13668B24-FBCB-497A-ADAF-92295772CC3E}" srcId="{AA11A835-FED2-4DD8-AB14-53FCF77812AF}" destId="{F7513F33-4F05-48D6-B605-60ECE23543CA}" srcOrd="2" destOrd="0" parTransId="{2614F373-B684-453C-844D-5CF2F7498070}" sibTransId="{2C381636-7A92-40ED-86CA-4CEF761C8BB8}"/>
    <dgm:cxn modelId="{A7540539-45CE-4E97-BDE5-C20531CFAAA3}" type="presOf" srcId="{31CCC270-2B7F-4A73-A5DA-FD7204BC4DEE}" destId="{CA044851-36A4-4775-A314-BB0B65721BF7}" srcOrd="0" destOrd="0" presId="urn:microsoft.com/office/officeart/2005/8/layout/chevron1"/>
    <dgm:cxn modelId="{A777A973-19A3-4584-B29D-BF3CB3C94155}" type="presOf" srcId="{F7513F33-4F05-48D6-B605-60ECE23543CA}" destId="{BA9C09D1-1EDD-436F-9E25-D1AD6279DA89}" srcOrd="0" destOrd="0" presId="urn:microsoft.com/office/officeart/2005/8/layout/chevron1"/>
    <dgm:cxn modelId="{08868A75-595E-4F05-AFE3-6A4ED9EF6BC7}" srcId="{AA11A835-FED2-4DD8-AB14-53FCF77812AF}" destId="{3465147B-20AD-4DEC-86A5-9B797D0910B9}" srcOrd="0" destOrd="0" parTransId="{32058C94-31E6-40A3-9C26-AE84E070D007}" sibTransId="{CDD008E0-FBE5-48B8-BB50-27A1994DD7B4}"/>
    <dgm:cxn modelId="{CE4E3A76-894A-458F-81E8-3C707F4C4ED6}" type="presOf" srcId="{3465147B-20AD-4DEC-86A5-9B797D0910B9}" destId="{838913EB-8856-4EA7-9010-253F45D4F37D}" srcOrd="0" destOrd="0" presId="urn:microsoft.com/office/officeart/2005/8/layout/chevron1"/>
    <dgm:cxn modelId="{9A62B585-ECAC-43DA-9DCC-8769B8463A44}" srcId="{AA11A835-FED2-4DD8-AB14-53FCF77812AF}" destId="{31CCC270-2B7F-4A73-A5DA-FD7204BC4DEE}" srcOrd="1" destOrd="0" parTransId="{86D635AF-2ED2-4805-B747-00302F35750C}" sibTransId="{92ECEA4F-9289-4DAE-8EB6-B312FB8A3AD4}"/>
    <dgm:cxn modelId="{1F0B1093-342F-44AA-86DE-155ABABD088C}" type="presOf" srcId="{AA11A835-FED2-4DD8-AB14-53FCF77812AF}" destId="{29157B79-C898-42DA-BA8C-9C8884E0A316}" srcOrd="0" destOrd="0" presId="urn:microsoft.com/office/officeart/2005/8/layout/chevron1"/>
    <dgm:cxn modelId="{A66DFE90-5F54-4017-8FF1-1D15FB7F429E}" type="presParOf" srcId="{29157B79-C898-42DA-BA8C-9C8884E0A316}" destId="{838913EB-8856-4EA7-9010-253F45D4F37D}" srcOrd="0" destOrd="0" presId="urn:microsoft.com/office/officeart/2005/8/layout/chevron1"/>
    <dgm:cxn modelId="{16C8D961-10FA-4F41-965F-CA3C85825F62}" type="presParOf" srcId="{29157B79-C898-42DA-BA8C-9C8884E0A316}" destId="{7330139D-0642-4AFB-BA55-66B559F9B30C}" srcOrd="1" destOrd="0" presId="urn:microsoft.com/office/officeart/2005/8/layout/chevron1"/>
    <dgm:cxn modelId="{07EC6FAF-B885-4C9D-AAC5-82579B3C2253}" type="presParOf" srcId="{29157B79-C898-42DA-BA8C-9C8884E0A316}" destId="{CA044851-36A4-4775-A314-BB0B65721BF7}" srcOrd="2" destOrd="0" presId="urn:microsoft.com/office/officeart/2005/8/layout/chevron1"/>
    <dgm:cxn modelId="{60D26EA7-D066-4C43-A659-FE5024B84738}" type="presParOf" srcId="{29157B79-C898-42DA-BA8C-9C8884E0A316}" destId="{D0053F37-8811-4FC0-9180-D789CC67CEC3}" srcOrd="3" destOrd="0" presId="urn:microsoft.com/office/officeart/2005/8/layout/chevron1"/>
    <dgm:cxn modelId="{55ACE9C3-F33C-40B9-84AD-B7B1526D0A21}" type="presParOf" srcId="{29157B79-C898-42DA-BA8C-9C8884E0A316}" destId="{BA9C09D1-1EDD-436F-9E25-D1AD6279DA8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65147B-20AD-4DEC-86A5-9B797D0910B9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Visualized complex interactions, clusters, and patterns across the entire dataset</a:t>
          </a:r>
          <a:endParaRPr lang="en-US">
            <a:solidFill>
              <a:srgbClr val="2F2F2F"/>
            </a:solidFill>
            <a:latin typeface="Aptos"/>
            <a:ea typeface="+mn-ea"/>
            <a:cs typeface="+mn-cs"/>
          </a:endParaRPr>
        </a:p>
      </dgm:t>
    </dgm:pt>
    <dgm:pt modelId="{32058C94-31E6-40A3-9C26-AE84E070D007}" type="parTrans" cxnId="{08868A75-595E-4F05-AFE3-6A4ED9EF6BC7}">
      <dgm:prSet/>
      <dgm:spPr/>
      <dgm:t>
        <a:bodyPr/>
        <a:lstStyle/>
        <a:p>
          <a:endParaRPr lang="en-US"/>
        </a:p>
      </dgm:t>
    </dgm:pt>
    <dgm:pt modelId="{CDD008E0-FBE5-48B8-BB50-27A1994DD7B4}" type="sibTrans" cxnId="{08868A75-595E-4F05-AFE3-6A4ED9EF6BC7}">
      <dgm:prSet/>
      <dgm:spPr/>
      <dgm:t>
        <a:bodyPr/>
        <a:lstStyle/>
        <a:p>
          <a:endParaRPr lang="en-US"/>
        </a:p>
      </dgm:t>
    </dgm:pt>
    <dgm:pt modelId="{AC1CF65C-1E5E-47AA-AFD7-0D493C55F53B}">
      <dgm:prSet phldrT="[Text]" phldr="0"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Correlation Heatmaps: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Mapped the intensity of relationships to identify co-varying features</a:t>
          </a:r>
          <a:endParaRPr lang="en-US">
            <a:solidFill>
              <a:srgbClr val="2F2F2F"/>
            </a:solidFill>
            <a:latin typeface="Aptos"/>
            <a:ea typeface="+mn-ea"/>
            <a:cs typeface="+mn-cs"/>
          </a:endParaRP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C08723B0-F87F-45BD-9750-FE661D50F9EC}">
      <dgm:prSet phldrT="[Text]"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Scatter Plot: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Visualized the strongest correlations</a:t>
          </a:r>
          <a:endParaRPr lang="en-US">
            <a:solidFill>
              <a:srgbClr val="2F2F2F"/>
            </a:solidFill>
            <a:latin typeface="Aptos"/>
            <a:ea typeface="+mn-ea"/>
            <a:cs typeface="+mn-cs"/>
          </a:endParaRPr>
        </a:p>
      </dgm:t>
    </dgm:pt>
    <dgm:pt modelId="{011AC146-C9E5-420E-98FD-8FAC1BA65964}" type="parTrans" cxnId="{1F708F11-10A7-479B-8CBC-F386F0228CB2}">
      <dgm:prSet/>
      <dgm:spPr/>
      <dgm:t>
        <a:bodyPr/>
        <a:lstStyle/>
        <a:p>
          <a:endParaRPr lang="en-US"/>
        </a:p>
      </dgm:t>
    </dgm:pt>
    <dgm:pt modelId="{BB18F552-86C6-4895-9443-52FD9359C959}" type="sibTrans" cxnId="{1F708F11-10A7-479B-8CBC-F386F0228CB2}">
      <dgm:prSet/>
      <dgm:spPr/>
      <dgm:t>
        <a:bodyPr/>
        <a:lstStyle/>
        <a:p>
          <a:endParaRPr lang="en-US"/>
        </a:p>
      </dgm:t>
    </dgm:pt>
    <dgm:pt modelId="{8B3330F5-169E-404D-B1D6-60C1831A2DB0}">
      <dgm:prSet phldr="0" custT="1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b="1">
              <a:solidFill>
                <a:srgbClr val="2F2F2F"/>
              </a:solidFill>
              <a:latin typeface="Aptos"/>
              <a:ea typeface="+mn-ea"/>
              <a:cs typeface="+mn-cs"/>
            </a:rPr>
            <a:t>Grouped Pair Plots:</a:t>
          </a:r>
          <a:r>
            <a:rPr lang="en-US" sz="1600">
              <a:solidFill>
                <a:srgbClr val="2F2F2F"/>
              </a:solidFill>
              <a:latin typeface="Aptos"/>
              <a:ea typeface="+mn-ea"/>
              <a:cs typeface="+mn-cs"/>
            </a:rPr>
            <a:t> Analyzed multivariate behaviors within logical categories</a:t>
          </a:r>
        </a:p>
      </dgm:t>
    </dgm:pt>
    <dgm:pt modelId="{06292654-6C36-4304-BEF0-28FC1A4592B6}" type="parTrans" cxnId="{1D9F105D-F078-49FE-AEEE-272B33F973CB}">
      <dgm:prSet/>
      <dgm:spPr/>
    </dgm:pt>
    <dgm:pt modelId="{0ECDA96B-0345-463C-864D-72D5A4D29CE0}" type="sibTrans" cxnId="{1D9F105D-F078-49FE-AEEE-272B33F973CB}">
      <dgm:prSet/>
      <dgm:spPr/>
    </dgm:pt>
    <dgm:pt modelId="{05000FEB-4C08-41DF-A9F1-B2254A1D20BB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7496A8BE-C92F-4187-A742-2782847EC43F}" type="pres">
      <dgm:prSet presAssocID="{3465147B-20AD-4DEC-86A5-9B797D0910B9}" presName="parentLin" presStyleCnt="0"/>
      <dgm:spPr/>
    </dgm:pt>
    <dgm:pt modelId="{56A87AE4-3F13-40A9-9A23-3083301E85C9}" type="pres">
      <dgm:prSet presAssocID="{3465147B-20AD-4DEC-86A5-9B797D0910B9}" presName="parentLeftMargin" presStyleLbl="node1" presStyleIdx="0" presStyleCnt="4"/>
      <dgm:spPr/>
    </dgm:pt>
    <dgm:pt modelId="{A15711A4-FE2E-49D6-BCA0-26A17F5F03CD}" type="pres">
      <dgm:prSet presAssocID="{3465147B-20AD-4DEC-86A5-9B797D0910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A422E6-AFC5-4A40-8FE8-209D8FABFEA9}" type="pres">
      <dgm:prSet presAssocID="{3465147B-20AD-4DEC-86A5-9B797D0910B9}" presName="negativeSpace" presStyleCnt="0"/>
      <dgm:spPr/>
    </dgm:pt>
    <dgm:pt modelId="{E0C1AF03-CA66-4422-9093-B61A642D0EB5}" type="pres">
      <dgm:prSet presAssocID="{3465147B-20AD-4DEC-86A5-9B797D0910B9}" presName="childText" presStyleLbl="conFgAcc1" presStyleIdx="0" presStyleCnt="4">
        <dgm:presLayoutVars>
          <dgm:bulletEnabled val="1"/>
        </dgm:presLayoutVars>
      </dgm:prSet>
      <dgm:spPr/>
    </dgm:pt>
    <dgm:pt modelId="{12BFA82B-099B-4852-9342-61376AFD6009}" type="pres">
      <dgm:prSet presAssocID="{CDD008E0-FBE5-48B8-BB50-27A1994DD7B4}" presName="spaceBetweenRectangles" presStyleCnt="0"/>
      <dgm:spPr/>
    </dgm:pt>
    <dgm:pt modelId="{D00D4483-7F6C-4EA6-A979-DE425C677028}" type="pres">
      <dgm:prSet presAssocID="{AC1CF65C-1E5E-47AA-AFD7-0D493C55F53B}" presName="parentLin" presStyleCnt="0"/>
      <dgm:spPr/>
    </dgm:pt>
    <dgm:pt modelId="{6EBA1F7C-1215-48B5-A48C-3E7475B0DE8F}" type="pres">
      <dgm:prSet presAssocID="{AC1CF65C-1E5E-47AA-AFD7-0D493C55F53B}" presName="parentLeftMargin" presStyleLbl="node1" presStyleIdx="0" presStyleCnt="4"/>
      <dgm:spPr/>
    </dgm:pt>
    <dgm:pt modelId="{2054FAFB-559A-4027-A4FA-98A7314E7390}" type="pres">
      <dgm:prSet presAssocID="{AC1CF65C-1E5E-47AA-AFD7-0D493C55F53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94B7AB-A743-4944-B340-01F4C548B18F}" type="pres">
      <dgm:prSet presAssocID="{AC1CF65C-1E5E-47AA-AFD7-0D493C55F53B}" presName="negativeSpace" presStyleCnt="0"/>
      <dgm:spPr/>
    </dgm:pt>
    <dgm:pt modelId="{2B7D1C17-0E06-4FDC-8AF4-7BB2C586D44F}" type="pres">
      <dgm:prSet presAssocID="{AC1CF65C-1E5E-47AA-AFD7-0D493C55F53B}" presName="childText" presStyleLbl="conFgAcc1" presStyleIdx="1" presStyleCnt="4">
        <dgm:presLayoutVars>
          <dgm:bulletEnabled val="1"/>
        </dgm:presLayoutVars>
      </dgm:prSet>
      <dgm:spPr/>
    </dgm:pt>
    <dgm:pt modelId="{AD6C13F1-5FB0-4459-A891-73590449359A}" type="pres">
      <dgm:prSet presAssocID="{639A6B98-4123-40B2-B21E-C3A26996FE5B}" presName="spaceBetweenRectangles" presStyleCnt="0"/>
      <dgm:spPr/>
    </dgm:pt>
    <dgm:pt modelId="{CF2BD2F9-C772-4035-AF94-368D8BD796AE}" type="pres">
      <dgm:prSet presAssocID="{C08723B0-F87F-45BD-9750-FE661D50F9EC}" presName="parentLin" presStyleCnt="0"/>
      <dgm:spPr/>
    </dgm:pt>
    <dgm:pt modelId="{C00C0AA8-9ADB-4A06-B709-D2A66F6AFF34}" type="pres">
      <dgm:prSet presAssocID="{C08723B0-F87F-45BD-9750-FE661D50F9EC}" presName="parentLeftMargin" presStyleLbl="node1" presStyleIdx="1" presStyleCnt="4"/>
      <dgm:spPr/>
    </dgm:pt>
    <dgm:pt modelId="{870AF119-0CAE-4EDC-9570-695DA6C66E42}" type="pres">
      <dgm:prSet presAssocID="{C08723B0-F87F-45BD-9750-FE661D50F9E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5CCDA0-FAAA-41F3-AEC1-6C54F8677AAE}" type="pres">
      <dgm:prSet presAssocID="{C08723B0-F87F-45BD-9750-FE661D50F9EC}" presName="negativeSpace" presStyleCnt="0"/>
      <dgm:spPr/>
    </dgm:pt>
    <dgm:pt modelId="{D6535CAD-C7A9-4A3B-ABD3-EA25CBF7989D}" type="pres">
      <dgm:prSet presAssocID="{C08723B0-F87F-45BD-9750-FE661D50F9EC}" presName="childText" presStyleLbl="conFgAcc1" presStyleIdx="2" presStyleCnt="4">
        <dgm:presLayoutVars>
          <dgm:bulletEnabled val="1"/>
        </dgm:presLayoutVars>
      </dgm:prSet>
      <dgm:spPr/>
    </dgm:pt>
    <dgm:pt modelId="{98FE7BFB-D7D7-4603-A470-C82319253991}" type="pres">
      <dgm:prSet presAssocID="{BB18F552-86C6-4895-9443-52FD9359C959}" presName="spaceBetweenRectangles" presStyleCnt="0"/>
      <dgm:spPr/>
    </dgm:pt>
    <dgm:pt modelId="{2BD65587-82DD-473E-A1DF-1693C19E5384}" type="pres">
      <dgm:prSet presAssocID="{8B3330F5-169E-404D-B1D6-60C1831A2DB0}" presName="parentLin" presStyleCnt="0"/>
      <dgm:spPr/>
    </dgm:pt>
    <dgm:pt modelId="{302E20E2-87E8-4F00-A540-7C59E9CE5867}" type="pres">
      <dgm:prSet presAssocID="{8B3330F5-169E-404D-B1D6-60C1831A2DB0}" presName="parentLeftMargin" presStyleLbl="node1" presStyleIdx="2" presStyleCnt="4"/>
      <dgm:spPr/>
    </dgm:pt>
    <dgm:pt modelId="{D3815F28-CC61-4D1E-8383-F53D2B99B962}" type="pres">
      <dgm:prSet presAssocID="{8B3330F5-169E-404D-B1D6-60C1831A2DB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D983E34-7859-45DE-9D76-75AF0E0EABA4}" type="pres">
      <dgm:prSet presAssocID="{8B3330F5-169E-404D-B1D6-60C1831A2DB0}" presName="negativeSpace" presStyleCnt="0"/>
      <dgm:spPr/>
    </dgm:pt>
    <dgm:pt modelId="{2FC84F47-0755-41D2-B59E-7E22DF4AA98C}" type="pres">
      <dgm:prSet presAssocID="{8B3330F5-169E-404D-B1D6-60C1831A2DB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99E8F00-0EEA-4920-8F14-8954B42FFCCD}" type="presOf" srcId="{AC1CF65C-1E5E-47AA-AFD7-0D493C55F53B}" destId="{2054FAFB-559A-4027-A4FA-98A7314E7390}" srcOrd="1" destOrd="0" presId="urn:microsoft.com/office/officeart/2005/8/layout/list1"/>
    <dgm:cxn modelId="{7CE7E207-7945-4AF5-B3B2-FD048B77D99C}" type="presOf" srcId="{3465147B-20AD-4DEC-86A5-9B797D0910B9}" destId="{56A87AE4-3F13-40A9-9A23-3083301E85C9}" srcOrd="0" destOrd="0" presId="urn:microsoft.com/office/officeart/2005/8/layout/list1"/>
    <dgm:cxn modelId="{1F708F11-10A7-479B-8CBC-F386F0228CB2}" srcId="{AA11A835-FED2-4DD8-AB14-53FCF77812AF}" destId="{C08723B0-F87F-45BD-9750-FE661D50F9EC}" srcOrd="2" destOrd="0" parTransId="{011AC146-C9E5-420E-98FD-8FAC1BA65964}" sibTransId="{BB18F552-86C6-4895-9443-52FD9359C959}"/>
    <dgm:cxn modelId="{1D9F105D-F078-49FE-AEEE-272B33F973CB}" srcId="{AA11A835-FED2-4DD8-AB14-53FCF77812AF}" destId="{8B3330F5-169E-404D-B1D6-60C1831A2DB0}" srcOrd="3" destOrd="0" parTransId="{06292654-6C36-4304-BEF0-28FC1A4592B6}" sibTransId="{0ECDA96B-0345-463C-864D-72D5A4D29CE0}"/>
    <dgm:cxn modelId="{85192066-4888-485D-85AE-102DB1DA41A5}" type="presOf" srcId="{3465147B-20AD-4DEC-86A5-9B797D0910B9}" destId="{A15711A4-FE2E-49D6-BCA0-26A17F5F03CD}" srcOrd="1" destOrd="0" presId="urn:microsoft.com/office/officeart/2005/8/layout/list1"/>
    <dgm:cxn modelId="{52049969-9E19-452F-A1A4-BE3E99ACCF40}" type="presOf" srcId="{8B3330F5-169E-404D-B1D6-60C1831A2DB0}" destId="{302E20E2-87E8-4F00-A540-7C59E9CE5867}" srcOrd="0" destOrd="0" presId="urn:microsoft.com/office/officeart/2005/8/layout/list1"/>
    <dgm:cxn modelId="{167D0C51-4CF5-409C-B499-57AEB3F52A55}" type="presOf" srcId="{AA11A835-FED2-4DD8-AB14-53FCF77812AF}" destId="{05000FEB-4C08-41DF-A9F1-B2254A1D20BB}" srcOrd="0" destOrd="0" presId="urn:microsoft.com/office/officeart/2005/8/layout/list1"/>
    <dgm:cxn modelId="{1E948572-0F47-4817-AF6B-A81B8F69C471}" type="presOf" srcId="{C08723B0-F87F-45BD-9750-FE661D50F9EC}" destId="{C00C0AA8-9ADB-4A06-B709-D2A66F6AFF34}" srcOrd="0" destOrd="0" presId="urn:microsoft.com/office/officeart/2005/8/layout/list1"/>
    <dgm:cxn modelId="{08868A75-595E-4F05-AFE3-6A4ED9EF6BC7}" srcId="{AA11A835-FED2-4DD8-AB14-53FCF77812AF}" destId="{3465147B-20AD-4DEC-86A5-9B797D0910B9}" srcOrd="0" destOrd="0" parTransId="{32058C94-31E6-40A3-9C26-AE84E070D007}" sibTransId="{CDD008E0-FBE5-48B8-BB50-27A1994DD7B4}"/>
    <dgm:cxn modelId="{E9E8C78E-ADA0-48C0-B307-DDD882D12F95}" type="presOf" srcId="{8B3330F5-169E-404D-B1D6-60C1831A2DB0}" destId="{D3815F28-CC61-4D1E-8383-F53D2B99B962}" srcOrd="1" destOrd="0" presId="urn:microsoft.com/office/officeart/2005/8/layout/list1"/>
    <dgm:cxn modelId="{842E6495-D749-4980-8F90-7CDF829E253E}" type="presOf" srcId="{C08723B0-F87F-45BD-9750-FE661D50F9EC}" destId="{870AF119-0CAE-4EDC-9570-695DA6C66E42}" srcOrd="1" destOrd="0" presId="urn:microsoft.com/office/officeart/2005/8/layout/list1"/>
    <dgm:cxn modelId="{3BB2C2BD-6452-41C7-8EB7-957AA688C705}" type="presOf" srcId="{AC1CF65C-1E5E-47AA-AFD7-0D493C55F53B}" destId="{6EBA1F7C-1215-48B5-A48C-3E7475B0DE8F}" srcOrd="0" destOrd="0" presId="urn:microsoft.com/office/officeart/2005/8/layout/list1"/>
    <dgm:cxn modelId="{F59D4FED-B9B0-4F3C-B98F-6A1F2B978545}" srcId="{AA11A835-FED2-4DD8-AB14-53FCF77812AF}" destId="{AC1CF65C-1E5E-47AA-AFD7-0D493C55F53B}" srcOrd="1" destOrd="0" parTransId="{9ABDCDB9-393A-4A55-B4A8-1FDA2B180809}" sibTransId="{639A6B98-4123-40B2-B21E-C3A26996FE5B}"/>
    <dgm:cxn modelId="{1BF38C22-BA99-4898-92B3-205CA390F2DB}" type="presParOf" srcId="{05000FEB-4C08-41DF-A9F1-B2254A1D20BB}" destId="{7496A8BE-C92F-4187-A742-2782847EC43F}" srcOrd="0" destOrd="0" presId="urn:microsoft.com/office/officeart/2005/8/layout/list1"/>
    <dgm:cxn modelId="{7510C590-BDC7-4BB1-9EBB-5B5F2584B38E}" type="presParOf" srcId="{7496A8BE-C92F-4187-A742-2782847EC43F}" destId="{56A87AE4-3F13-40A9-9A23-3083301E85C9}" srcOrd="0" destOrd="0" presId="urn:microsoft.com/office/officeart/2005/8/layout/list1"/>
    <dgm:cxn modelId="{A86C2375-4C74-4DF6-90AB-03AC8C280539}" type="presParOf" srcId="{7496A8BE-C92F-4187-A742-2782847EC43F}" destId="{A15711A4-FE2E-49D6-BCA0-26A17F5F03CD}" srcOrd="1" destOrd="0" presId="urn:microsoft.com/office/officeart/2005/8/layout/list1"/>
    <dgm:cxn modelId="{331F9620-76C2-4488-860C-19258DDBF57E}" type="presParOf" srcId="{05000FEB-4C08-41DF-A9F1-B2254A1D20BB}" destId="{4BA422E6-AFC5-4A40-8FE8-209D8FABFEA9}" srcOrd="1" destOrd="0" presId="urn:microsoft.com/office/officeart/2005/8/layout/list1"/>
    <dgm:cxn modelId="{A42C6297-AF67-4E3E-8E4C-0D3B8E22F23A}" type="presParOf" srcId="{05000FEB-4C08-41DF-A9F1-B2254A1D20BB}" destId="{E0C1AF03-CA66-4422-9093-B61A642D0EB5}" srcOrd="2" destOrd="0" presId="urn:microsoft.com/office/officeart/2005/8/layout/list1"/>
    <dgm:cxn modelId="{31FB0533-C7BE-446F-9246-758832C03023}" type="presParOf" srcId="{05000FEB-4C08-41DF-A9F1-B2254A1D20BB}" destId="{12BFA82B-099B-4852-9342-61376AFD6009}" srcOrd="3" destOrd="0" presId="urn:microsoft.com/office/officeart/2005/8/layout/list1"/>
    <dgm:cxn modelId="{49684496-5677-4F5A-8053-6B07B4ED7F32}" type="presParOf" srcId="{05000FEB-4C08-41DF-A9F1-B2254A1D20BB}" destId="{D00D4483-7F6C-4EA6-A979-DE425C677028}" srcOrd="4" destOrd="0" presId="urn:microsoft.com/office/officeart/2005/8/layout/list1"/>
    <dgm:cxn modelId="{5EAAB867-B5D0-4DE4-86FD-E35D66DE6B1E}" type="presParOf" srcId="{D00D4483-7F6C-4EA6-A979-DE425C677028}" destId="{6EBA1F7C-1215-48B5-A48C-3E7475B0DE8F}" srcOrd="0" destOrd="0" presId="urn:microsoft.com/office/officeart/2005/8/layout/list1"/>
    <dgm:cxn modelId="{638DD687-2F95-414A-93A6-885F9E1BDDA6}" type="presParOf" srcId="{D00D4483-7F6C-4EA6-A979-DE425C677028}" destId="{2054FAFB-559A-4027-A4FA-98A7314E7390}" srcOrd="1" destOrd="0" presId="urn:microsoft.com/office/officeart/2005/8/layout/list1"/>
    <dgm:cxn modelId="{4FAB74FB-0636-4F5F-831C-D0E39AB66D88}" type="presParOf" srcId="{05000FEB-4C08-41DF-A9F1-B2254A1D20BB}" destId="{3694B7AB-A743-4944-B340-01F4C548B18F}" srcOrd="5" destOrd="0" presId="urn:microsoft.com/office/officeart/2005/8/layout/list1"/>
    <dgm:cxn modelId="{9667C801-6516-4C50-8A55-A2AC40F0B819}" type="presParOf" srcId="{05000FEB-4C08-41DF-A9F1-B2254A1D20BB}" destId="{2B7D1C17-0E06-4FDC-8AF4-7BB2C586D44F}" srcOrd="6" destOrd="0" presId="urn:microsoft.com/office/officeart/2005/8/layout/list1"/>
    <dgm:cxn modelId="{6CB30FA8-7468-4084-AADC-BA6E9AE9C86F}" type="presParOf" srcId="{05000FEB-4C08-41DF-A9F1-B2254A1D20BB}" destId="{AD6C13F1-5FB0-4459-A891-73590449359A}" srcOrd="7" destOrd="0" presId="urn:microsoft.com/office/officeart/2005/8/layout/list1"/>
    <dgm:cxn modelId="{0F0086F0-6004-4923-B17E-8150311E424A}" type="presParOf" srcId="{05000FEB-4C08-41DF-A9F1-B2254A1D20BB}" destId="{CF2BD2F9-C772-4035-AF94-368D8BD796AE}" srcOrd="8" destOrd="0" presId="urn:microsoft.com/office/officeart/2005/8/layout/list1"/>
    <dgm:cxn modelId="{7CC476FA-CB02-4257-811A-4209B9CE5F17}" type="presParOf" srcId="{CF2BD2F9-C772-4035-AF94-368D8BD796AE}" destId="{C00C0AA8-9ADB-4A06-B709-D2A66F6AFF34}" srcOrd="0" destOrd="0" presId="urn:microsoft.com/office/officeart/2005/8/layout/list1"/>
    <dgm:cxn modelId="{083D5F98-13D2-4E59-8E6D-8B3F064962D6}" type="presParOf" srcId="{CF2BD2F9-C772-4035-AF94-368D8BD796AE}" destId="{870AF119-0CAE-4EDC-9570-695DA6C66E42}" srcOrd="1" destOrd="0" presId="urn:microsoft.com/office/officeart/2005/8/layout/list1"/>
    <dgm:cxn modelId="{767BD101-44C1-4461-8E77-4E8F62483D15}" type="presParOf" srcId="{05000FEB-4C08-41DF-A9F1-B2254A1D20BB}" destId="{8C5CCDA0-FAAA-41F3-AEC1-6C54F8677AAE}" srcOrd="9" destOrd="0" presId="urn:microsoft.com/office/officeart/2005/8/layout/list1"/>
    <dgm:cxn modelId="{283B7B9A-8AEF-4C93-A667-418F48EEFD2E}" type="presParOf" srcId="{05000FEB-4C08-41DF-A9F1-B2254A1D20BB}" destId="{D6535CAD-C7A9-4A3B-ABD3-EA25CBF7989D}" srcOrd="10" destOrd="0" presId="urn:microsoft.com/office/officeart/2005/8/layout/list1"/>
    <dgm:cxn modelId="{E17D9CFC-0C89-4173-8112-26FF39B8CF18}" type="presParOf" srcId="{05000FEB-4C08-41DF-A9F1-B2254A1D20BB}" destId="{98FE7BFB-D7D7-4603-A470-C82319253991}" srcOrd="11" destOrd="0" presId="urn:microsoft.com/office/officeart/2005/8/layout/list1"/>
    <dgm:cxn modelId="{16558222-9D3D-42F8-89B8-46CBEC7D7030}" type="presParOf" srcId="{05000FEB-4C08-41DF-A9F1-B2254A1D20BB}" destId="{2BD65587-82DD-473E-A1DF-1693C19E5384}" srcOrd="12" destOrd="0" presId="urn:microsoft.com/office/officeart/2005/8/layout/list1"/>
    <dgm:cxn modelId="{79C049BB-1095-447D-857D-12BF6FD60394}" type="presParOf" srcId="{2BD65587-82DD-473E-A1DF-1693C19E5384}" destId="{302E20E2-87E8-4F00-A540-7C59E9CE5867}" srcOrd="0" destOrd="0" presId="urn:microsoft.com/office/officeart/2005/8/layout/list1"/>
    <dgm:cxn modelId="{F9A91B17-E130-4779-858E-52A66ACD7814}" type="presParOf" srcId="{2BD65587-82DD-473E-A1DF-1693C19E5384}" destId="{D3815F28-CC61-4D1E-8383-F53D2B99B962}" srcOrd="1" destOrd="0" presId="urn:microsoft.com/office/officeart/2005/8/layout/list1"/>
    <dgm:cxn modelId="{2DBBE947-7CCE-443E-9743-511305CA310E}" type="presParOf" srcId="{05000FEB-4C08-41DF-A9F1-B2254A1D20BB}" destId="{2D983E34-7859-45DE-9D76-75AF0E0EABA4}" srcOrd="13" destOrd="0" presId="urn:microsoft.com/office/officeart/2005/8/layout/list1"/>
    <dgm:cxn modelId="{8535463A-8A96-4894-9692-C412F07C22FE}" type="presParOf" srcId="{05000FEB-4C08-41DF-A9F1-B2254A1D20BB}" destId="{2FC84F47-0755-41D2-B59E-7E22DF4AA98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C1CF65C-1E5E-47AA-AFD7-0D493C55F53B}">
      <dgm:prSet phldrT="[Text]" phldr="0"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 i="0">
              <a:latin typeface="Aptos"/>
            </a:rPr>
            <a:t>Task 1: Crude Type (Multi-Class), Goal:</a:t>
          </a:r>
          <a:r>
            <a:rPr lang="en-US" sz="1400" b="0" i="0">
              <a:latin typeface="Aptos"/>
            </a:rPr>
            <a:t> Classify into Light / Medium / Heavy.</a:t>
          </a:r>
          <a:endParaRPr lang="en-US" sz="1400" b="0" i="0">
            <a:latin typeface="Aptos"/>
            <a:ea typeface="+mn-ea"/>
            <a:cs typeface="+mn-cs"/>
          </a:endParaRP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A52EA62F-49F6-4820-B5BA-AE332D3E3895}">
      <dgm:prSet phldr="0"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400" b="0" i="0">
              <a:latin typeface="Aptos"/>
            </a:rPr>
            <a:t>Tested </a:t>
          </a:r>
          <a:r>
            <a:rPr lang="en-US" sz="1400" b="1" i="0">
              <a:latin typeface="Aptos"/>
            </a:rPr>
            <a:t>Logistic Regression</a:t>
          </a:r>
          <a:r>
            <a:rPr lang="en-US" sz="1400" b="0" i="0">
              <a:latin typeface="Aptos"/>
            </a:rPr>
            <a:t> (Baseline) vs. </a:t>
          </a:r>
          <a:r>
            <a:rPr lang="en-US" sz="1400" b="1" i="0">
              <a:latin typeface="Aptos"/>
            </a:rPr>
            <a:t>SVM</a:t>
          </a:r>
          <a:r>
            <a:rPr lang="en-US" sz="1400" b="0" i="0">
              <a:latin typeface="Aptos"/>
            </a:rPr>
            <a:t> (Linear &amp; Non-Linear Kernels).</a:t>
          </a:r>
        </a:p>
      </dgm:t>
    </dgm:pt>
    <dgm:pt modelId="{540E4B86-5567-4FE1-9853-BB4C54D99FBF}" type="parTrans" cxnId="{01724239-089D-467D-8642-88468B0706E8}">
      <dgm:prSet/>
      <dgm:spPr/>
    </dgm:pt>
    <dgm:pt modelId="{C178C553-FA98-4439-8261-36F6E7FE76C9}" type="sibTrans" cxnId="{01724239-089D-467D-8642-88468B0706E8}">
      <dgm:prSet/>
      <dgm:spPr/>
      <dgm:t>
        <a:bodyPr/>
        <a:lstStyle/>
        <a:p>
          <a:endParaRPr lang="en-US"/>
        </a:p>
      </dgm:t>
    </dgm:pt>
    <dgm:pt modelId="{A0ADCFA2-6973-43B0-9E6C-287CE26A2A29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400" b="1" i="0">
              <a:latin typeface="Aptos"/>
            </a:rPr>
            <a:t>Validation:</a:t>
          </a:r>
          <a:r>
            <a:rPr lang="en-US" sz="1400" b="0" i="0">
              <a:latin typeface="Aptos"/>
            </a:rPr>
            <a:t> 80/20 Train-Test split with Stratified Sampling.</a:t>
          </a:r>
        </a:p>
      </dgm:t>
    </dgm:pt>
    <dgm:pt modelId="{1889DED9-BB6B-43F7-B093-6CF0D7192D73}" type="parTrans" cxnId="{27FDDC05-7014-4B53-9151-1D2D07E4D159}">
      <dgm:prSet/>
      <dgm:spPr/>
    </dgm:pt>
    <dgm:pt modelId="{BE043F0F-CE53-4817-BABD-54A1DBF0D379}" type="sibTrans" cxnId="{27FDDC05-7014-4B53-9151-1D2D07E4D159}">
      <dgm:prSet/>
      <dgm:spPr/>
      <dgm:t>
        <a:bodyPr/>
        <a:lstStyle/>
        <a:p>
          <a:endParaRPr lang="en-US"/>
        </a:p>
      </dgm:t>
    </dgm:pt>
    <dgm:pt modelId="{1BDB982D-3738-4492-ABE2-04FFD411FCBE}">
      <dgm:prSet phldr="0"/>
      <dgm:spPr/>
      <dgm:t>
        <a:bodyPr/>
        <a:lstStyle/>
        <a:p>
          <a:pPr algn="l" rtl="0"/>
          <a:r>
            <a:rPr lang="en-US" sz="1400" b="1" i="0">
              <a:latin typeface="Aptos"/>
            </a:rPr>
            <a:t>Task 2: Sulfur </a:t>
          </a:r>
          <a:r>
            <a:rPr lang="en-US" sz="1400" b="1" i="0" err="1">
              <a:latin typeface="Aptos"/>
            </a:rPr>
            <a:t>Flavour</a:t>
          </a:r>
          <a:r>
            <a:rPr lang="en-US" sz="1400" b="1" i="0">
              <a:latin typeface="Aptos"/>
            </a:rPr>
            <a:t> (Binary), Goal:</a:t>
          </a:r>
          <a:r>
            <a:rPr lang="en-US" sz="1400" b="0" i="0">
              <a:latin typeface="Aptos"/>
            </a:rPr>
            <a:t> Classify into Sweet / Sour (using metal proxies).</a:t>
          </a:r>
        </a:p>
      </dgm:t>
    </dgm:pt>
    <dgm:pt modelId="{B97EE65A-6D88-43E0-808F-C806C1CD3EC7}" type="parTrans" cxnId="{B56B45B7-6776-41A0-A159-A9988F8D68E4}">
      <dgm:prSet/>
      <dgm:spPr/>
    </dgm:pt>
    <dgm:pt modelId="{5A733768-9A01-4FC6-8112-4CD1AF92C766}" type="sibTrans" cxnId="{B56B45B7-6776-41A0-A159-A9988F8D68E4}">
      <dgm:prSet/>
      <dgm:spPr/>
    </dgm:pt>
    <dgm:pt modelId="{5F7A5131-92CD-4BCE-A412-965DDE221D71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F9D8BC0B-77F0-49AB-8943-73BC9C0533D9}" type="pres">
      <dgm:prSet presAssocID="{A52EA62F-49F6-4820-B5BA-AE332D3E3895}" presName="parentLin" presStyleCnt="0"/>
      <dgm:spPr/>
    </dgm:pt>
    <dgm:pt modelId="{04082869-3593-4B11-AE91-209CE09CCFB2}" type="pres">
      <dgm:prSet presAssocID="{A52EA62F-49F6-4820-B5BA-AE332D3E3895}" presName="parentLeftMargin" presStyleLbl="node1" presStyleIdx="0" presStyleCnt="4"/>
      <dgm:spPr/>
    </dgm:pt>
    <dgm:pt modelId="{EFFB935A-106D-44DD-AB05-272381819BC5}" type="pres">
      <dgm:prSet presAssocID="{A52EA62F-49F6-4820-B5BA-AE332D3E38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101532-C75F-42A4-9AA9-D438B73AFEA8}" type="pres">
      <dgm:prSet presAssocID="{A52EA62F-49F6-4820-B5BA-AE332D3E3895}" presName="negativeSpace" presStyleCnt="0"/>
      <dgm:spPr/>
    </dgm:pt>
    <dgm:pt modelId="{4B1F66C6-E04D-4A7E-929F-32AE022F4E0D}" type="pres">
      <dgm:prSet presAssocID="{A52EA62F-49F6-4820-B5BA-AE332D3E3895}" presName="childText" presStyleLbl="conFgAcc1" presStyleIdx="0" presStyleCnt="4">
        <dgm:presLayoutVars>
          <dgm:bulletEnabled val="1"/>
        </dgm:presLayoutVars>
      </dgm:prSet>
      <dgm:spPr/>
    </dgm:pt>
    <dgm:pt modelId="{845CB726-2873-4529-9F5B-2726E1C52C6F}" type="pres">
      <dgm:prSet presAssocID="{C178C553-FA98-4439-8261-36F6E7FE76C9}" presName="spaceBetweenRectangles" presStyleCnt="0"/>
      <dgm:spPr/>
    </dgm:pt>
    <dgm:pt modelId="{E453786C-B5B3-4432-B1A8-33D530371996}" type="pres">
      <dgm:prSet presAssocID="{A0ADCFA2-6973-43B0-9E6C-287CE26A2A29}" presName="parentLin" presStyleCnt="0"/>
      <dgm:spPr/>
    </dgm:pt>
    <dgm:pt modelId="{E92C8C3D-CE9F-430D-BF67-51A2AEE4CB43}" type="pres">
      <dgm:prSet presAssocID="{A0ADCFA2-6973-43B0-9E6C-287CE26A2A29}" presName="parentLeftMargin" presStyleLbl="node1" presStyleIdx="0" presStyleCnt="4"/>
      <dgm:spPr/>
    </dgm:pt>
    <dgm:pt modelId="{4A0FD316-5B90-4C12-96D7-CF29D5A118F5}" type="pres">
      <dgm:prSet presAssocID="{A0ADCFA2-6973-43B0-9E6C-287CE26A2A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BBD584-9C0A-46E8-AA3D-B5BC594171FD}" type="pres">
      <dgm:prSet presAssocID="{A0ADCFA2-6973-43B0-9E6C-287CE26A2A29}" presName="negativeSpace" presStyleCnt="0"/>
      <dgm:spPr/>
    </dgm:pt>
    <dgm:pt modelId="{630717DF-73A3-4456-95DB-37F89D584992}" type="pres">
      <dgm:prSet presAssocID="{A0ADCFA2-6973-43B0-9E6C-287CE26A2A29}" presName="childText" presStyleLbl="conFgAcc1" presStyleIdx="1" presStyleCnt="4">
        <dgm:presLayoutVars>
          <dgm:bulletEnabled val="1"/>
        </dgm:presLayoutVars>
      </dgm:prSet>
      <dgm:spPr/>
    </dgm:pt>
    <dgm:pt modelId="{8E948E54-2B78-48EE-86FE-6919A140E87A}" type="pres">
      <dgm:prSet presAssocID="{BE043F0F-CE53-4817-BABD-54A1DBF0D379}" presName="spaceBetweenRectangles" presStyleCnt="0"/>
      <dgm:spPr/>
    </dgm:pt>
    <dgm:pt modelId="{4797045A-69FF-4045-A5C4-49B0D4F4C22D}" type="pres">
      <dgm:prSet presAssocID="{AC1CF65C-1E5E-47AA-AFD7-0D493C55F53B}" presName="parentLin" presStyleCnt="0"/>
      <dgm:spPr/>
    </dgm:pt>
    <dgm:pt modelId="{8890316B-DE59-4617-84BB-33AA617EFD85}" type="pres">
      <dgm:prSet presAssocID="{AC1CF65C-1E5E-47AA-AFD7-0D493C55F53B}" presName="parentLeftMargin" presStyleLbl="node1" presStyleIdx="1" presStyleCnt="4"/>
      <dgm:spPr/>
    </dgm:pt>
    <dgm:pt modelId="{E351072D-AEA2-4FD9-9F25-CE61ACEDE255}" type="pres">
      <dgm:prSet presAssocID="{AC1CF65C-1E5E-47AA-AFD7-0D493C55F5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4B18E07-E69D-405D-BD5C-E0D509E3D3D7}" type="pres">
      <dgm:prSet presAssocID="{AC1CF65C-1E5E-47AA-AFD7-0D493C55F53B}" presName="negativeSpace" presStyleCnt="0"/>
      <dgm:spPr/>
    </dgm:pt>
    <dgm:pt modelId="{65BABDF5-BA16-4DF7-A6FD-FFE88EFAEF73}" type="pres">
      <dgm:prSet presAssocID="{AC1CF65C-1E5E-47AA-AFD7-0D493C55F53B}" presName="childText" presStyleLbl="conFgAcc1" presStyleIdx="2" presStyleCnt="4">
        <dgm:presLayoutVars>
          <dgm:bulletEnabled val="1"/>
        </dgm:presLayoutVars>
      </dgm:prSet>
      <dgm:spPr/>
    </dgm:pt>
    <dgm:pt modelId="{12F2D645-1B1F-4AF5-89EA-232A6931EDA5}" type="pres">
      <dgm:prSet presAssocID="{639A6B98-4123-40B2-B21E-C3A26996FE5B}" presName="spaceBetweenRectangles" presStyleCnt="0"/>
      <dgm:spPr/>
    </dgm:pt>
    <dgm:pt modelId="{49078950-B662-4CA8-9358-E0010F7302F1}" type="pres">
      <dgm:prSet presAssocID="{1BDB982D-3738-4492-ABE2-04FFD411FCBE}" presName="parentLin" presStyleCnt="0"/>
      <dgm:spPr/>
    </dgm:pt>
    <dgm:pt modelId="{6F8C675C-5073-46D2-AA24-71CDC739E1A7}" type="pres">
      <dgm:prSet presAssocID="{1BDB982D-3738-4492-ABE2-04FFD411FCBE}" presName="parentLeftMargin" presStyleLbl="node1" presStyleIdx="2" presStyleCnt="4"/>
      <dgm:spPr/>
    </dgm:pt>
    <dgm:pt modelId="{F2780AC6-4924-4E9D-B013-DA98818CA77C}" type="pres">
      <dgm:prSet presAssocID="{1BDB982D-3738-4492-ABE2-04FFD411FCB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ECE2525-AABA-4905-AD73-88F8E33C4A75}" type="pres">
      <dgm:prSet presAssocID="{1BDB982D-3738-4492-ABE2-04FFD411FCBE}" presName="negativeSpace" presStyleCnt="0"/>
      <dgm:spPr/>
    </dgm:pt>
    <dgm:pt modelId="{AB3907C3-A011-43F6-A22E-8E7853CEDAE2}" type="pres">
      <dgm:prSet presAssocID="{1BDB982D-3738-4492-ABE2-04FFD411FCB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7FDDC05-7014-4B53-9151-1D2D07E4D159}" srcId="{AA11A835-FED2-4DD8-AB14-53FCF77812AF}" destId="{A0ADCFA2-6973-43B0-9E6C-287CE26A2A29}" srcOrd="1" destOrd="0" parTransId="{1889DED9-BB6B-43F7-B093-6CF0D7192D73}" sibTransId="{BE043F0F-CE53-4817-BABD-54A1DBF0D379}"/>
    <dgm:cxn modelId="{8F29352F-1C33-4A98-8AD1-224B9A66F692}" type="presOf" srcId="{AC1CF65C-1E5E-47AA-AFD7-0D493C55F53B}" destId="{E351072D-AEA2-4FD9-9F25-CE61ACEDE255}" srcOrd="1" destOrd="0" presId="urn:microsoft.com/office/officeart/2005/8/layout/list1"/>
    <dgm:cxn modelId="{01724239-089D-467D-8642-88468B0706E8}" srcId="{AA11A835-FED2-4DD8-AB14-53FCF77812AF}" destId="{A52EA62F-49F6-4820-B5BA-AE332D3E3895}" srcOrd="0" destOrd="0" parTransId="{540E4B86-5567-4FE1-9853-BB4C54D99FBF}" sibTransId="{C178C553-FA98-4439-8261-36F6E7FE76C9}"/>
    <dgm:cxn modelId="{C4B7543E-CA06-4BC2-B1E1-00DC51E06561}" type="presOf" srcId="{AA11A835-FED2-4DD8-AB14-53FCF77812AF}" destId="{5F7A5131-92CD-4BCE-A412-965DDE221D71}" srcOrd="0" destOrd="0" presId="urn:microsoft.com/office/officeart/2005/8/layout/list1"/>
    <dgm:cxn modelId="{8E42645C-6AB3-4287-A7FE-D8D361A47551}" type="presOf" srcId="{1BDB982D-3738-4492-ABE2-04FFD411FCBE}" destId="{F2780AC6-4924-4E9D-B013-DA98818CA77C}" srcOrd="1" destOrd="0" presId="urn:microsoft.com/office/officeart/2005/8/layout/list1"/>
    <dgm:cxn modelId="{D8CD3B4F-CE09-41E9-997B-085E575CDAA0}" type="presOf" srcId="{A0ADCFA2-6973-43B0-9E6C-287CE26A2A29}" destId="{E92C8C3D-CE9F-430D-BF67-51A2AEE4CB43}" srcOrd="0" destOrd="0" presId="urn:microsoft.com/office/officeart/2005/8/layout/list1"/>
    <dgm:cxn modelId="{F27FF185-53BF-4279-BB80-31D4C392D746}" type="presOf" srcId="{A52EA62F-49F6-4820-B5BA-AE332D3E3895}" destId="{04082869-3593-4B11-AE91-209CE09CCFB2}" srcOrd="0" destOrd="0" presId="urn:microsoft.com/office/officeart/2005/8/layout/list1"/>
    <dgm:cxn modelId="{BB61088C-2036-4710-8E72-45E7342007C7}" type="presOf" srcId="{A0ADCFA2-6973-43B0-9E6C-287CE26A2A29}" destId="{4A0FD316-5B90-4C12-96D7-CF29D5A118F5}" srcOrd="1" destOrd="0" presId="urn:microsoft.com/office/officeart/2005/8/layout/list1"/>
    <dgm:cxn modelId="{99B33A9E-B370-43C9-856B-E4C54F8B3B02}" type="presOf" srcId="{AC1CF65C-1E5E-47AA-AFD7-0D493C55F53B}" destId="{8890316B-DE59-4617-84BB-33AA617EFD85}" srcOrd="0" destOrd="0" presId="urn:microsoft.com/office/officeart/2005/8/layout/list1"/>
    <dgm:cxn modelId="{B56B45B7-6776-41A0-A159-A9988F8D68E4}" srcId="{AA11A835-FED2-4DD8-AB14-53FCF77812AF}" destId="{1BDB982D-3738-4492-ABE2-04FFD411FCBE}" srcOrd="3" destOrd="0" parTransId="{B97EE65A-6D88-43E0-808F-C806C1CD3EC7}" sibTransId="{5A733768-9A01-4FC6-8112-4CD1AF92C766}"/>
    <dgm:cxn modelId="{294CE5B9-D2EF-4CAB-9E82-893E8A35ACD0}" type="presOf" srcId="{1BDB982D-3738-4492-ABE2-04FFD411FCBE}" destId="{6F8C675C-5073-46D2-AA24-71CDC739E1A7}" srcOrd="0" destOrd="0" presId="urn:microsoft.com/office/officeart/2005/8/layout/list1"/>
    <dgm:cxn modelId="{6BF62BDD-F9A6-4BDC-81E7-BF0AAE61CB73}" type="presOf" srcId="{A52EA62F-49F6-4820-B5BA-AE332D3E3895}" destId="{EFFB935A-106D-44DD-AB05-272381819BC5}" srcOrd="1" destOrd="0" presId="urn:microsoft.com/office/officeart/2005/8/layout/list1"/>
    <dgm:cxn modelId="{F59D4FED-B9B0-4F3C-B98F-6A1F2B978545}" srcId="{AA11A835-FED2-4DD8-AB14-53FCF77812AF}" destId="{AC1CF65C-1E5E-47AA-AFD7-0D493C55F53B}" srcOrd="2" destOrd="0" parTransId="{9ABDCDB9-393A-4A55-B4A8-1FDA2B180809}" sibTransId="{639A6B98-4123-40B2-B21E-C3A26996FE5B}"/>
    <dgm:cxn modelId="{85C1781B-6FA8-43BF-BF9E-C8C69F6E03AE}" type="presParOf" srcId="{5F7A5131-92CD-4BCE-A412-965DDE221D71}" destId="{F9D8BC0B-77F0-49AB-8943-73BC9C0533D9}" srcOrd="0" destOrd="0" presId="urn:microsoft.com/office/officeart/2005/8/layout/list1"/>
    <dgm:cxn modelId="{63BE712C-6085-431C-B9FD-1389799D5A7F}" type="presParOf" srcId="{F9D8BC0B-77F0-49AB-8943-73BC9C0533D9}" destId="{04082869-3593-4B11-AE91-209CE09CCFB2}" srcOrd="0" destOrd="0" presId="urn:microsoft.com/office/officeart/2005/8/layout/list1"/>
    <dgm:cxn modelId="{8FC8AF6D-D214-4B36-B846-6270D0C0DF21}" type="presParOf" srcId="{F9D8BC0B-77F0-49AB-8943-73BC9C0533D9}" destId="{EFFB935A-106D-44DD-AB05-272381819BC5}" srcOrd="1" destOrd="0" presId="urn:microsoft.com/office/officeart/2005/8/layout/list1"/>
    <dgm:cxn modelId="{ED81D55A-DF45-4F96-B9B2-385E87E1917F}" type="presParOf" srcId="{5F7A5131-92CD-4BCE-A412-965DDE221D71}" destId="{78101532-C75F-42A4-9AA9-D438B73AFEA8}" srcOrd="1" destOrd="0" presId="urn:microsoft.com/office/officeart/2005/8/layout/list1"/>
    <dgm:cxn modelId="{3EF8693C-D6B8-40B1-84AD-B1258F801866}" type="presParOf" srcId="{5F7A5131-92CD-4BCE-A412-965DDE221D71}" destId="{4B1F66C6-E04D-4A7E-929F-32AE022F4E0D}" srcOrd="2" destOrd="0" presId="urn:microsoft.com/office/officeart/2005/8/layout/list1"/>
    <dgm:cxn modelId="{041A26BE-E401-413C-83FE-DBEA2679C22B}" type="presParOf" srcId="{5F7A5131-92CD-4BCE-A412-965DDE221D71}" destId="{845CB726-2873-4529-9F5B-2726E1C52C6F}" srcOrd="3" destOrd="0" presId="urn:microsoft.com/office/officeart/2005/8/layout/list1"/>
    <dgm:cxn modelId="{7385ACD1-2E78-4489-AC83-11BF8E6EA403}" type="presParOf" srcId="{5F7A5131-92CD-4BCE-A412-965DDE221D71}" destId="{E453786C-B5B3-4432-B1A8-33D530371996}" srcOrd="4" destOrd="0" presId="urn:microsoft.com/office/officeart/2005/8/layout/list1"/>
    <dgm:cxn modelId="{FF088409-7AC5-4E8D-9E34-C3A2C9C9C6FE}" type="presParOf" srcId="{E453786C-B5B3-4432-B1A8-33D530371996}" destId="{E92C8C3D-CE9F-430D-BF67-51A2AEE4CB43}" srcOrd="0" destOrd="0" presId="urn:microsoft.com/office/officeart/2005/8/layout/list1"/>
    <dgm:cxn modelId="{02E724A4-1ED5-470B-BCEE-8C010CDAA249}" type="presParOf" srcId="{E453786C-B5B3-4432-B1A8-33D530371996}" destId="{4A0FD316-5B90-4C12-96D7-CF29D5A118F5}" srcOrd="1" destOrd="0" presId="urn:microsoft.com/office/officeart/2005/8/layout/list1"/>
    <dgm:cxn modelId="{490E82E8-E023-4CD9-A2E4-44D124D33EA7}" type="presParOf" srcId="{5F7A5131-92CD-4BCE-A412-965DDE221D71}" destId="{F3BBD584-9C0A-46E8-AA3D-B5BC594171FD}" srcOrd="5" destOrd="0" presId="urn:microsoft.com/office/officeart/2005/8/layout/list1"/>
    <dgm:cxn modelId="{051E3552-1692-413D-B66A-77CE195C65EE}" type="presParOf" srcId="{5F7A5131-92CD-4BCE-A412-965DDE221D71}" destId="{630717DF-73A3-4456-95DB-37F89D584992}" srcOrd="6" destOrd="0" presId="urn:microsoft.com/office/officeart/2005/8/layout/list1"/>
    <dgm:cxn modelId="{95DA9C14-BD08-40A0-A3B5-B0FE8765907D}" type="presParOf" srcId="{5F7A5131-92CD-4BCE-A412-965DDE221D71}" destId="{8E948E54-2B78-48EE-86FE-6919A140E87A}" srcOrd="7" destOrd="0" presId="urn:microsoft.com/office/officeart/2005/8/layout/list1"/>
    <dgm:cxn modelId="{F8C3C553-CE71-459F-9FD1-D53C4129C6F3}" type="presParOf" srcId="{5F7A5131-92CD-4BCE-A412-965DDE221D71}" destId="{4797045A-69FF-4045-A5C4-49B0D4F4C22D}" srcOrd="8" destOrd="0" presId="urn:microsoft.com/office/officeart/2005/8/layout/list1"/>
    <dgm:cxn modelId="{6BA24C38-AB7D-4C15-93E9-8F00065B4E67}" type="presParOf" srcId="{4797045A-69FF-4045-A5C4-49B0D4F4C22D}" destId="{8890316B-DE59-4617-84BB-33AA617EFD85}" srcOrd="0" destOrd="0" presId="urn:microsoft.com/office/officeart/2005/8/layout/list1"/>
    <dgm:cxn modelId="{70954424-DD4B-4D98-9935-755B642CA8C4}" type="presParOf" srcId="{4797045A-69FF-4045-A5C4-49B0D4F4C22D}" destId="{E351072D-AEA2-4FD9-9F25-CE61ACEDE255}" srcOrd="1" destOrd="0" presId="urn:microsoft.com/office/officeart/2005/8/layout/list1"/>
    <dgm:cxn modelId="{C172F9E2-EE78-485E-A37E-F4C6394B413E}" type="presParOf" srcId="{5F7A5131-92CD-4BCE-A412-965DDE221D71}" destId="{D4B18E07-E69D-405D-BD5C-E0D509E3D3D7}" srcOrd="9" destOrd="0" presId="urn:microsoft.com/office/officeart/2005/8/layout/list1"/>
    <dgm:cxn modelId="{CDB1AE34-D84F-499A-AF3F-4E9DCECFF9E3}" type="presParOf" srcId="{5F7A5131-92CD-4BCE-A412-965DDE221D71}" destId="{65BABDF5-BA16-4DF7-A6FD-FFE88EFAEF73}" srcOrd="10" destOrd="0" presId="urn:microsoft.com/office/officeart/2005/8/layout/list1"/>
    <dgm:cxn modelId="{6065EBB6-88B9-4D84-B6F4-7D776485CD47}" type="presParOf" srcId="{5F7A5131-92CD-4BCE-A412-965DDE221D71}" destId="{12F2D645-1B1F-4AF5-89EA-232A6931EDA5}" srcOrd="11" destOrd="0" presId="urn:microsoft.com/office/officeart/2005/8/layout/list1"/>
    <dgm:cxn modelId="{AAD25246-61A4-40C2-8EB4-5FDCDC2F04FF}" type="presParOf" srcId="{5F7A5131-92CD-4BCE-A412-965DDE221D71}" destId="{49078950-B662-4CA8-9358-E0010F7302F1}" srcOrd="12" destOrd="0" presId="urn:microsoft.com/office/officeart/2005/8/layout/list1"/>
    <dgm:cxn modelId="{B9A60620-EF2F-466C-9EB6-64E77945947E}" type="presParOf" srcId="{49078950-B662-4CA8-9358-E0010F7302F1}" destId="{6F8C675C-5073-46D2-AA24-71CDC739E1A7}" srcOrd="0" destOrd="0" presId="urn:microsoft.com/office/officeart/2005/8/layout/list1"/>
    <dgm:cxn modelId="{7431C0A1-345B-425F-A45D-5A7D6C06DAA9}" type="presParOf" srcId="{49078950-B662-4CA8-9358-E0010F7302F1}" destId="{F2780AC6-4924-4E9D-B013-DA98818CA77C}" srcOrd="1" destOrd="0" presId="urn:microsoft.com/office/officeart/2005/8/layout/list1"/>
    <dgm:cxn modelId="{770F5C1F-7C31-438E-85D3-FFDE7E95CD6B}" type="presParOf" srcId="{5F7A5131-92CD-4BCE-A412-965DDE221D71}" destId="{8ECE2525-AABA-4905-AD73-88F8E33C4A75}" srcOrd="13" destOrd="0" presId="urn:microsoft.com/office/officeart/2005/8/layout/list1"/>
    <dgm:cxn modelId="{89906E6D-A364-4F4A-9CFA-A6FA8A3080EA}" type="presParOf" srcId="{5F7A5131-92CD-4BCE-A412-965DDE221D71}" destId="{AB3907C3-A011-43F6-A22E-8E7853CEDAE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C1CF65C-1E5E-47AA-AFD7-0D493C55F53B}">
      <dgm:prSet phldrT="[Text]" phldr="0"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 i="0">
              <a:latin typeface="Aptos"/>
              <a:ea typeface="+mn-ea"/>
              <a:cs typeface="+mn-cs"/>
            </a:rPr>
            <a:t>Task 1: API Gravity, Goal:</a:t>
          </a:r>
          <a:r>
            <a:rPr lang="en-US" sz="1400" b="0" i="0">
              <a:latin typeface="Aptos"/>
              <a:ea typeface="+mn-ea"/>
              <a:cs typeface="+mn-cs"/>
            </a:rPr>
            <a:t> Estimate crude lightness and product yield.</a:t>
          </a:r>
          <a:endParaRPr lang="en-US" sz="1400" b="1" i="0">
            <a:latin typeface="Aptos"/>
            <a:ea typeface="+mn-ea"/>
            <a:cs typeface="+mn-cs"/>
          </a:endParaRPr>
        </a:p>
      </dgm:t>
    </dgm:pt>
    <dgm:pt modelId="{9ABDCDB9-393A-4A55-B4A8-1FDA2B180809}" type="parTrans" cxnId="{F59D4FED-B9B0-4F3C-B98F-6A1F2B978545}">
      <dgm:prSet/>
      <dgm:spPr/>
      <dgm:t>
        <a:bodyPr/>
        <a:lstStyle/>
        <a:p>
          <a:endParaRPr lang="en-US"/>
        </a:p>
      </dgm:t>
    </dgm:pt>
    <dgm:pt modelId="{639A6B98-4123-40B2-B21E-C3A26996FE5B}" type="sibTrans" cxnId="{F59D4FED-B9B0-4F3C-B98F-6A1F2B978545}">
      <dgm:prSet/>
      <dgm:spPr/>
      <dgm:t>
        <a:bodyPr/>
        <a:lstStyle/>
        <a:p>
          <a:endParaRPr lang="en-US"/>
        </a:p>
      </dgm:t>
    </dgm:pt>
    <dgm:pt modelId="{A52EA62F-49F6-4820-B5BA-AE332D3E3895}">
      <dgm:prSet phldr="0"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400" b="0" i="0">
              <a:latin typeface="Aptos"/>
              <a:ea typeface="+mn-ea"/>
              <a:cs typeface="+mn-cs"/>
            </a:rPr>
            <a:t>Predicted continuous physicochemical values for precise refinery planning.</a:t>
          </a:r>
          <a:endParaRPr lang="en-US">
            <a:latin typeface="Aptos"/>
            <a:ea typeface="+mn-ea"/>
            <a:cs typeface="+mn-cs"/>
          </a:endParaRPr>
        </a:p>
      </dgm:t>
    </dgm:pt>
    <dgm:pt modelId="{540E4B86-5567-4FE1-9853-BB4C54D99FBF}" type="parTrans" cxnId="{01724239-089D-467D-8642-88468B0706E8}">
      <dgm:prSet/>
      <dgm:spPr/>
    </dgm:pt>
    <dgm:pt modelId="{C178C553-FA98-4439-8261-36F6E7FE76C9}" type="sibTrans" cxnId="{01724239-089D-467D-8642-88468B0706E8}">
      <dgm:prSet/>
      <dgm:spPr/>
      <dgm:t>
        <a:bodyPr/>
        <a:lstStyle/>
        <a:p>
          <a:endParaRPr lang="en-US"/>
        </a:p>
      </dgm:t>
    </dgm:pt>
    <dgm:pt modelId="{A0ADCFA2-6973-43B0-9E6C-287CE26A2A29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400" b="0" i="0">
              <a:latin typeface="Aptos"/>
              <a:ea typeface="+mn-ea"/>
              <a:cs typeface="+mn-cs"/>
            </a:rPr>
            <a:t>Evaluated </a:t>
          </a:r>
          <a:r>
            <a:rPr lang="en-US" sz="1400" b="1" i="0">
              <a:latin typeface="Aptos"/>
              <a:ea typeface="+mn-ea"/>
              <a:cs typeface="+mn-cs"/>
            </a:rPr>
            <a:t>Linear Models</a:t>
          </a:r>
          <a:r>
            <a:rPr lang="en-US" sz="1400" b="0" i="0">
              <a:latin typeface="Aptos"/>
              <a:ea typeface="+mn-ea"/>
              <a:cs typeface="+mn-cs"/>
            </a:rPr>
            <a:t> (Simple, Ridge, LASSO) vs. </a:t>
          </a:r>
          <a:r>
            <a:rPr lang="en-US" sz="1400" b="1" i="0">
              <a:latin typeface="Aptos"/>
              <a:ea typeface="+mn-ea"/>
              <a:cs typeface="+mn-cs"/>
            </a:rPr>
            <a:t>SVR</a:t>
          </a:r>
          <a:r>
            <a:rPr lang="en-US" sz="1400" b="0" i="0">
              <a:latin typeface="Aptos"/>
              <a:ea typeface="+mn-ea"/>
              <a:cs typeface="+mn-cs"/>
            </a:rPr>
            <a:t> (Linear &amp; Non-Linear).</a:t>
          </a:r>
          <a:endParaRPr lang="en-US" sz="1400">
            <a:latin typeface="Aptos"/>
            <a:ea typeface="+mn-ea"/>
            <a:cs typeface="+mn-cs"/>
          </a:endParaRPr>
        </a:p>
      </dgm:t>
    </dgm:pt>
    <dgm:pt modelId="{1889DED9-BB6B-43F7-B093-6CF0D7192D73}" type="parTrans" cxnId="{27FDDC05-7014-4B53-9151-1D2D07E4D159}">
      <dgm:prSet/>
      <dgm:spPr/>
    </dgm:pt>
    <dgm:pt modelId="{BE043F0F-CE53-4817-BABD-54A1DBF0D379}" type="sibTrans" cxnId="{27FDDC05-7014-4B53-9151-1D2D07E4D159}">
      <dgm:prSet/>
      <dgm:spPr/>
      <dgm:t>
        <a:bodyPr/>
        <a:lstStyle/>
        <a:p>
          <a:endParaRPr lang="en-US"/>
        </a:p>
      </dgm:t>
    </dgm:pt>
    <dgm:pt modelId="{1BDB982D-3738-4492-ABE2-04FFD411FCBE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 i="0">
              <a:latin typeface="Aptos"/>
              <a:ea typeface="+mn-ea"/>
              <a:cs typeface="+mn-cs"/>
            </a:rPr>
            <a:t>Task 2: Total Sulfur, Goal:</a:t>
          </a:r>
          <a:r>
            <a:rPr lang="en-US" sz="1400" b="0" i="0">
              <a:latin typeface="Aptos"/>
              <a:ea typeface="+mn-ea"/>
              <a:cs typeface="+mn-cs"/>
            </a:rPr>
            <a:t> Estimate exact impurity percentage.</a:t>
          </a:r>
          <a:endParaRPr lang="en-US" sz="1400" b="1" i="0">
            <a:latin typeface="Aptos"/>
            <a:ea typeface="+mn-ea"/>
            <a:cs typeface="+mn-cs"/>
          </a:endParaRPr>
        </a:p>
      </dgm:t>
    </dgm:pt>
    <dgm:pt modelId="{B97EE65A-6D88-43E0-808F-C806C1CD3EC7}" type="parTrans" cxnId="{B56B45B7-6776-41A0-A159-A9988F8D68E4}">
      <dgm:prSet/>
      <dgm:spPr/>
    </dgm:pt>
    <dgm:pt modelId="{5A733768-9A01-4FC6-8112-4CD1AF92C766}" type="sibTrans" cxnId="{B56B45B7-6776-41A0-A159-A9988F8D68E4}">
      <dgm:prSet/>
      <dgm:spPr/>
    </dgm:pt>
    <dgm:pt modelId="{956045EC-AB7A-4C10-AA4A-48AC5D7230A5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 i="0">
              <a:latin typeface="Aptos"/>
              <a:ea typeface="Calibri"/>
              <a:cs typeface="Calibri"/>
            </a:rPr>
            <a:t>Validation: 80/20</a:t>
          </a:r>
          <a:r>
            <a:rPr lang="en-US" sz="1400" b="0" i="0">
              <a:latin typeface="Aptos"/>
              <a:ea typeface="Calibri"/>
              <a:cs typeface="Calibri"/>
            </a:rPr>
            <a:t> Train-Test split with Stratified Sampling.</a:t>
          </a:r>
        </a:p>
      </dgm:t>
    </dgm:pt>
    <dgm:pt modelId="{8380F4ED-B604-4731-8FEA-8D105A2A9DD2}" type="parTrans" cxnId="{C2FD0185-B0FC-4A04-8D86-4BB924180974}">
      <dgm:prSet/>
      <dgm:spPr/>
    </dgm:pt>
    <dgm:pt modelId="{2A84AA42-DB18-456F-B5D6-351B7E7AB51C}" type="sibTrans" cxnId="{C2FD0185-B0FC-4A04-8D86-4BB924180974}">
      <dgm:prSet/>
      <dgm:spPr/>
    </dgm:pt>
    <dgm:pt modelId="{98F60024-28A8-4CD8-88C5-5FB5B59F3151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400" b="1" i="0">
              <a:latin typeface="Aptos"/>
              <a:ea typeface="+mn-ea"/>
              <a:cs typeface="+mn-cs"/>
            </a:rPr>
            <a:t>Key Metric:</a:t>
          </a:r>
          <a:r>
            <a:rPr lang="en-US" sz="1400" b="0" i="0">
              <a:latin typeface="Aptos"/>
              <a:ea typeface="+mn-ea"/>
              <a:cs typeface="+mn-cs"/>
            </a:rPr>
            <a:t> R</a:t>
          </a:r>
          <a:r>
            <a:rPr lang="en-US" sz="1400" b="0" i="0" baseline="30000">
              <a:latin typeface="Aptos"/>
              <a:ea typeface="+mn-ea"/>
              <a:cs typeface="+mn-cs"/>
            </a:rPr>
            <a:t>2</a:t>
          </a:r>
          <a:r>
            <a:rPr lang="en-US" sz="1400" b="0" i="0">
              <a:latin typeface="Aptos"/>
              <a:ea typeface="+mn-ea"/>
              <a:cs typeface="+mn-cs"/>
            </a:rPr>
            <a:t> Score and RMSE (Root Mean Square Error)</a:t>
          </a:r>
        </a:p>
      </dgm:t>
    </dgm:pt>
    <dgm:pt modelId="{C4DF6992-DDB3-4083-A086-4426B8952096}" type="parTrans" cxnId="{A836A097-6298-47C5-83EA-51A4B488FFFA}">
      <dgm:prSet/>
      <dgm:spPr/>
    </dgm:pt>
    <dgm:pt modelId="{7C62BCBF-8C49-4C07-BE2C-30194C848B8F}" type="sibTrans" cxnId="{A836A097-6298-47C5-83EA-51A4B488FFFA}">
      <dgm:prSet/>
      <dgm:spPr/>
    </dgm:pt>
    <dgm:pt modelId="{5F7A5131-92CD-4BCE-A412-965DDE221D71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F9D8BC0B-77F0-49AB-8943-73BC9C0533D9}" type="pres">
      <dgm:prSet presAssocID="{A52EA62F-49F6-4820-B5BA-AE332D3E3895}" presName="parentLin" presStyleCnt="0"/>
      <dgm:spPr/>
    </dgm:pt>
    <dgm:pt modelId="{04082869-3593-4B11-AE91-209CE09CCFB2}" type="pres">
      <dgm:prSet presAssocID="{A52EA62F-49F6-4820-B5BA-AE332D3E3895}" presName="parentLeftMargin" presStyleLbl="node1" presStyleIdx="0" presStyleCnt="6"/>
      <dgm:spPr/>
    </dgm:pt>
    <dgm:pt modelId="{EFFB935A-106D-44DD-AB05-272381819BC5}" type="pres">
      <dgm:prSet presAssocID="{A52EA62F-49F6-4820-B5BA-AE332D3E389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8101532-C75F-42A4-9AA9-D438B73AFEA8}" type="pres">
      <dgm:prSet presAssocID="{A52EA62F-49F6-4820-B5BA-AE332D3E3895}" presName="negativeSpace" presStyleCnt="0"/>
      <dgm:spPr/>
    </dgm:pt>
    <dgm:pt modelId="{4B1F66C6-E04D-4A7E-929F-32AE022F4E0D}" type="pres">
      <dgm:prSet presAssocID="{A52EA62F-49F6-4820-B5BA-AE332D3E3895}" presName="childText" presStyleLbl="conFgAcc1" presStyleIdx="0" presStyleCnt="6">
        <dgm:presLayoutVars>
          <dgm:bulletEnabled val="1"/>
        </dgm:presLayoutVars>
      </dgm:prSet>
      <dgm:spPr/>
    </dgm:pt>
    <dgm:pt modelId="{845CB726-2873-4529-9F5B-2726E1C52C6F}" type="pres">
      <dgm:prSet presAssocID="{C178C553-FA98-4439-8261-36F6E7FE76C9}" presName="spaceBetweenRectangles" presStyleCnt="0"/>
      <dgm:spPr/>
    </dgm:pt>
    <dgm:pt modelId="{E453786C-B5B3-4432-B1A8-33D530371996}" type="pres">
      <dgm:prSet presAssocID="{A0ADCFA2-6973-43B0-9E6C-287CE26A2A29}" presName="parentLin" presStyleCnt="0"/>
      <dgm:spPr/>
    </dgm:pt>
    <dgm:pt modelId="{E92C8C3D-CE9F-430D-BF67-51A2AEE4CB43}" type="pres">
      <dgm:prSet presAssocID="{A0ADCFA2-6973-43B0-9E6C-287CE26A2A29}" presName="parentLeftMargin" presStyleLbl="node1" presStyleIdx="0" presStyleCnt="6"/>
      <dgm:spPr/>
    </dgm:pt>
    <dgm:pt modelId="{4A0FD316-5B90-4C12-96D7-CF29D5A118F5}" type="pres">
      <dgm:prSet presAssocID="{A0ADCFA2-6973-43B0-9E6C-287CE26A2A2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3BBD584-9C0A-46E8-AA3D-B5BC594171FD}" type="pres">
      <dgm:prSet presAssocID="{A0ADCFA2-6973-43B0-9E6C-287CE26A2A29}" presName="negativeSpace" presStyleCnt="0"/>
      <dgm:spPr/>
    </dgm:pt>
    <dgm:pt modelId="{630717DF-73A3-4456-95DB-37F89D584992}" type="pres">
      <dgm:prSet presAssocID="{A0ADCFA2-6973-43B0-9E6C-287CE26A2A29}" presName="childText" presStyleLbl="conFgAcc1" presStyleIdx="1" presStyleCnt="6">
        <dgm:presLayoutVars>
          <dgm:bulletEnabled val="1"/>
        </dgm:presLayoutVars>
      </dgm:prSet>
      <dgm:spPr/>
    </dgm:pt>
    <dgm:pt modelId="{8E948E54-2B78-48EE-86FE-6919A140E87A}" type="pres">
      <dgm:prSet presAssocID="{BE043F0F-CE53-4817-BABD-54A1DBF0D379}" presName="spaceBetweenRectangles" presStyleCnt="0"/>
      <dgm:spPr/>
    </dgm:pt>
    <dgm:pt modelId="{C65B8A2D-FE72-4EFF-932A-B4AE5B4B7BC9}" type="pres">
      <dgm:prSet presAssocID="{956045EC-AB7A-4C10-AA4A-48AC5D7230A5}" presName="parentLin" presStyleCnt="0"/>
      <dgm:spPr/>
    </dgm:pt>
    <dgm:pt modelId="{9B3DC40A-C16E-47F1-AF0D-D67914C2D07B}" type="pres">
      <dgm:prSet presAssocID="{956045EC-AB7A-4C10-AA4A-48AC5D7230A5}" presName="parentLeftMargin" presStyleLbl="node1" presStyleIdx="1" presStyleCnt="6"/>
      <dgm:spPr/>
    </dgm:pt>
    <dgm:pt modelId="{4DABF0D7-FF6D-49DF-BD18-9746B234D807}" type="pres">
      <dgm:prSet presAssocID="{956045EC-AB7A-4C10-AA4A-48AC5D7230A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64B3A71-131C-4E0D-8EE7-B7A6D22128C1}" type="pres">
      <dgm:prSet presAssocID="{956045EC-AB7A-4C10-AA4A-48AC5D7230A5}" presName="negativeSpace" presStyleCnt="0"/>
      <dgm:spPr/>
    </dgm:pt>
    <dgm:pt modelId="{1C9E66C8-BB65-49F7-B4F8-5DCEEE89BD4A}" type="pres">
      <dgm:prSet presAssocID="{956045EC-AB7A-4C10-AA4A-48AC5D7230A5}" presName="childText" presStyleLbl="conFgAcc1" presStyleIdx="2" presStyleCnt="6">
        <dgm:presLayoutVars>
          <dgm:bulletEnabled val="1"/>
        </dgm:presLayoutVars>
      </dgm:prSet>
      <dgm:spPr/>
    </dgm:pt>
    <dgm:pt modelId="{F66A9B87-CB0B-47E2-B1C1-0E339865DAA0}" type="pres">
      <dgm:prSet presAssocID="{2A84AA42-DB18-456F-B5D6-351B7E7AB51C}" presName="spaceBetweenRectangles" presStyleCnt="0"/>
      <dgm:spPr/>
    </dgm:pt>
    <dgm:pt modelId="{013D407D-4C6E-4D21-9479-4573BF9A6CD4}" type="pres">
      <dgm:prSet presAssocID="{98F60024-28A8-4CD8-88C5-5FB5B59F3151}" presName="parentLin" presStyleCnt="0"/>
      <dgm:spPr/>
    </dgm:pt>
    <dgm:pt modelId="{C106F5BE-698F-4DB9-BCA5-44A9DEB164FC}" type="pres">
      <dgm:prSet presAssocID="{98F60024-28A8-4CD8-88C5-5FB5B59F3151}" presName="parentLeftMargin" presStyleLbl="node1" presStyleIdx="2" presStyleCnt="6"/>
      <dgm:spPr/>
    </dgm:pt>
    <dgm:pt modelId="{633D10FC-7A6A-4825-8616-CD26519E16B2}" type="pres">
      <dgm:prSet presAssocID="{98F60024-28A8-4CD8-88C5-5FB5B59F315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10C2B38-6A73-4006-AC07-3216E70EB5BC}" type="pres">
      <dgm:prSet presAssocID="{98F60024-28A8-4CD8-88C5-5FB5B59F3151}" presName="negativeSpace" presStyleCnt="0"/>
      <dgm:spPr/>
    </dgm:pt>
    <dgm:pt modelId="{B10F7EA8-178D-465B-9A41-F3B7082274C5}" type="pres">
      <dgm:prSet presAssocID="{98F60024-28A8-4CD8-88C5-5FB5B59F3151}" presName="childText" presStyleLbl="conFgAcc1" presStyleIdx="3" presStyleCnt="6">
        <dgm:presLayoutVars>
          <dgm:bulletEnabled val="1"/>
        </dgm:presLayoutVars>
      </dgm:prSet>
      <dgm:spPr/>
    </dgm:pt>
    <dgm:pt modelId="{363ABB10-6781-4A5F-A05D-EB4CA87C1365}" type="pres">
      <dgm:prSet presAssocID="{7C62BCBF-8C49-4C07-BE2C-30194C848B8F}" presName="spaceBetweenRectangles" presStyleCnt="0"/>
      <dgm:spPr/>
    </dgm:pt>
    <dgm:pt modelId="{4797045A-69FF-4045-A5C4-49B0D4F4C22D}" type="pres">
      <dgm:prSet presAssocID="{AC1CF65C-1E5E-47AA-AFD7-0D493C55F53B}" presName="parentLin" presStyleCnt="0"/>
      <dgm:spPr/>
    </dgm:pt>
    <dgm:pt modelId="{8890316B-DE59-4617-84BB-33AA617EFD85}" type="pres">
      <dgm:prSet presAssocID="{AC1CF65C-1E5E-47AA-AFD7-0D493C55F53B}" presName="parentLeftMargin" presStyleLbl="node1" presStyleIdx="3" presStyleCnt="6"/>
      <dgm:spPr/>
    </dgm:pt>
    <dgm:pt modelId="{E351072D-AEA2-4FD9-9F25-CE61ACEDE255}" type="pres">
      <dgm:prSet presAssocID="{AC1CF65C-1E5E-47AA-AFD7-0D493C55F53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4B18E07-E69D-405D-BD5C-E0D509E3D3D7}" type="pres">
      <dgm:prSet presAssocID="{AC1CF65C-1E5E-47AA-AFD7-0D493C55F53B}" presName="negativeSpace" presStyleCnt="0"/>
      <dgm:spPr/>
    </dgm:pt>
    <dgm:pt modelId="{65BABDF5-BA16-4DF7-A6FD-FFE88EFAEF73}" type="pres">
      <dgm:prSet presAssocID="{AC1CF65C-1E5E-47AA-AFD7-0D493C55F53B}" presName="childText" presStyleLbl="conFgAcc1" presStyleIdx="4" presStyleCnt="6">
        <dgm:presLayoutVars>
          <dgm:bulletEnabled val="1"/>
        </dgm:presLayoutVars>
      </dgm:prSet>
      <dgm:spPr/>
    </dgm:pt>
    <dgm:pt modelId="{12F2D645-1B1F-4AF5-89EA-232A6931EDA5}" type="pres">
      <dgm:prSet presAssocID="{639A6B98-4123-40B2-B21E-C3A26996FE5B}" presName="spaceBetweenRectangles" presStyleCnt="0"/>
      <dgm:spPr/>
    </dgm:pt>
    <dgm:pt modelId="{49078950-B662-4CA8-9358-E0010F7302F1}" type="pres">
      <dgm:prSet presAssocID="{1BDB982D-3738-4492-ABE2-04FFD411FCBE}" presName="parentLin" presStyleCnt="0"/>
      <dgm:spPr/>
    </dgm:pt>
    <dgm:pt modelId="{6F8C675C-5073-46D2-AA24-71CDC739E1A7}" type="pres">
      <dgm:prSet presAssocID="{1BDB982D-3738-4492-ABE2-04FFD411FCBE}" presName="parentLeftMargin" presStyleLbl="node1" presStyleIdx="4" presStyleCnt="6"/>
      <dgm:spPr/>
    </dgm:pt>
    <dgm:pt modelId="{F2780AC6-4924-4E9D-B013-DA98818CA77C}" type="pres">
      <dgm:prSet presAssocID="{1BDB982D-3738-4492-ABE2-04FFD411FCBE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8ECE2525-AABA-4905-AD73-88F8E33C4A75}" type="pres">
      <dgm:prSet presAssocID="{1BDB982D-3738-4492-ABE2-04FFD411FCBE}" presName="negativeSpace" presStyleCnt="0"/>
      <dgm:spPr/>
    </dgm:pt>
    <dgm:pt modelId="{AB3907C3-A011-43F6-A22E-8E7853CEDAE2}" type="pres">
      <dgm:prSet presAssocID="{1BDB982D-3738-4492-ABE2-04FFD411FCBE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27FDDC05-7014-4B53-9151-1D2D07E4D159}" srcId="{AA11A835-FED2-4DD8-AB14-53FCF77812AF}" destId="{A0ADCFA2-6973-43B0-9E6C-287CE26A2A29}" srcOrd="1" destOrd="0" parTransId="{1889DED9-BB6B-43F7-B093-6CF0D7192D73}" sibTransId="{BE043F0F-CE53-4817-BABD-54A1DBF0D379}"/>
    <dgm:cxn modelId="{BDF5210B-7326-450A-B947-5DF29BF3BAEA}" type="presOf" srcId="{98F60024-28A8-4CD8-88C5-5FB5B59F3151}" destId="{C106F5BE-698F-4DB9-BCA5-44A9DEB164FC}" srcOrd="0" destOrd="0" presId="urn:microsoft.com/office/officeart/2005/8/layout/list1"/>
    <dgm:cxn modelId="{D15D5C0E-3976-4AFE-B72F-859390652EAE}" type="presOf" srcId="{956045EC-AB7A-4C10-AA4A-48AC5D7230A5}" destId="{9B3DC40A-C16E-47F1-AF0D-D67914C2D07B}" srcOrd="0" destOrd="0" presId="urn:microsoft.com/office/officeart/2005/8/layout/list1"/>
    <dgm:cxn modelId="{26952727-128A-43F6-B561-5EA886B03CE6}" type="presOf" srcId="{1BDB982D-3738-4492-ABE2-04FFD411FCBE}" destId="{F2780AC6-4924-4E9D-B013-DA98818CA77C}" srcOrd="1" destOrd="0" presId="urn:microsoft.com/office/officeart/2005/8/layout/list1"/>
    <dgm:cxn modelId="{01724239-089D-467D-8642-88468B0706E8}" srcId="{AA11A835-FED2-4DD8-AB14-53FCF77812AF}" destId="{A52EA62F-49F6-4820-B5BA-AE332D3E3895}" srcOrd="0" destOrd="0" parTransId="{540E4B86-5567-4FE1-9853-BB4C54D99FBF}" sibTransId="{C178C553-FA98-4439-8261-36F6E7FE76C9}"/>
    <dgm:cxn modelId="{EE878D3C-2D3B-499E-82AA-4BADF852AB5F}" type="presOf" srcId="{A0ADCFA2-6973-43B0-9E6C-287CE26A2A29}" destId="{E92C8C3D-CE9F-430D-BF67-51A2AEE4CB43}" srcOrd="0" destOrd="0" presId="urn:microsoft.com/office/officeart/2005/8/layout/list1"/>
    <dgm:cxn modelId="{C4B7543E-CA06-4BC2-B1E1-00DC51E06561}" type="presOf" srcId="{AA11A835-FED2-4DD8-AB14-53FCF77812AF}" destId="{5F7A5131-92CD-4BCE-A412-965DDE221D71}" srcOrd="0" destOrd="0" presId="urn:microsoft.com/office/officeart/2005/8/layout/list1"/>
    <dgm:cxn modelId="{194DEC60-E950-4127-97E9-14EF71769881}" type="presOf" srcId="{98F60024-28A8-4CD8-88C5-5FB5B59F3151}" destId="{633D10FC-7A6A-4825-8616-CD26519E16B2}" srcOrd="1" destOrd="0" presId="urn:microsoft.com/office/officeart/2005/8/layout/list1"/>
    <dgm:cxn modelId="{E207D443-F0D8-467F-96BC-67D9E0CF3025}" type="presOf" srcId="{AC1CF65C-1E5E-47AA-AFD7-0D493C55F53B}" destId="{8890316B-DE59-4617-84BB-33AA617EFD85}" srcOrd="0" destOrd="0" presId="urn:microsoft.com/office/officeart/2005/8/layout/list1"/>
    <dgm:cxn modelId="{AEE06C4A-3856-41D6-B685-2C1C857A54B5}" type="presOf" srcId="{AC1CF65C-1E5E-47AA-AFD7-0D493C55F53B}" destId="{E351072D-AEA2-4FD9-9F25-CE61ACEDE255}" srcOrd="1" destOrd="0" presId="urn:microsoft.com/office/officeart/2005/8/layout/list1"/>
    <dgm:cxn modelId="{5556084E-16D7-414F-A098-D62D10F482B9}" type="presOf" srcId="{A0ADCFA2-6973-43B0-9E6C-287CE26A2A29}" destId="{4A0FD316-5B90-4C12-96D7-CF29D5A118F5}" srcOrd="1" destOrd="0" presId="urn:microsoft.com/office/officeart/2005/8/layout/list1"/>
    <dgm:cxn modelId="{DCA9466F-0A72-4E11-866A-5E13182FEE6F}" type="presOf" srcId="{956045EC-AB7A-4C10-AA4A-48AC5D7230A5}" destId="{4DABF0D7-FF6D-49DF-BD18-9746B234D807}" srcOrd="1" destOrd="0" presId="urn:microsoft.com/office/officeart/2005/8/layout/list1"/>
    <dgm:cxn modelId="{747E3558-B78D-41EC-8EE2-440906F13677}" type="presOf" srcId="{1BDB982D-3738-4492-ABE2-04FFD411FCBE}" destId="{6F8C675C-5073-46D2-AA24-71CDC739E1A7}" srcOrd="0" destOrd="0" presId="urn:microsoft.com/office/officeart/2005/8/layout/list1"/>
    <dgm:cxn modelId="{01A60F7F-5938-4D23-A3F6-189E50E6505A}" type="presOf" srcId="{A52EA62F-49F6-4820-B5BA-AE332D3E3895}" destId="{EFFB935A-106D-44DD-AB05-272381819BC5}" srcOrd="1" destOrd="0" presId="urn:microsoft.com/office/officeart/2005/8/layout/list1"/>
    <dgm:cxn modelId="{C2FD0185-B0FC-4A04-8D86-4BB924180974}" srcId="{AA11A835-FED2-4DD8-AB14-53FCF77812AF}" destId="{956045EC-AB7A-4C10-AA4A-48AC5D7230A5}" srcOrd="2" destOrd="0" parTransId="{8380F4ED-B604-4731-8FEA-8D105A2A9DD2}" sibTransId="{2A84AA42-DB18-456F-B5D6-351B7E7AB51C}"/>
    <dgm:cxn modelId="{A836A097-6298-47C5-83EA-51A4B488FFFA}" srcId="{AA11A835-FED2-4DD8-AB14-53FCF77812AF}" destId="{98F60024-28A8-4CD8-88C5-5FB5B59F3151}" srcOrd="3" destOrd="0" parTransId="{C4DF6992-DDB3-4083-A086-4426B8952096}" sibTransId="{7C62BCBF-8C49-4C07-BE2C-30194C848B8F}"/>
    <dgm:cxn modelId="{3B4AD8B6-C7F3-4452-B9F5-3840B69D7DB1}" type="presOf" srcId="{A52EA62F-49F6-4820-B5BA-AE332D3E3895}" destId="{04082869-3593-4B11-AE91-209CE09CCFB2}" srcOrd="0" destOrd="0" presId="urn:microsoft.com/office/officeart/2005/8/layout/list1"/>
    <dgm:cxn modelId="{B56B45B7-6776-41A0-A159-A9988F8D68E4}" srcId="{AA11A835-FED2-4DD8-AB14-53FCF77812AF}" destId="{1BDB982D-3738-4492-ABE2-04FFD411FCBE}" srcOrd="5" destOrd="0" parTransId="{B97EE65A-6D88-43E0-808F-C806C1CD3EC7}" sibTransId="{5A733768-9A01-4FC6-8112-4CD1AF92C766}"/>
    <dgm:cxn modelId="{F59D4FED-B9B0-4F3C-B98F-6A1F2B978545}" srcId="{AA11A835-FED2-4DD8-AB14-53FCF77812AF}" destId="{AC1CF65C-1E5E-47AA-AFD7-0D493C55F53B}" srcOrd="4" destOrd="0" parTransId="{9ABDCDB9-393A-4A55-B4A8-1FDA2B180809}" sibTransId="{639A6B98-4123-40B2-B21E-C3A26996FE5B}"/>
    <dgm:cxn modelId="{8A68A788-6629-498F-8FEB-D95248009EF2}" type="presParOf" srcId="{5F7A5131-92CD-4BCE-A412-965DDE221D71}" destId="{F9D8BC0B-77F0-49AB-8943-73BC9C0533D9}" srcOrd="0" destOrd="0" presId="urn:microsoft.com/office/officeart/2005/8/layout/list1"/>
    <dgm:cxn modelId="{723DEFF7-5E37-4431-9D08-F53199307E82}" type="presParOf" srcId="{F9D8BC0B-77F0-49AB-8943-73BC9C0533D9}" destId="{04082869-3593-4B11-AE91-209CE09CCFB2}" srcOrd="0" destOrd="0" presId="urn:microsoft.com/office/officeart/2005/8/layout/list1"/>
    <dgm:cxn modelId="{A9C9C561-9B54-4376-9BA1-0C951077E718}" type="presParOf" srcId="{F9D8BC0B-77F0-49AB-8943-73BC9C0533D9}" destId="{EFFB935A-106D-44DD-AB05-272381819BC5}" srcOrd="1" destOrd="0" presId="urn:microsoft.com/office/officeart/2005/8/layout/list1"/>
    <dgm:cxn modelId="{A594E555-9BA5-45D5-9D90-01104EC86E53}" type="presParOf" srcId="{5F7A5131-92CD-4BCE-A412-965DDE221D71}" destId="{78101532-C75F-42A4-9AA9-D438B73AFEA8}" srcOrd="1" destOrd="0" presId="urn:microsoft.com/office/officeart/2005/8/layout/list1"/>
    <dgm:cxn modelId="{45BFAAFF-8874-4E88-BECC-88E976278638}" type="presParOf" srcId="{5F7A5131-92CD-4BCE-A412-965DDE221D71}" destId="{4B1F66C6-E04D-4A7E-929F-32AE022F4E0D}" srcOrd="2" destOrd="0" presId="urn:microsoft.com/office/officeart/2005/8/layout/list1"/>
    <dgm:cxn modelId="{EA51087C-E953-4828-AB66-D166799C4748}" type="presParOf" srcId="{5F7A5131-92CD-4BCE-A412-965DDE221D71}" destId="{845CB726-2873-4529-9F5B-2726E1C52C6F}" srcOrd="3" destOrd="0" presId="urn:microsoft.com/office/officeart/2005/8/layout/list1"/>
    <dgm:cxn modelId="{45BFE4B1-FF30-4E73-BA52-A8A9EA212E07}" type="presParOf" srcId="{5F7A5131-92CD-4BCE-A412-965DDE221D71}" destId="{E453786C-B5B3-4432-B1A8-33D530371996}" srcOrd="4" destOrd="0" presId="urn:microsoft.com/office/officeart/2005/8/layout/list1"/>
    <dgm:cxn modelId="{9ACD5215-A28E-4004-B939-074163409CF3}" type="presParOf" srcId="{E453786C-B5B3-4432-B1A8-33D530371996}" destId="{E92C8C3D-CE9F-430D-BF67-51A2AEE4CB43}" srcOrd="0" destOrd="0" presId="urn:microsoft.com/office/officeart/2005/8/layout/list1"/>
    <dgm:cxn modelId="{3EA49F9A-32C0-4489-9643-F81BE3A365B8}" type="presParOf" srcId="{E453786C-B5B3-4432-B1A8-33D530371996}" destId="{4A0FD316-5B90-4C12-96D7-CF29D5A118F5}" srcOrd="1" destOrd="0" presId="urn:microsoft.com/office/officeart/2005/8/layout/list1"/>
    <dgm:cxn modelId="{1C8BCCC2-4066-4FC9-937C-0C1B67E7FF01}" type="presParOf" srcId="{5F7A5131-92CD-4BCE-A412-965DDE221D71}" destId="{F3BBD584-9C0A-46E8-AA3D-B5BC594171FD}" srcOrd="5" destOrd="0" presId="urn:microsoft.com/office/officeart/2005/8/layout/list1"/>
    <dgm:cxn modelId="{044919CB-4561-432C-949B-A7087B9C9FC8}" type="presParOf" srcId="{5F7A5131-92CD-4BCE-A412-965DDE221D71}" destId="{630717DF-73A3-4456-95DB-37F89D584992}" srcOrd="6" destOrd="0" presId="urn:microsoft.com/office/officeart/2005/8/layout/list1"/>
    <dgm:cxn modelId="{916206E2-F646-4676-8CBE-D272A5C4BBE6}" type="presParOf" srcId="{5F7A5131-92CD-4BCE-A412-965DDE221D71}" destId="{8E948E54-2B78-48EE-86FE-6919A140E87A}" srcOrd="7" destOrd="0" presId="urn:microsoft.com/office/officeart/2005/8/layout/list1"/>
    <dgm:cxn modelId="{2AD94B52-749E-431C-B8AA-090234E42D63}" type="presParOf" srcId="{5F7A5131-92CD-4BCE-A412-965DDE221D71}" destId="{C65B8A2D-FE72-4EFF-932A-B4AE5B4B7BC9}" srcOrd="8" destOrd="0" presId="urn:microsoft.com/office/officeart/2005/8/layout/list1"/>
    <dgm:cxn modelId="{036597E8-1728-4618-A04D-822573650CB5}" type="presParOf" srcId="{C65B8A2D-FE72-4EFF-932A-B4AE5B4B7BC9}" destId="{9B3DC40A-C16E-47F1-AF0D-D67914C2D07B}" srcOrd="0" destOrd="0" presId="urn:microsoft.com/office/officeart/2005/8/layout/list1"/>
    <dgm:cxn modelId="{B686FE8D-0507-41A8-B7A4-EF53677BF7EC}" type="presParOf" srcId="{C65B8A2D-FE72-4EFF-932A-B4AE5B4B7BC9}" destId="{4DABF0D7-FF6D-49DF-BD18-9746B234D807}" srcOrd="1" destOrd="0" presId="urn:microsoft.com/office/officeart/2005/8/layout/list1"/>
    <dgm:cxn modelId="{15D19221-5F8A-41C8-B013-23FAA312D0D7}" type="presParOf" srcId="{5F7A5131-92CD-4BCE-A412-965DDE221D71}" destId="{564B3A71-131C-4E0D-8EE7-B7A6D22128C1}" srcOrd="9" destOrd="0" presId="urn:microsoft.com/office/officeart/2005/8/layout/list1"/>
    <dgm:cxn modelId="{749ED801-0BD7-4ADC-8993-D625FCED7CC1}" type="presParOf" srcId="{5F7A5131-92CD-4BCE-A412-965DDE221D71}" destId="{1C9E66C8-BB65-49F7-B4F8-5DCEEE89BD4A}" srcOrd="10" destOrd="0" presId="urn:microsoft.com/office/officeart/2005/8/layout/list1"/>
    <dgm:cxn modelId="{4FA0A29F-875F-431A-A644-1437AC3F6755}" type="presParOf" srcId="{5F7A5131-92CD-4BCE-A412-965DDE221D71}" destId="{F66A9B87-CB0B-47E2-B1C1-0E339865DAA0}" srcOrd="11" destOrd="0" presId="urn:microsoft.com/office/officeart/2005/8/layout/list1"/>
    <dgm:cxn modelId="{B75D0CFE-280A-4F12-A869-333BDD5805FB}" type="presParOf" srcId="{5F7A5131-92CD-4BCE-A412-965DDE221D71}" destId="{013D407D-4C6E-4D21-9479-4573BF9A6CD4}" srcOrd="12" destOrd="0" presId="urn:microsoft.com/office/officeart/2005/8/layout/list1"/>
    <dgm:cxn modelId="{0556B11F-F962-4236-B2FC-C2077C7A2FA4}" type="presParOf" srcId="{013D407D-4C6E-4D21-9479-4573BF9A6CD4}" destId="{C106F5BE-698F-4DB9-BCA5-44A9DEB164FC}" srcOrd="0" destOrd="0" presId="urn:microsoft.com/office/officeart/2005/8/layout/list1"/>
    <dgm:cxn modelId="{91B86BA4-4D9B-478B-B4B6-CCECB89DDB51}" type="presParOf" srcId="{013D407D-4C6E-4D21-9479-4573BF9A6CD4}" destId="{633D10FC-7A6A-4825-8616-CD26519E16B2}" srcOrd="1" destOrd="0" presId="urn:microsoft.com/office/officeart/2005/8/layout/list1"/>
    <dgm:cxn modelId="{7FE25301-F9C8-458E-8434-BFE22E696A1C}" type="presParOf" srcId="{5F7A5131-92CD-4BCE-A412-965DDE221D71}" destId="{610C2B38-6A73-4006-AC07-3216E70EB5BC}" srcOrd="13" destOrd="0" presId="urn:microsoft.com/office/officeart/2005/8/layout/list1"/>
    <dgm:cxn modelId="{E8F7F7A7-6973-48E3-8F44-8E0632154BA5}" type="presParOf" srcId="{5F7A5131-92CD-4BCE-A412-965DDE221D71}" destId="{B10F7EA8-178D-465B-9A41-F3B7082274C5}" srcOrd="14" destOrd="0" presId="urn:microsoft.com/office/officeart/2005/8/layout/list1"/>
    <dgm:cxn modelId="{DEDE85AD-98E6-4E96-9E46-5A4C901B7F73}" type="presParOf" srcId="{5F7A5131-92CD-4BCE-A412-965DDE221D71}" destId="{363ABB10-6781-4A5F-A05D-EB4CA87C1365}" srcOrd="15" destOrd="0" presId="urn:microsoft.com/office/officeart/2005/8/layout/list1"/>
    <dgm:cxn modelId="{91068993-6392-4BED-97EB-F127E7B7BE6F}" type="presParOf" srcId="{5F7A5131-92CD-4BCE-A412-965DDE221D71}" destId="{4797045A-69FF-4045-A5C4-49B0D4F4C22D}" srcOrd="16" destOrd="0" presId="urn:microsoft.com/office/officeart/2005/8/layout/list1"/>
    <dgm:cxn modelId="{E8FD5B4B-78B8-46F2-8695-2912FA0C9E34}" type="presParOf" srcId="{4797045A-69FF-4045-A5C4-49B0D4F4C22D}" destId="{8890316B-DE59-4617-84BB-33AA617EFD85}" srcOrd="0" destOrd="0" presId="urn:microsoft.com/office/officeart/2005/8/layout/list1"/>
    <dgm:cxn modelId="{8E14640B-AF47-4A39-9ED6-F51A853FD8A5}" type="presParOf" srcId="{4797045A-69FF-4045-A5C4-49B0D4F4C22D}" destId="{E351072D-AEA2-4FD9-9F25-CE61ACEDE255}" srcOrd="1" destOrd="0" presId="urn:microsoft.com/office/officeart/2005/8/layout/list1"/>
    <dgm:cxn modelId="{516CA804-B067-44E8-A4E8-93A35F418E06}" type="presParOf" srcId="{5F7A5131-92CD-4BCE-A412-965DDE221D71}" destId="{D4B18E07-E69D-405D-BD5C-E0D509E3D3D7}" srcOrd="17" destOrd="0" presId="urn:microsoft.com/office/officeart/2005/8/layout/list1"/>
    <dgm:cxn modelId="{435DF6EF-98D9-45B4-8DF3-28851C7B23CC}" type="presParOf" srcId="{5F7A5131-92CD-4BCE-A412-965DDE221D71}" destId="{65BABDF5-BA16-4DF7-A6FD-FFE88EFAEF73}" srcOrd="18" destOrd="0" presId="urn:microsoft.com/office/officeart/2005/8/layout/list1"/>
    <dgm:cxn modelId="{B2A6E41F-CFAE-4191-91B9-5F1AB5A0D965}" type="presParOf" srcId="{5F7A5131-92CD-4BCE-A412-965DDE221D71}" destId="{12F2D645-1B1F-4AF5-89EA-232A6931EDA5}" srcOrd="19" destOrd="0" presId="urn:microsoft.com/office/officeart/2005/8/layout/list1"/>
    <dgm:cxn modelId="{1B191359-FAAA-45D8-BC44-CC45A6C73FCA}" type="presParOf" srcId="{5F7A5131-92CD-4BCE-A412-965DDE221D71}" destId="{49078950-B662-4CA8-9358-E0010F7302F1}" srcOrd="20" destOrd="0" presId="urn:microsoft.com/office/officeart/2005/8/layout/list1"/>
    <dgm:cxn modelId="{34E1C981-87D2-4647-BD7E-FA6203D71A9D}" type="presParOf" srcId="{49078950-B662-4CA8-9358-E0010F7302F1}" destId="{6F8C675C-5073-46D2-AA24-71CDC739E1A7}" srcOrd="0" destOrd="0" presId="urn:microsoft.com/office/officeart/2005/8/layout/list1"/>
    <dgm:cxn modelId="{EBD245E0-9623-4379-AE24-95E6E9965E2F}" type="presParOf" srcId="{49078950-B662-4CA8-9358-E0010F7302F1}" destId="{F2780AC6-4924-4E9D-B013-DA98818CA77C}" srcOrd="1" destOrd="0" presId="urn:microsoft.com/office/officeart/2005/8/layout/list1"/>
    <dgm:cxn modelId="{654CA0CA-C472-40CE-81C5-D49031DCF747}" type="presParOf" srcId="{5F7A5131-92CD-4BCE-A412-965DDE221D71}" destId="{8ECE2525-AABA-4905-AD73-88F8E33C4A75}" srcOrd="21" destOrd="0" presId="urn:microsoft.com/office/officeart/2005/8/layout/list1"/>
    <dgm:cxn modelId="{42F7284E-CA4A-47DB-A6E9-D821D746ECC2}" type="presParOf" srcId="{5F7A5131-92CD-4BCE-A412-965DDE221D71}" destId="{AB3907C3-A011-43F6-A22E-8E7853CEDAE2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A11A835-FED2-4DD8-AB14-53FCF77812AF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52EA62F-49F6-4820-B5BA-AE332D3E3895}">
      <dgm:prSet phldr="0"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400" b="0" i="0">
              <a:latin typeface="Arial"/>
              <a:ea typeface="+mn-ea"/>
              <a:cs typeface="+mn-cs"/>
            </a:rPr>
            <a:t>Discovered hidden chemical patterns without using pre-existing labels.</a:t>
          </a:r>
          <a:endParaRPr lang="en-US">
            <a:latin typeface="Arial"/>
            <a:ea typeface="+mn-ea"/>
            <a:cs typeface="+mn-cs"/>
          </a:endParaRPr>
        </a:p>
      </dgm:t>
    </dgm:pt>
    <dgm:pt modelId="{540E4B86-5567-4FE1-9853-BB4C54D99FBF}" type="parTrans" cxnId="{01724239-089D-467D-8642-88468B0706E8}">
      <dgm:prSet/>
      <dgm:spPr/>
    </dgm:pt>
    <dgm:pt modelId="{C178C553-FA98-4439-8261-36F6E7FE76C9}" type="sibTrans" cxnId="{01724239-089D-467D-8642-88468B0706E8}">
      <dgm:prSet/>
      <dgm:spPr/>
      <dgm:t>
        <a:bodyPr/>
        <a:lstStyle/>
        <a:p>
          <a:endParaRPr lang="en-US"/>
        </a:p>
      </dgm:t>
    </dgm:pt>
    <dgm:pt modelId="{A0ADCFA2-6973-43B0-9E6C-287CE26A2A29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500">
              <a:latin typeface="Arial"/>
              <a:ea typeface="+mn-ea"/>
              <a:cs typeface="+mn-cs"/>
            </a:rPr>
            <a:t>Identified </a:t>
          </a:r>
          <a:r>
            <a:rPr lang="en-US" sz="1500" b="1">
              <a:latin typeface="Arial"/>
              <a:ea typeface="+mn-ea"/>
              <a:cs typeface="+mn-cs"/>
            </a:rPr>
            <a:t>3 Natural Clusters</a:t>
          </a:r>
          <a:r>
            <a:rPr lang="en-US" sz="1500">
              <a:latin typeface="Arial"/>
              <a:ea typeface="+mn-ea"/>
              <a:cs typeface="+mn-cs"/>
            </a:rPr>
            <a:t> (Condensates, Baseload, Heavy/Sour).</a:t>
          </a:r>
        </a:p>
      </dgm:t>
    </dgm:pt>
    <dgm:pt modelId="{1889DED9-BB6B-43F7-B093-6CF0D7192D73}" type="parTrans" cxnId="{27FDDC05-7014-4B53-9151-1D2D07E4D159}">
      <dgm:prSet/>
      <dgm:spPr/>
    </dgm:pt>
    <dgm:pt modelId="{BE043F0F-CE53-4817-BABD-54A1DBF0D379}" type="sibTrans" cxnId="{27FDDC05-7014-4B53-9151-1D2D07E4D159}">
      <dgm:prSet/>
      <dgm:spPr/>
      <dgm:t>
        <a:bodyPr/>
        <a:lstStyle/>
        <a:p>
          <a:endParaRPr lang="en-US"/>
        </a:p>
      </dgm:t>
    </dgm:pt>
    <dgm:pt modelId="{7917B55F-14B2-4881-863F-300A2B85CBFE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500" b="1">
              <a:latin typeface="Arial"/>
              <a:ea typeface="+mn-ea"/>
              <a:cs typeface="+mn-cs"/>
            </a:rPr>
            <a:t>K-Means:</a:t>
          </a:r>
          <a:r>
            <a:rPr lang="en-US" sz="1500">
              <a:latin typeface="Arial"/>
              <a:ea typeface="+mn-ea"/>
              <a:cs typeface="+mn-cs"/>
            </a:rPr>
            <a:t> Grouped crude oils into distinct clusters based on similarity.</a:t>
          </a:r>
        </a:p>
      </dgm:t>
    </dgm:pt>
    <dgm:pt modelId="{8AC544EF-19EE-428F-93BE-EADC70E73F75}" type="parTrans" cxnId="{0A0D934C-7298-4AC8-AE36-5D37B5B3DDB1}">
      <dgm:prSet/>
      <dgm:spPr/>
    </dgm:pt>
    <dgm:pt modelId="{1145CED0-7678-41BB-B1BD-F083CEB738FB}" type="sibTrans" cxnId="{0A0D934C-7298-4AC8-AE36-5D37B5B3DDB1}">
      <dgm:prSet/>
      <dgm:spPr/>
    </dgm:pt>
    <dgm:pt modelId="{A6C2F53C-2D9F-43DB-9A8E-A9B11D8883F6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500" b="1">
              <a:latin typeface="Arial"/>
              <a:ea typeface="+mn-ea"/>
              <a:cs typeface="+mn-cs"/>
            </a:rPr>
            <a:t>Dendrogram:</a:t>
          </a:r>
          <a:r>
            <a:rPr lang="en-US" sz="1500">
              <a:latin typeface="Arial"/>
              <a:ea typeface="+mn-ea"/>
              <a:cs typeface="+mn-cs"/>
            </a:rPr>
            <a:t> Built a "Family Tree" to visualize relationships and substitutes.</a:t>
          </a:r>
        </a:p>
      </dgm:t>
    </dgm:pt>
    <dgm:pt modelId="{7C92361C-5BFC-4B8B-A91F-507AB35B597D}" type="parTrans" cxnId="{EDDE1AFB-C2E7-4CEE-A247-434AEDC6AC80}">
      <dgm:prSet/>
      <dgm:spPr/>
    </dgm:pt>
    <dgm:pt modelId="{31DD3A2F-9246-4CF7-80C6-A38F5C209E5A}" type="sibTrans" cxnId="{EDDE1AFB-C2E7-4CEE-A247-434AEDC6AC80}">
      <dgm:prSet/>
      <dgm:spPr/>
    </dgm:pt>
    <dgm:pt modelId="{5F7A5131-92CD-4BCE-A412-965DDE221D71}" type="pres">
      <dgm:prSet presAssocID="{AA11A835-FED2-4DD8-AB14-53FCF77812AF}" presName="linear" presStyleCnt="0">
        <dgm:presLayoutVars>
          <dgm:dir/>
          <dgm:animLvl val="lvl"/>
          <dgm:resizeHandles val="exact"/>
        </dgm:presLayoutVars>
      </dgm:prSet>
      <dgm:spPr/>
    </dgm:pt>
    <dgm:pt modelId="{F9D8BC0B-77F0-49AB-8943-73BC9C0533D9}" type="pres">
      <dgm:prSet presAssocID="{A52EA62F-49F6-4820-B5BA-AE332D3E3895}" presName="parentLin" presStyleCnt="0"/>
      <dgm:spPr/>
    </dgm:pt>
    <dgm:pt modelId="{04082869-3593-4B11-AE91-209CE09CCFB2}" type="pres">
      <dgm:prSet presAssocID="{A52EA62F-49F6-4820-B5BA-AE332D3E3895}" presName="parentLeftMargin" presStyleLbl="node1" presStyleIdx="0" presStyleCnt="4"/>
      <dgm:spPr/>
    </dgm:pt>
    <dgm:pt modelId="{EFFB935A-106D-44DD-AB05-272381819BC5}" type="pres">
      <dgm:prSet presAssocID="{A52EA62F-49F6-4820-B5BA-AE332D3E389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101532-C75F-42A4-9AA9-D438B73AFEA8}" type="pres">
      <dgm:prSet presAssocID="{A52EA62F-49F6-4820-B5BA-AE332D3E3895}" presName="negativeSpace" presStyleCnt="0"/>
      <dgm:spPr/>
    </dgm:pt>
    <dgm:pt modelId="{4B1F66C6-E04D-4A7E-929F-32AE022F4E0D}" type="pres">
      <dgm:prSet presAssocID="{A52EA62F-49F6-4820-B5BA-AE332D3E3895}" presName="childText" presStyleLbl="conFgAcc1" presStyleIdx="0" presStyleCnt="4">
        <dgm:presLayoutVars>
          <dgm:bulletEnabled val="1"/>
        </dgm:presLayoutVars>
      </dgm:prSet>
      <dgm:spPr/>
    </dgm:pt>
    <dgm:pt modelId="{845CB726-2873-4529-9F5B-2726E1C52C6F}" type="pres">
      <dgm:prSet presAssocID="{C178C553-FA98-4439-8261-36F6E7FE76C9}" presName="spaceBetweenRectangles" presStyleCnt="0"/>
      <dgm:spPr/>
    </dgm:pt>
    <dgm:pt modelId="{E6EE37A7-F835-4D74-AB2F-C5B6BF2059A1}" type="pres">
      <dgm:prSet presAssocID="{7917B55F-14B2-4881-863F-300A2B85CBFE}" presName="parentLin" presStyleCnt="0"/>
      <dgm:spPr/>
    </dgm:pt>
    <dgm:pt modelId="{D067DE39-AD78-47A6-968C-3A2EEF937DE0}" type="pres">
      <dgm:prSet presAssocID="{7917B55F-14B2-4881-863F-300A2B85CBFE}" presName="parentLeftMargin" presStyleLbl="node1" presStyleIdx="0" presStyleCnt="4"/>
      <dgm:spPr/>
    </dgm:pt>
    <dgm:pt modelId="{025205B6-C078-4A2F-B8CE-07B15BACF4A6}" type="pres">
      <dgm:prSet presAssocID="{7917B55F-14B2-4881-863F-300A2B85CBF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B4FB2C-0BED-4CED-9F83-EC72D75849C3}" type="pres">
      <dgm:prSet presAssocID="{7917B55F-14B2-4881-863F-300A2B85CBFE}" presName="negativeSpace" presStyleCnt="0"/>
      <dgm:spPr/>
    </dgm:pt>
    <dgm:pt modelId="{0040C6FB-2539-44D4-8413-E07211407E7B}" type="pres">
      <dgm:prSet presAssocID="{7917B55F-14B2-4881-863F-300A2B85CBFE}" presName="childText" presStyleLbl="conFgAcc1" presStyleIdx="1" presStyleCnt="4">
        <dgm:presLayoutVars>
          <dgm:bulletEnabled val="1"/>
        </dgm:presLayoutVars>
      </dgm:prSet>
      <dgm:spPr/>
    </dgm:pt>
    <dgm:pt modelId="{8C4420B6-448E-4648-BF20-BAA732736772}" type="pres">
      <dgm:prSet presAssocID="{1145CED0-7678-41BB-B1BD-F083CEB738FB}" presName="spaceBetweenRectangles" presStyleCnt="0"/>
      <dgm:spPr/>
    </dgm:pt>
    <dgm:pt modelId="{ED669621-A85A-4FC1-A5EA-8BFEE0D3892B}" type="pres">
      <dgm:prSet presAssocID="{A6C2F53C-2D9F-43DB-9A8E-A9B11D8883F6}" presName="parentLin" presStyleCnt="0"/>
      <dgm:spPr/>
    </dgm:pt>
    <dgm:pt modelId="{E98826BC-FC84-4260-A910-03C0B31B01E3}" type="pres">
      <dgm:prSet presAssocID="{A6C2F53C-2D9F-43DB-9A8E-A9B11D8883F6}" presName="parentLeftMargin" presStyleLbl="node1" presStyleIdx="1" presStyleCnt="4"/>
      <dgm:spPr/>
    </dgm:pt>
    <dgm:pt modelId="{20B8ED2E-DA5E-413A-8E24-C0E6E4B37C61}" type="pres">
      <dgm:prSet presAssocID="{A6C2F53C-2D9F-43DB-9A8E-A9B11D8883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261031-8A64-4B2B-B667-7441C02D0456}" type="pres">
      <dgm:prSet presAssocID="{A6C2F53C-2D9F-43DB-9A8E-A9B11D8883F6}" presName="negativeSpace" presStyleCnt="0"/>
      <dgm:spPr/>
    </dgm:pt>
    <dgm:pt modelId="{7E70ACF0-6CBD-4E13-941F-93B99BA6602C}" type="pres">
      <dgm:prSet presAssocID="{A6C2F53C-2D9F-43DB-9A8E-A9B11D8883F6}" presName="childText" presStyleLbl="conFgAcc1" presStyleIdx="2" presStyleCnt="4">
        <dgm:presLayoutVars>
          <dgm:bulletEnabled val="1"/>
        </dgm:presLayoutVars>
      </dgm:prSet>
      <dgm:spPr/>
    </dgm:pt>
    <dgm:pt modelId="{F5309753-75D6-4BC7-BC1C-370FCD13BE35}" type="pres">
      <dgm:prSet presAssocID="{31DD3A2F-9246-4CF7-80C6-A38F5C209E5A}" presName="spaceBetweenRectangles" presStyleCnt="0"/>
      <dgm:spPr/>
    </dgm:pt>
    <dgm:pt modelId="{E453786C-B5B3-4432-B1A8-33D530371996}" type="pres">
      <dgm:prSet presAssocID="{A0ADCFA2-6973-43B0-9E6C-287CE26A2A29}" presName="parentLin" presStyleCnt="0"/>
      <dgm:spPr/>
    </dgm:pt>
    <dgm:pt modelId="{E92C8C3D-CE9F-430D-BF67-51A2AEE4CB43}" type="pres">
      <dgm:prSet presAssocID="{A0ADCFA2-6973-43B0-9E6C-287CE26A2A29}" presName="parentLeftMargin" presStyleLbl="node1" presStyleIdx="2" presStyleCnt="4"/>
      <dgm:spPr/>
    </dgm:pt>
    <dgm:pt modelId="{4A0FD316-5B90-4C12-96D7-CF29D5A118F5}" type="pres">
      <dgm:prSet presAssocID="{A0ADCFA2-6973-43B0-9E6C-287CE26A2A2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3BBD584-9C0A-46E8-AA3D-B5BC594171FD}" type="pres">
      <dgm:prSet presAssocID="{A0ADCFA2-6973-43B0-9E6C-287CE26A2A29}" presName="negativeSpace" presStyleCnt="0"/>
      <dgm:spPr/>
    </dgm:pt>
    <dgm:pt modelId="{630717DF-73A3-4456-95DB-37F89D584992}" type="pres">
      <dgm:prSet presAssocID="{A0ADCFA2-6973-43B0-9E6C-287CE26A2A2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7FDDC05-7014-4B53-9151-1D2D07E4D159}" srcId="{AA11A835-FED2-4DD8-AB14-53FCF77812AF}" destId="{A0ADCFA2-6973-43B0-9E6C-287CE26A2A29}" srcOrd="3" destOrd="0" parTransId="{1889DED9-BB6B-43F7-B093-6CF0D7192D73}" sibTransId="{BE043F0F-CE53-4817-BABD-54A1DBF0D379}"/>
    <dgm:cxn modelId="{E3E5DA15-C574-440F-BC46-725C08E0455E}" type="presOf" srcId="{7917B55F-14B2-4881-863F-300A2B85CBFE}" destId="{025205B6-C078-4A2F-B8CE-07B15BACF4A6}" srcOrd="1" destOrd="0" presId="urn:microsoft.com/office/officeart/2005/8/layout/list1"/>
    <dgm:cxn modelId="{01724239-089D-467D-8642-88468B0706E8}" srcId="{AA11A835-FED2-4DD8-AB14-53FCF77812AF}" destId="{A52EA62F-49F6-4820-B5BA-AE332D3E3895}" srcOrd="0" destOrd="0" parTransId="{540E4B86-5567-4FE1-9853-BB4C54D99FBF}" sibTransId="{C178C553-FA98-4439-8261-36F6E7FE76C9}"/>
    <dgm:cxn modelId="{C4B7543E-CA06-4BC2-B1E1-00DC51E06561}" type="presOf" srcId="{AA11A835-FED2-4DD8-AB14-53FCF77812AF}" destId="{5F7A5131-92CD-4BCE-A412-965DDE221D71}" srcOrd="0" destOrd="0" presId="urn:microsoft.com/office/officeart/2005/8/layout/list1"/>
    <dgm:cxn modelId="{C1C8EB45-8DAE-41CC-ACE4-83276270A358}" type="presOf" srcId="{A6C2F53C-2D9F-43DB-9A8E-A9B11D8883F6}" destId="{20B8ED2E-DA5E-413A-8E24-C0E6E4B37C61}" srcOrd="1" destOrd="0" presId="urn:microsoft.com/office/officeart/2005/8/layout/list1"/>
    <dgm:cxn modelId="{0A0D934C-7298-4AC8-AE36-5D37B5B3DDB1}" srcId="{AA11A835-FED2-4DD8-AB14-53FCF77812AF}" destId="{7917B55F-14B2-4881-863F-300A2B85CBFE}" srcOrd="1" destOrd="0" parTransId="{8AC544EF-19EE-428F-93BE-EADC70E73F75}" sibTransId="{1145CED0-7678-41BB-B1BD-F083CEB738FB}"/>
    <dgm:cxn modelId="{14449F4C-B95C-43B7-BC9E-5AEA53D505BB}" type="presOf" srcId="{A52EA62F-49F6-4820-B5BA-AE332D3E3895}" destId="{EFFB935A-106D-44DD-AB05-272381819BC5}" srcOrd="1" destOrd="0" presId="urn:microsoft.com/office/officeart/2005/8/layout/list1"/>
    <dgm:cxn modelId="{8E23758D-E065-404B-9980-AB4DF9DA58C2}" type="presOf" srcId="{A52EA62F-49F6-4820-B5BA-AE332D3E3895}" destId="{04082869-3593-4B11-AE91-209CE09CCFB2}" srcOrd="0" destOrd="0" presId="urn:microsoft.com/office/officeart/2005/8/layout/list1"/>
    <dgm:cxn modelId="{50AB83C3-0DB3-4D1A-9ECD-00B488F74C6F}" type="presOf" srcId="{A0ADCFA2-6973-43B0-9E6C-287CE26A2A29}" destId="{4A0FD316-5B90-4C12-96D7-CF29D5A118F5}" srcOrd="1" destOrd="0" presId="urn:microsoft.com/office/officeart/2005/8/layout/list1"/>
    <dgm:cxn modelId="{15F7C3C4-E865-4BFF-8886-9939F46782AA}" type="presOf" srcId="{7917B55F-14B2-4881-863F-300A2B85CBFE}" destId="{D067DE39-AD78-47A6-968C-3A2EEF937DE0}" srcOrd="0" destOrd="0" presId="urn:microsoft.com/office/officeart/2005/8/layout/list1"/>
    <dgm:cxn modelId="{00FBEACB-485C-45E7-8DC5-9EA9E8CA8B93}" type="presOf" srcId="{A6C2F53C-2D9F-43DB-9A8E-A9B11D8883F6}" destId="{E98826BC-FC84-4260-A910-03C0B31B01E3}" srcOrd="0" destOrd="0" presId="urn:microsoft.com/office/officeart/2005/8/layout/list1"/>
    <dgm:cxn modelId="{6E413CE6-1D70-4BE0-918B-2577697BFFD4}" type="presOf" srcId="{A0ADCFA2-6973-43B0-9E6C-287CE26A2A29}" destId="{E92C8C3D-CE9F-430D-BF67-51A2AEE4CB43}" srcOrd="0" destOrd="0" presId="urn:microsoft.com/office/officeart/2005/8/layout/list1"/>
    <dgm:cxn modelId="{EDDE1AFB-C2E7-4CEE-A247-434AEDC6AC80}" srcId="{AA11A835-FED2-4DD8-AB14-53FCF77812AF}" destId="{A6C2F53C-2D9F-43DB-9A8E-A9B11D8883F6}" srcOrd="2" destOrd="0" parTransId="{7C92361C-5BFC-4B8B-A91F-507AB35B597D}" sibTransId="{31DD3A2F-9246-4CF7-80C6-A38F5C209E5A}"/>
    <dgm:cxn modelId="{5A88FD96-E2C6-4EAD-8E69-EA193BB0F776}" type="presParOf" srcId="{5F7A5131-92CD-4BCE-A412-965DDE221D71}" destId="{F9D8BC0B-77F0-49AB-8943-73BC9C0533D9}" srcOrd="0" destOrd="0" presId="urn:microsoft.com/office/officeart/2005/8/layout/list1"/>
    <dgm:cxn modelId="{85CD2466-87C7-4766-B4E3-BF186D6A552C}" type="presParOf" srcId="{F9D8BC0B-77F0-49AB-8943-73BC9C0533D9}" destId="{04082869-3593-4B11-AE91-209CE09CCFB2}" srcOrd="0" destOrd="0" presId="urn:microsoft.com/office/officeart/2005/8/layout/list1"/>
    <dgm:cxn modelId="{5AACD6F9-DA2A-4519-9C58-24282B5FD512}" type="presParOf" srcId="{F9D8BC0B-77F0-49AB-8943-73BC9C0533D9}" destId="{EFFB935A-106D-44DD-AB05-272381819BC5}" srcOrd="1" destOrd="0" presId="urn:microsoft.com/office/officeart/2005/8/layout/list1"/>
    <dgm:cxn modelId="{E42DE786-FA5B-4008-A063-FA8EA0C1087F}" type="presParOf" srcId="{5F7A5131-92CD-4BCE-A412-965DDE221D71}" destId="{78101532-C75F-42A4-9AA9-D438B73AFEA8}" srcOrd="1" destOrd="0" presId="urn:microsoft.com/office/officeart/2005/8/layout/list1"/>
    <dgm:cxn modelId="{077F9189-11C1-4085-8C4B-33BCE804787F}" type="presParOf" srcId="{5F7A5131-92CD-4BCE-A412-965DDE221D71}" destId="{4B1F66C6-E04D-4A7E-929F-32AE022F4E0D}" srcOrd="2" destOrd="0" presId="urn:microsoft.com/office/officeart/2005/8/layout/list1"/>
    <dgm:cxn modelId="{E4617FB7-0B48-4965-842B-82F78449466A}" type="presParOf" srcId="{5F7A5131-92CD-4BCE-A412-965DDE221D71}" destId="{845CB726-2873-4529-9F5B-2726E1C52C6F}" srcOrd="3" destOrd="0" presId="urn:microsoft.com/office/officeart/2005/8/layout/list1"/>
    <dgm:cxn modelId="{0F1CFF5E-A81E-4FFA-BE1F-9012993AD17F}" type="presParOf" srcId="{5F7A5131-92CD-4BCE-A412-965DDE221D71}" destId="{E6EE37A7-F835-4D74-AB2F-C5B6BF2059A1}" srcOrd="4" destOrd="0" presId="urn:microsoft.com/office/officeart/2005/8/layout/list1"/>
    <dgm:cxn modelId="{D1576AB4-E279-4F44-8859-96EBCF035581}" type="presParOf" srcId="{E6EE37A7-F835-4D74-AB2F-C5B6BF2059A1}" destId="{D067DE39-AD78-47A6-968C-3A2EEF937DE0}" srcOrd="0" destOrd="0" presId="urn:microsoft.com/office/officeart/2005/8/layout/list1"/>
    <dgm:cxn modelId="{42A7955B-BE1B-4F98-A3CF-5D304526118A}" type="presParOf" srcId="{E6EE37A7-F835-4D74-AB2F-C5B6BF2059A1}" destId="{025205B6-C078-4A2F-B8CE-07B15BACF4A6}" srcOrd="1" destOrd="0" presId="urn:microsoft.com/office/officeart/2005/8/layout/list1"/>
    <dgm:cxn modelId="{CDC59F17-90D5-4FC1-A18F-5A11E8A5828D}" type="presParOf" srcId="{5F7A5131-92CD-4BCE-A412-965DDE221D71}" destId="{86B4FB2C-0BED-4CED-9F83-EC72D75849C3}" srcOrd="5" destOrd="0" presId="urn:microsoft.com/office/officeart/2005/8/layout/list1"/>
    <dgm:cxn modelId="{A41DA07E-D786-4857-9BC2-41A1D921B5D0}" type="presParOf" srcId="{5F7A5131-92CD-4BCE-A412-965DDE221D71}" destId="{0040C6FB-2539-44D4-8413-E07211407E7B}" srcOrd="6" destOrd="0" presId="urn:microsoft.com/office/officeart/2005/8/layout/list1"/>
    <dgm:cxn modelId="{675833F8-CA86-46A4-8E8B-47C783D623F9}" type="presParOf" srcId="{5F7A5131-92CD-4BCE-A412-965DDE221D71}" destId="{8C4420B6-448E-4648-BF20-BAA732736772}" srcOrd="7" destOrd="0" presId="urn:microsoft.com/office/officeart/2005/8/layout/list1"/>
    <dgm:cxn modelId="{422E5FDC-84F5-492B-9214-46838170FDEF}" type="presParOf" srcId="{5F7A5131-92CD-4BCE-A412-965DDE221D71}" destId="{ED669621-A85A-4FC1-A5EA-8BFEE0D3892B}" srcOrd="8" destOrd="0" presId="urn:microsoft.com/office/officeart/2005/8/layout/list1"/>
    <dgm:cxn modelId="{56408B97-6148-4A03-A7FC-BC421D8F274B}" type="presParOf" srcId="{ED669621-A85A-4FC1-A5EA-8BFEE0D3892B}" destId="{E98826BC-FC84-4260-A910-03C0B31B01E3}" srcOrd="0" destOrd="0" presId="urn:microsoft.com/office/officeart/2005/8/layout/list1"/>
    <dgm:cxn modelId="{E4AEFB0C-7CEB-4660-9168-AC872E154ED6}" type="presParOf" srcId="{ED669621-A85A-4FC1-A5EA-8BFEE0D3892B}" destId="{20B8ED2E-DA5E-413A-8E24-C0E6E4B37C61}" srcOrd="1" destOrd="0" presId="urn:microsoft.com/office/officeart/2005/8/layout/list1"/>
    <dgm:cxn modelId="{51B5C03D-BDD5-40CE-9DF1-79F67A671DB2}" type="presParOf" srcId="{5F7A5131-92CD-4BCE-A412-965DDE221D71}" destId="{C2261031-8A64-4B2B-B667-7441C02D0456}" srcOrd="9" destOrd="0" presId="urn:microsoft.com/office/officeart/2005/8/layout/list1"/>
    <dgm:cxn modelId="{13339AA3-15BC-49E2-B801-A4A303BD1C02}" type="presParOf" srcId="{5F7A5131-92CD-4BCE-A412-965DDE221D71}" destId="{7E70ACF0-6CBD-4E13-941F-93B99BA6602C}" srcOrd="10" destOrd="0" presId="urn:microsoft.com/office/officeart/2005/8/layout/list1"/>
    <dgm:cxn modelId="{FED38D2A-F329-42E2-96EE-4DB33BB2EC6F}" type="presParOf" srcId="{5F7A5131-92CD-4BCE-A412-965DDE221D71}" destId="{F5309753-75D6-4BC7-BC1C-370FCD13BE35}" srcOrd="11" destOrd="0" presId="urn:microsoft.com/office/officeart/2005/8/layout/list1"/>
    <dgm:cxn modelId="{3F3DB105-F04C-4D35-953E-E44D9C48B725}" type="presParOf" srcId="{5F7A5131-92CD-4BCE-A412-965DDE221D71}" destId="{E453786C-B5B3-4432-B1A8-33D530371996}" srcOrd="12" destOrd="0" presId="urn:microsoft.com/office/officeart/2005/8/layout/list1"/>
    <dgm:cxn modelId="{0A68745D-32D1-4A9C-9487-1CA49D7958E5}" type="presParOf" srcId="{E453786C-B5B3-4432-B1A8-33D530371996}" destId="{E92C8C3D-CE9F-430D-BF67-51A2AEE4CB43}" srcOrd="0" destOrd="0" presId="urn:microsoft.com/office/officeart/2005/8/layout/list1"/>
    <dgm:cxn modelId="{13F47BA0-5610-4156-B08B-00099ADA4160}" type="presParOf" srcId="{E453786C-B5B3-4432-B1A8-33D530371996}" destId="{4A0FD316-5B90-4C12-96D7-CF29D5A118F5}" srcOrd="1" destOrd="0" presId="urn:microsoft.com/office/officeart/2005/8/layout/list1"/>
    <dgm:cxn modelId="{9D6C3A5E-F0B0-4BDC-8344-11B7D2469877}" type="presParOf" srcId="{5F7A5131-92CD-4BCE-A412-965DDE221D71}" destId="{F3BBD584-9C0A-46E8-AA3D-B5BC594171FD}" srcOrd="13" destOrd="0" presId="urn:microsoft.com/office/officeart/2005/8/layout/list1"/>
    <dgm:cxn modelId="{A3888C7D-F4C9-4884-A9CB-50DCDCB26467}" type="presParOf" srcId="{5F7A5131-92CD-4BCE-A412-965DDE221D71}" destId="{630717DF-73A3-4456-95DB-37F89D58499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0B8B48D-0422-452F-A677-ED46C7ADA8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B9832B-2EAE-4BDD-8509-697573230685}">
      <dgm:prSet/>
      <dgm:spPr/>
      <dgm:t>
        <a:bodyPr/>
        <a:lstStyle/>
        <a:p>
          <a:r>
            <a:rPr lang="en-US" b="1" dirty="0">
              <a:latin typeface="Aptos"/>
            </a:rPr>
            <a:t>Core Finding:</a:t>
          </a:r>
          <a:r>
            <a:rPr lang="en-US" dirty="0">
              <a:latin typeface="Aptos"/>
            </a:rPr>
            <a:t> Crude oil quality is not random; it follows </a:t>
          </a:r>
          <a:r>
            <a:rPr lang="en-US" b="1" dirty="0">
              <a:latin typeface="Aptos"/>
            </a:rPr>
            <a:t>three distinct chemical regimes</a:t>
          </a:r>
          <a:r>
            <a:rPr lang="en-US" dirty="0">
              <a:latin typeface="Aptos"/>
            </a:rPr>
            <a:t>.</a:t>
          </a:r>
        </a:p>
      </dgm:t>
    </dgm:pt>
    <dgm:pt modelId="{5A5EB5FE-1FCF-4F37-98DD-1DA01EAA8BFD}" type="parTrans" cxnId="{F1CBA82A-A9F3-491B-A4B3-98C87465AC8D}">
      <dgm:prSet/>
      <dgm:spPr/>
      <dgm:t>
        <a:bodyPr/>
        <a:lstStyle/>
        <a:p>
          <a:endParaRPr lang="en-US"/>
        </a:p>
      </dgm:t>
    </dgm:pt>
    <dgm:pt modelId="{9AD03115-54ED-4F9B-B9BD-40BBAD928AA0}" type="sibTrans" cxnId="{F1CBA82A-A9F3-491B-A4B3-98C87465AC8D}">
      <dgm:prSet/>
      <dgm:spPr/>
      <dgm:t>
        <a:bodyPr/>
        <a:lstStyle/>
        <a:p>
          <a:endParaRPr lang="en-US"/>
        </a:p>
      </dgm:t>
    </dgm:pt>
    <dgm:pt modelId="{21660D32-E85F-4DAD-8046-42739A4EFE82}">
      <dgm:prSet/>
      <dgm:spPr/>
      <dgm:t>
        <a:bodyPr/>
        <a:lstStyle/>
        <a:p>
          <a:r>
            <a:rPr lang="en-US" b="1" dirty="0">
              <a:latin typeface="Aptos"/>
            </a:rPr>
            <a:t>Ultra-Light Condensates</a:t>
          </a:r>
          <a:r>
            <a:rPr lang="en-US" dirty="0">
              <a:latin typeface="Aptos"/>
            </a:rPr>
            <a:t> (Premium).</a:t>
          </a:r>
        </a:p>
      </dgm:t>
    </dgm:pt>
    <dgm:pt modelId="{64D6509F-272D-46D6-88E1-142669F0DF21}" type="parTrans" cxnId="{82A6DFE3-2718-4CF1-BCEC-1ED2008F8BC2}">
      <dgm:prSet/>
      <dgm:spPr/>
      <dgm:t>
        <a:bodyPr/>
        <a:lstStyle/>
        <a:p>
          <a:endParaRPr lang="en-US"/>
        </a:p>
      </dgm:t>
    </dgm:pt>
    <dgm:pt modelId="{E7D70234-3BE2-4ECF-BD67-7AE7DE5DFD4D}" type="sibTrans" cxnId="{82A6DFE3-2718-4CF1-BCEC-1ED2008F8BC2}">
      <dgm:prSet/>
      <dgm:spPr/>
      <dgm:t>
        <a:bodyPr/>
        <a:lstStyle/>
        <a:p>
          <a:endParaRPr lang="en-US"/>
        </a:p>
      </dgm:t>
    </dgm:pt>
    <dgm:pt modelId="{6E4052D8-0B1C-472C-83B5-3BDE2B17D837}">
      <dgm:prSet/>
      <dgm:spPr/>
      <dgm:t>
        <a:bodyPr/>
        <a:lstStyle/>
        <a:p>
          <a:r>
            <a:rPr lang="en-US" b="1" dirty="0">
              <a:latin typeface="Aptos"/>
            </a:rPr>
            <a:t>Baseload Medium Crudes</a:t>
          </a:r>
          <a:r>
            <a:rPr lang="en-US" dirty="0">
              <a:latin typeface="Aptos"/>
            </a:rPr>
            <a:t> (Standard).</a:t>
          </a:r>
        </a:p>
      </dgm:t>
    </dgm:pt>
    <dgm:pt modelId="{40D73BDB-682E-4C08-ADFD-7C41CEBD21A4}" type="parTrans" cxnId="{7B397AC9-F685-416E-B1CF-59F032A2C40F}">
      <dgm:prSet/>
      <dgm:spPr/>
      <dgm:t>
        <a:bodyPr/>
        <a:lstStyle/>
        <a:p>
          <a:endParaRPr lang="en-US"/>
        </a:p>
      </dgm:t>
    </dgm:pt>
    <dgm:pt modelId="{781F4232-E7B7-4137-9017-27A56AF7B0A9}" type="sibTrans" cxnId="{7B397AC9-F685-416E-B1CF-59F032A2C40F}">
      <dgm:prSet/>
      <dgm:spPr/>
      <dgm:t>
        <a:bodyPr/>
        <a:lstStyle/>
        <a:p>
          <a:endParaRPr lang="en-US"/>
        </a:p>
      </dgm:t>
    </dgm:pt>
    <dgm:pt modelId="{892E7EAA-6530-4096-87DF-995673D9428C}">
      <dgm:prSet/>
      <dgm:spPr/>
      <dgm:t>
        <a:bodyPr/>
        <a:lstStyle/>
        <a:p>
          <a:r>
            <a:rPr lang="en-US" b="1" dirty="0">
              <a:latin typeface="Aptos"/>
            </a:rPr>
            <a:t>Heavy/Sour Crudes</a:t>
          </a:r>
          <a:r>
            <a:rPr lang="en-US" dirty="0">
              <a:latin typeface="Aptos"/>
            </a:rPr>
            <a:t> (Distressed/Complex).</a:t>
          </a:r>
        </a:p>
      </dgm:t>
    </dgm:pt>
    <dgm:pt modelId="{EFECBA44-15DA-44F4-85A9-46D223E6ED25}" type="parTrans" cxnId="{3353E423-7D1C-432C-87BE-B573B2DB95CE}">
      <dgm:prSet/>
      <dgm:spPr/>
      <dgm:t>
        <a:bodyPr/>
        <a:lstStyle/>
        <a:p>
          <a:endParaRPr lang="en-US"/>
        </a:p>
      </dgm:t>
    </dgm:pt>
    <dgm:pt modelId="{A1A5D0CA-7A1A-4C55-9BD9-A3D2D219DC98}" type="sibTrans" cxnId="{3353E423-7D1C-432C-87BE-B573B2DB95CE}">
      <dgm:prSet/>
      <dgm:spPr/>
      <dgm:t>
        <a:bodyPr/>
        <a:lstStyle/>
        <a:p>
          <a:endParaRPr lang="en-US"/>
        </a:p>
      </dgm:t>
    </dgm:pt>
    <dgm:pt modelId="{1B1617EE-D998-4EF9-ADFB-AE9E339A53F7}">
      <dgm:prSet/>
      <dgm:spPr/>
      <dgm:t>
        <a:bodyPr/>
        <a:lstStyle/>
        <a:p>
          <a:r>
            <a:rPr lang="en-US" b="1" dirty="0">
              <a:latin typeface="Aptos"/>
            </a:rPr>
            <a:t>Key Insight:</a:t>
          </a:r>
          <a:r>
            <a:rPr lang="en-US" dirty="0">
              <a:latin typeface="Aptos"/>
            </a:rPr>
            <a:t> Industry labels ("Light/Heavy") are scientifically valid and mathematically separable.</a:t>
          </a:r>
        </a:p>
      </dgm:t>
    </dgm:pt>
    <dgm:pt modelId="{567455AD-693A-4AEA-A46B-E55DAB2C88E0}" type="parTrans" cxnId="{059DB142-453B-4089-8A66-6477BE9B6890}">
      <dgm:prSet/>
      <dgm:spPr/>
      <dgm:t>
        <a:bodyPr/>
        <a:lstStyle/>
        <a:p>
          <a:endParaRPr lang="en-US"/>
        </a:p>
      </dgm:t>
    </dgm:pt>
    <dgm:pt modelId="{A632D213-E60C-45EB-8735-4E812CF43799}" type="sibTrans" cxnId="{059DB142-453B-4089-8A66-6477BE9B6890}">
      <dgm:prSet/>
      <dgm:spPr/>
      <dgm:t>
        <a:bodyPr/>
        <a:lstStyle/>
        <a:p>
          <a:endParaRPr lang="en-US"/>
        </a:p>
      </dgm:t>
    </dgm:pt>
    <dgm:pt modelId="{A91ED138-BF72-4B6C-82D3-D63D5138D598}" type="pres">
      <dgm:prSet presAssocID="{10B8B48D-0422-452F-A677-ED46C7ADA81A}" presName="root" presStyleCnt="0">
        <dgm:presLayoutVars>
          <dgm:dir/>
          <dgm:resizeHandles val="exact"/>
        </dgm:presLayoutVars>
      </dgm:prSet>
      <dgm:spPr/>
    </dgm:pt>
    <dgm:pt modelId="{7C715B90-13CE-4B41-A380-85F50F69620D}" type="pres">
      <dgm:prSet presAssocID="{E0B9832B-2EAE-4BDD-8509-697573230685}" presName="compNode" presStyleCnt="0"/>
      <dgm:spPr/>
    </dgm:pt>
    <dgm:pt modelId="{1CC5DA78-3516-4F2A-9535-E2BCB9A3CF9C}" type="pres">
      <dgm:prSet presAssocID="{E0B9832B-2EAE-4BDD-8509-697573230685}" presName="bgRect" presStyleLbl="bgShp" presStyleIdx="0" presStyleCnt="5"/>
      <dgm:spPr/>
    </dgm:pt>
    <dgm:pt modelId="{7E640281-2609-4DD8-B2F0-DC99D1B7ECFD}" type="pres">
      <dgm:prSet presAssocID="{E0B9832B-2EAE-4BDD-8509-6975732306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311CEC26-4CDD-49A6-8E29-325A2BAC4842}" type="pres">
      <dgm:prSet presAssocID="{E0B9832B-2EAE-4BDD-8509-697573230685}" presName="spaceRect" presStyleCnt="0"/>
      <dgm:spPr/>
    </dgm:pt>
    <dgm:pt modelId="{95A1DC8D-8466-4A6E-AF44-C6A763A28027}" type="pres">
      <dgm:prSet presAssocID="{E0B9832B-2EAE-4BDD-8509-697573230685}" presName="parTx" presStyleLbl="revTx" presStyleIdx="0" presStyleCnt="5">
        <dgm:presLayoutVars>
          <dgm:chMax val="0"/>
          <dgm:chPref val="0"/>
        </dgm:presLayoutVars>
      </dgm:prSet>
      <dgm:spPr/>
    </dgm:pt>
    <dgm:pt modelId="{C59BF2C4-A6AD-4B63-97FA-5BE2A150E151}" type="pres">
      <dgm:prSet presAssocID="{9AD03115-54ED-4F9B-B9BD-40BBAD928AA0}" presName="sibTrans" presStyleCnt="0"/>
      <dgm:spPr/>
    </dgm:pt>
    <dgm:pt modelId="{E7C937BF-C220-43C9-A328-3ACD5C9A3EEC}" type="pres">
      <dgm:prSet presAssocID="{21660D32-E85F-4DAD-8046-42739A4EFE82}" presName="compNode" presStyleCnt="0"/>
      <dgm:spPr/>
    </dgm:pt>
    <dgm:pt modelId="{E17B1C5D-2925-42E1-86BF-2E22975D593C}" type="pres">
      <dgm:prSet presAssocID="{21660D32-E85F-4DAD-8046-42739A4EFE82}" presName="bgRect" presStyleLbl="bgShp" presStyleIdx="1" presStyleCnt="5"/>
      <dgm:spPr/>
    </dgm:pt>
    <dgm:pt modelId="{191F6215-5B23-4528-A7C9-CF75A29B7B7B}" type="pres">
      <dgm:prSet presAssocID="{21660D32-E85F-4DAD-8046-42739A4EFE8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hlight"/>
        </a:ext>
      </dgm:extLst>
    </dgm:pt>
    <dgm:pt modelId="{A78F977C-4520-485F-8B92-B86D5ABA7CDE}" type="pres">
      <dgm:prSet presAssocID="{21660D32-E85F-4DAD-8046-42739A4EFE82}" presName="spaceRect" presStyleCnt="0"/>
      <dgm:spPr/>
    </dgm:pt>
    <dgm:pt modelId="{5EB32DBF-EA26-4815-BFCB-7B6DE729F13A}" type="pres">
      <dgm:prSet presAssocID="{21660D32-E85F-4DAD-8046-42739A4EFE82}" presName="parTx" presStyleLbl="revTx" presStyleIdx="1" presStyleCnt="5">
        <dgm:presLayoutVars>
          <dgm:chMax val="0"/>
          <dgm:chPref val="0"/>
        </dgm:presLayoutVars>
      </dgm:prSet>
      <dgm:spPr/>
    </dgm:pt>
    <dgm:pt modelId="{635FC52E-AFAC-4690-B0A2-FDFB361F0467}" type="pres">
      <dgm:prSet presAssocID="{E7D70234-3BE2-4ECF-BD67-7AE7DE5DFD4D}" presName="sibTrans" presStyleCnt="0"/>
      <dgm:spPr/>
    </dgm:pt>
    <dgm:pt modelId="{17C00AD6-32FC-4429-8C2C-5E3C7917CFE8}" type="pres">
      <dgm:prSet presAssocID="{6E4052D8-0B1C-472C-83B5-3BDE2B17D837}" presName="compNode" presStyleCnt="0"/>
      <dgm:spPr/>
    </dgm:pt>
    <dgm:pt modelId="{CE1074F9-65B8-4F90-BDE7-D6BDC2155203}" type="pres">
      <dgm:prSet presAssocID="{6E4052D8-0B1C-472C-83B5-3BDE2B17D837}" presName="bgRect" presStyleLbl="bgShp" presStyleIdx="2" presStyleCnt="5"/>
      <dgm:spPr/>
    </dgm:pt>
    <dgm:pt modelId="{61E27764-9306-42D4-A33A-6EBFE73E8604}" type="pres">
      <dgm:prSet presAssocID="{6E4052D8-0B1C-472C-83B5-3BDE2B17D83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646C4D2-FBBA-4F7F-9791-0732857EE6C3}" type="pres">
      <dgm:prSet presAssocID="{6E4052D8-0B1C-472C-83B5-3BDE2B17D837}" presName="spaceRect" presStyleCnt="0"/>
      <dgm:spPr/>
    </dgm:pt>
    <dgm:pt modelId="{679A506C-A684-4EB8-90AC-4E3313D4A0C1}" type="pres">
      <dgm:prSet presAssocID="{6E4052D8-0B1C-472C-83B5-3BDE2B17D837}" presName="parTx" presStyleLbl="revTx" presStyleIdx="2" presStyleCnt="5">
        <dgm:presLayoutVars>
          <dgm:chMax val="0"/>
          <dgm:chPref val="0"/>
        </dgm:presLayoutVars>
      </dgm:prSet>
      <dgm:spPr/>
    </dgm:pt>
    <dgm:pt modelId="{E4543AC3-040A-4027-A2D2-04628D74B29C}" type="pres">
      <dgm:prSet presAssocID="{781F4232-E7B7-4137-9017-27A56AF7B0A9}" presName="sibTrans" presStyleCnt="0"/>
      <dgm:spPr/>
    </dgm:pt>
    <dgm:pt modelId="{A6D3426F-A597-4EF3-9DBD-CE2B46D7BC47}" type="pres">
      <dgm:prSet presAssocID="{892E7EAA-6530-4096-87DF-995673D9428C}" presName="compNode" presStyleCnt="0"/>
      <dgm:spPr/>
    </dgm:pt>
    <dgm:pt modelId="{4A00895D-63B2-4514-B9E8-15311B263B96}" type="pres">
      <dgm:prSet presAssocID="{892E7EAA-6530-4096-87DF-995673D9428C}" presName="bgRect" presStyleLbl="bgShp" presStyleIdx="3" presStyleCnt="5"/>
      <dgm:spPr/>
    </dgm:pt>
    <dgm:pt modelId="{C94A769C-0079-4205-AE78-9001AE5F19D2}" type="pres">
      <dgm:prSet presAssocID="{892E7EAA-6530-4096-87DF-995673D9428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EB8770D-E38D-42E5-88F4-BD203DFC2CA3}" type="pres">
      <dgm:prSet presAssocID="{892E7EAA-6530-4096-87DF-995673D9428C}" presName="spaceRect" presStyleCnt="0"/>
      <dgm:spPr/>
    </dgm:pt>
    <dgm:pt modelId="{47564738-968C-4EEB-BCF6-FF798B3BC21F}" type="pres">
      <dgm:prSet presAssocID="{892E7EAA-6530-4096-87DF-995673D9428C}" presName="parTx" presStyleLbl="revTx" presStyleIdx="3" presStyleCnt="5">
        <dgm:presLayoutVars>
          <dgm:chMax val="0"/>
          <dgm:chPref val="0"/>
        </dgm:presLayoutVars>
      </dgm:prSet>
      <dgm:spPr/>
    </dgm:pt>
    <dgm:pt modelId="{A106D3D7-77BE-4656-9649-3E06B0921ED4}" type="pres">
      <dgm:prSet presAssocID="{A1A5D0CA-7A1A-4C55-9BD9-A3D2D219DC98}" presName="sibTrans" presStyleCnt="0"/>
      <dgm:spPr/>
    </dgm:pt>
    <dgm:pt modelId="{CB6A3FE0-E6D6-4F34-B3F0-C97DD9FD71EF}" type="pres">
      <dgm:prSet presAssocID="{1B1617EE-D998-4EF9-ADFB-AE9E339A53F7}" presName="compNode" presStyleCnt="0"/>
      <dgm:spPr/>
    </dgm:pt>
    <dgm:pt modelId="{2F9D4F11-6543-4D57-8F5A-5BA111F9300C}" type="pres">
      <dgm:prSet presAssocID="{1B1617EE-D998-4EF9-ADFB-AE9E339A53F7}" presName="bgRect" presStyleLbl="bgShp" presStyleIdx="4" presStyleCnt="5"/>
      <dgm:spPr/>
    </dgm:pt>
    <dgm:pt modelId="{88044F65-E103-4174-9D09-2B6F457EE5F1}" type="pres">
      <dgm:prSet presAssocID="{1B1617EE-D998-4EF9-ADFB-AE9E339A53F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wn"/>
        </a:ext>
      </dgm:extLst>
    </dgm:pt>
    <dgm:pt modelId="{7B57EB99-CC80-4851-9628-15C2DA9BFA2D}" type="pres">
      <dgm:prSet presAssocID="{1B1617EE-D998-4EF9-ADFB-AE9E339A53F7}" presName="spaceRect" presStyleCnt="0"/>
      <dgm:spPr/>
    </dgm:pt>
    <dgm:pt modelId="{99FE8B19-CB6D-47BC-973E-C8F800EE384F}" type="pres">
      <dgm:prSet presAssocID="{1B1617EE-D998-4EF9-ADFB-AE9E339A53F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410411F-F67A-43DA-ADCA-A317DC33EF4B}" type="presOf" srcId="{E0B9832B-2EAE-4BDD-8509-697573230685}" destId="{95A1DC8D-8466-4A6E-AF44-C6A763A28027}" srcOrd="0" destOrd="0" presId="urn:microsoft.com/office/officeart/2018/2/layout/IconVerticalSolidList"/>
    <dgm:cxn modelId="{3353E423-7D1C-432C-87BE-B573B2DB95CE}" srcId="{10B8B48D-0422-452F-A677-ED46C7ADA81A}" destId="{892E7EAA-6530-4096-87DF-995673D9428C}" srcOrd="3" destOrd="0" parTransId="{EFECBA44-15DA-44F4-85A9-46D223E6ED25}" sibTransId="{A1A5D0CA-7A1A-4C55-9BD9-A3D2D219DC98}"/>
    <dgm:cxn modelId="{F1CBA82A-A9F3-491B-A4B3-98C87465AC8D}" srcId="{10B8B48D-0422-452F-A677-ED46C7ADA81A}" destId="{E0B9832B-2EAE-4BDD-8509-697573230685}" srcOrd="0" destOrd="0" parTransId="{5A5EB5FE-1FCF-4F37-98DD-1DA01EAA8BFD}" sibTransId="{9AD03115-54ED-4F9B-B9BD-40BBAD928AA0}"/>
    <dgm:cxn modelId="{ABB3C861-54C7-4A0C-B9BC-26DCFFFAFB5F}" type="presOf" srcId="{6E4052D8-0B1C-472C-83B5-3BDE2B17D837}" destId="{679A506C-A684-4EB8-90AC-4E3313D4A0C1}" srcOrd="0" destOrd="0" presId="urn:microsoft.com/office/officeart/2018/2/layout/IconVerticalSolidList"/>
    <dgm:cxn modelId="{059DB142-453B-4089-8A66-6477BE9B6890}" srcId="{10B8B48D-0422-452F-A677-ED46C7ADA81A}" destId="{1B1617EE-D998-4EF9-ADFB-AE9E339A53F7}" srcOrd="4" destOrd="0" parTransId="{567455AD-693A-4AEA-A46B-E55DAB2C88E0}" sibTransId="{A632D213-E60C-45EB-8735-4E812CF43799}"/>
    <dgm:cxn modelId="{E5E27B69-C044-40F4-8110-FAC6834F5FA6}" type="presOf" srcId="{21660D32-E85F-4DAD-8046-42739A4EFE82}" destId="{5EB32DBF-EA26-4815-BFCB-7B6DE729F13A}" srcOrd="0" destOrd="0" presId="urn:microsoft.com/office/officeart/2018/2/layout/IconVerticalSolidList"/>
    <dgm:cxn modelId="{6F664591-F6DA-4B6B-89D7-B150DBED9EC1}" type="presOf" srcId="{10B8B48D-0422-452F-A677-ED46C7ADA81A}" destId="{A91ED138-BF72-4B6C-82D3-D63D5138D598}" srcOrd="0" destOrd="0" presId="urn:microsoft.com/office/officeart/2018/2/layout/IconVerticalSolidList"/>
    <dgm:cxn modelId="{78FD8793-1CD4-40D6-B92B-31D6A300ECA3}" type="presOf" srcId="{1B1617EE-D998-4EF9-ADFB-AE9E339A53F7}" destId="{99FE8B19-CB6D-47BC-973E-C8F800EE384F}" srcOrd="0" destOrd="0" presId="urn:microsoft.com/office/officeart/2018/2/layout/IconVerticalSolidList"/>
    <dgm:cxn modelId="{7B397AC9-F685-416E-B1CF-59F032A2C40F}" srcId="{10B8B48D-0422-452F-A677-ED46C7ADA81A}" destId="{6E4052D8-0B1C-472C-83B5-3BDE2B17D837}" srcOrd="2" destOrd="0" parTransId="{40D73BDB-682E-4C08-ADFD-7C41CEBD21A4}" sibTransId="{781F4232-E7B7-4137-9017-27A56AF7B0A9}"/>
    <dgm:cxn modelId="{D50A28E0-AC22-4E71-A804-745F91B3430E}" type="presOf" srcId="{892E7EAA-6530-4096-87DF-995673D9428C}" destId="{47564738-968C-4EEB-BCF6-FF798B3BC21F}" srcOrd="0" destOrd="0" presId="urn:microsoft.com/office/officeart/2018/2/layout/IconVerticalSolidList"/>
    <dgm:cxn modelId="{82A6DFE3-2718-4CF1-BCEC-1ED2008F8BC2}" srcId="{10B8B48D-0422-452F-A677-ED46C7ADA81A}" destId="{21660D32-E85F-4DAD-8046-42739A4EFE82}" srcOrd="1" destOrd="0" parTransId="{64D6509F-272D-46D6-88E1-142669F0DF21}" sibTransId="{E7D70234-3BE2-4ECF-BD67-7AE7DE5DFD4D}"/>
    <dgm:cxn modelId="{424A6076-7322-4BC7-BAD8-403F0E02DBF6}" type="presParOf" srcId="{A91ED138-BF72-4B6C-82D3-D63D5138D598}" destId="{7C715B90-13CE-4B41-A380-85F50F69620D}" srcOrd="0" destOrd="0" presId="urn:microsoft.com/office/officeart/2018/2/layout/IconVerticalSolidList"/>
    <dgm:cxn modelId="{7C5B2DC3-F070-4DF2-A975-A5E071D4FF27}" type="presParOf" srcId="{7C715B90-13CE-4B41-A380-85F50F69620D}" destId="{1CC5DA78-3516-4F2A-9535-E2BCB9A3CF9C}" srcOrd="0" destOrd="0" presId="urn:microsoft.com/office/officeart/2018/2/layout/IconVerticalSolidList"/>
    <dgm:cxn modelId="{C4EC53D1-B02C-41F3-BB54-4A9F2122C05A}" type="presParOf" srcId="{7C715B90-13CE-4B41-A380-85F50F69620D}" destId="{7E640281-2609-4DD8-B2F0-DC99D1B7ECFD}" srcOrd="1" destOrd="0" presId="urn:microsoft.com/office/officeart/2018/2/layout/IconVerticalSolidList"/>
    <dgm:cxn modelId="{8287DF43-47F2-4DAF-AEDA-A3A6EAE7244F}" type="presParOf" srcId="{7C715B90-13CE-4B41-A380-85F50F69620D}" destId="{311CEC26-4CDD-49A6-8E29-325A2BAC4842}" srcOrd="2" destOrd="0" presId="urn:microsoft.com/office/officeart/2018/2/layout/IconVerticalSolidList"/>
    <dgm:cxn modelId="{8BEF70C9-B2E9-42B2-A75A-5ADD2768660B}" type="presParOf" srcId="{7C715B90-13CE-4B41-A380-85F50F69620D}" destId="{95A1DC8D-8466-4A6E-AF44-C6A763A28027}" srcOrd="3" destOrd="0" presId="urn:microsoft.com/office/officeart/2018/2/layout/IconVerticalSolidList"/>
    <dgm:cxn modelId="{0D921FD2-B6E7-44FF-8C42-4E3D0A784AA0}" type="presParOf" srcId="{A91ED138-BF72-4B6C-82D3-D63D5138D598}" destId="{C59BF2C4-A6AD-4B63-97FA-5BE2A150E151}" srcOrd="1" destOrd="0" presId="urn:microsoft.com/office/officeart/2018/2/layout/IconVerticalSolidList"/>
    <dgm:cxn modelId="{6192F540-4C4A-482F-A9B0-8C8BCAAE85D9}" type="presParOf" srcId="{A91ED138-BF72-4B6C-82D3-D63D5138D598}" destId="{E7C937BF-C220-43C9-A328-3ACD5C9A3EEC}" srcOrd="2" destOrd="0" presId="urn:microsoft.com/office/officeart/2018/2/layout/IconVerticalSolidList"/>
    <dgm:cxn modelId="{24EA19B7-922E-4728-A8A1-B63361106B3C}" type="presParOf" srcId="{E7C937BF-C220-43C9-A328-3ACD5C9A3EEC}" destId="{E17B1C5D-2925-42E1-86BF-2E22975D593C}" srcOrd="0" destOrd="0" presId="urn:microsoft.com/office/officeart/2018/2/layout/IconVerticalSolidList"/>
    <dgm:cxn modelId="{66C5AE0E-25F3-486D-8EEC-F5FFBB93DCFB}" type="presParOf" srcId="{E7C937BF-C220-43C9-A328-3ACD5C9A3EEC}" destId="{191F6215-5B23-4528-A7C9-CF75A29B7B7B}" srcOrd="1" destOrd="0" presId="urn:microsoft.com/office/officeart/2018/2/layout/IconVerticalSolidList"/>
    <dgm:cxn modelId="{5B709E01-BC08-4194-B0FA-BAB99ABE48BA}" type="presParOf" srcId="{E7C937BF-C220-43C9-A328-3ACD5C9A3EEC}" destId="{A78F977C-4520-485F-8B92-B86D5ABA7CDE}" srcOrd="2" destOrd="0" presId="urn:microsoft.com/office/officeart/2018/2/layout/IconVerticalSolidList"/>
    <dgm:cxn modelId="{DA1F4F9A-C079-45FA-8CB8-14D767C83F00}" type="presParOf" srcId="{E7C937BF-C220-43C9-A328-3ACD5C9A3EEC}" destId="{5EB32DBF-EA26-4815-BFCB-7B6DE729F13A}" srcOrd="3" destOrd="0" presId="urn:microsoft.com/office/officeart/2018/2/layout/IconVerticalSolidList"/>
    <dgm:cxn modelId="{828923D1-0B9C-443F-B416-D6A07AECDC1D}" type="presParOf" srcId="{A91ED138-BF72-4B6C-82D3-D63D5138D598}" destId="{635FC52E-AFAC-4690-B0A2-FDFB361F0467}" srcOrd="3" destOrd="0" presId="urn:microsoft.com/office/officeart/2018/2/layout/IconVerticalSolidList"/>
    <dgm:cxn modelId="{DE552B2D-EA20-4FFD-8DC7-4C84B089473B}" type="presParOf" srcId="{A91ED138-BF72-4B6C-82D3-D63D5138D598}" destId="{17C00AD6-32FC-4429-8C2C-5E3C7917CFE8}" srcOrd="4" destOrd="0" presId="urn:microsoft.com/office/officeart/2018/2/layout/IconVerticalSolidList"/>
    <dgm:cxn modelId="{53DFD13A-35B9-4A79-A014-EA5C44874676}" type="presParOf" srcId="{17C00AD6-32FC-4429-8C2C-5E3C7917CFE8}" destId="{CE1074F9-65B8-4F90-BDE7-D6BDC2155203}" srcOrd="0" destOrd="0" presId="urn:microsoft.com/office/officeart/2018/2/layout/IconVerticalSolidList"/>
    <dgm:cxn modelId="{4B6EB56D-0A2D-495F-BC12-CA63AF5DB540}" type="presParOf" srcId="{17C00AD6-32FC-4429-8C2C-5E3C7917CFE8}" destId="{61E27764-9306-42D4-A33A-6EBFE73E8604}" srcOrd="1" destOrd="0" presId="urn:microsoft.com/office/officeart/2018/2/layout/IconVerticalSolidList"/>
    <dgm:cxn modelId="{A73EE2D2-64E7-4653-AE31-211A2125F9E0}" type="presParOf" srcId="{17C00AD6-32FC-4429-8C2C-5E3C7917CFE8}" destId="{6646C4D2-FBBA-4F7F-9791-0732857EE6C3}" srcOrd="2" destOrd="0" presId="urn:microsoft.com/office/officeart/2018/2/layout/IconVerticalSolidList"/>
    <dgm:cxn modelId="{F066071B-0EC3-497E-9C0F-486AFB5EB40F}" type="presParOf" srcId="{17C00AD6-32FC-4429-8C2C-5E3C7917CFE8}" destId="{679A506C-A684-4EB8-90AC-4E3313D4A0C1}" srcOrd="3" destOrd="0" presId="urn:microsoft.com/office/officeart/2018/2/layout/IconVerticalSolidList"/>
    <dgm:cxn modelId="{5338ABE5-98B9-46BB-B31F-C64244846A31}" type="presParOf" srcId="{A91ED138-BF72-4B6C-82D3-D63D5138D598}" destId="{E4543AC3-040A-4027-A2D2-04628D74B29C}" srcOrd="5" destOrd="0" presId="urn:microsoft.com/office/officeart/2018/2/layout/IconVerticalSolidList"/>
    <dgm:cxn modelId="{E83D600B-2908-4203-BAF1-B49FA164B1A2}" type="presParOf" srcId="{A91ED138-BF72-4B6C-82D3-D63D5138D598}" destId="{A6D3426F-A597-4EF3-9DBD-CE2B46D7BC47}" srcOrd="6" destOrd="0" presId="urn:microsoft.com/office/officeart/2018/2/layout/IconVerticalSolidList"/>
    <dgm:cxn modelId="{C85CEBCD-4FA0-4895-95A3-04C90A0D513D}" type="presParOf" srcId="{A6D3426F-A597-4EF3-9DBD-CE2B46D7BC47}" destId="{4A00895D-63B2-4514-B9E8-15311B263B96}" srcOrd="0" destOrd="0" presId="urn:microsoft.com/office/officeart/2018/2/layout/IconVerticalSolidList"/>
    <dgm:cxn modelId="{058187F5-72E3-4FD7-A7CE-27D6F48E4431}" type="presParOf" srcId="{A6D3426F-A597-4EF3-9DBD-CE2B46D7BC47}" destId="{C94A769C-0079-4205-AE78-9001AE5F19D2}" srcOrd="1" destOrd="0" presId="urn:microsoft.com/office/officeart/2018/2/layout/IconVerticalSolidList"/>
    <dgm:cxn modelId="{DA6C9FAE-3758-4D59-B212-1C8688CAAEAA}" type="presParOf" srcId="{A6D3426F-A597-4EF3-9DBD-CE2B46D7BC47}" destId="{2EB8770D-E38D-42E5-88F4-BD203DFC2CA3}" srcOrd="2" destOrd="0" presId="urn:microsoft.com/office/officeart/2018/2/layout/IconVerticalSolidList"/>
    <dgm:cxn modelId="{F853E40D-2BD1-4968-BC3C-F3E67CC19566}" type="presParOf" srcId="{A6D3426F-A597-4EF3-9DBD-CE2B46D7BC47}" destId="{47564738-968C-4EEB-BCF6-FF798B3BC21F}" srcOrd="3" destOrd="0" presId="urn:microsoft.com/office/officeart/2018/2/layout/IconVerticalSolidList"/>
    <dgm:cxn modelId="{E5B39BEB-17B6-494A-9FA5-588407205719}" type="presParOf" srcId="{A91ED138-BF72-4B6C-82D3-D63D5138D598}" destId="{A106D3D7-77BE-4656-9649-3E06B0921ED4}" srcOrd="7" destOrd="0" presId="urn:microsoft.com/office/officeart/2018/2/layout/IconVerticalSolidList"/>
    <dgm:cxn modelId="{3FBF03B9-294F-4E0B-BE7D-8695ED8C1CEC}" type="presParOf" srcId="{A91ED138-BF72-4B6C-82D3-D63D5138D598}" destId="{CB6A3FE0-E6D6-4F34-B3F0-C97DD9FD71EF}" srcOrd="8" destOrd="0" presId="urn:microsoft.com/office/officeart/2018/2/layout/IconVerticalSolidList"/>
    <dgm:cxn modelId="{084AC60A-71FA-43A0-8577-0B5E85FD7F14}" type="presParOf" srcId="{CB6A3FE0-E6D6-4F34-B3F0-C97DD9FD71EF}" destId="{2F9D4F11-6543-4D57-8F5A-5BA111F9300C}" srcOrd="0" destOrd="0" presId="urn:microsoft.com/office/officeart/2018/2/layout/IconVerticalSolidList"/>
    <dgm:cxn modelId="{CA988B3E-0D4F-46FD-B71E-F51C50C40591}" type="presParOf" srcId="{CB6A3FE0-E6D6-4F34-B3F0-C97DD9FD71EF}" destId="{88044F65-E103-4174-9D09-2B6F457EE5F1}" srcOrd="1" destOrd="0" presId="urn:microsoft.com/office/officeart/2018/2/layout/IconVerticalSolidList"/>
    <dgm:cxn modelId="{C6A61B4C-131B-49DD-A692-38010666BA8B}" type="presParOf" srcId="{CB6A3FE0-E6D6-4F34-B3F0-C97DD9FD71EF}" destId="{7B57EB99-CC80-4851-9628-15C2DA9BFA2D}" srcOrd="2" destOrd="0" presId="urn:microsoft.com/office/officeart/2018/2/layout/IconVerticalSolidList"/>
    <dgm:cxn modelId="{83FC5BAB-2F05-4761-8DEE-95105AF2B55A}" type="presParOf" srcId="{CB6A3FE0-E6D6-4F34-B3F0-C97DD9FD71EF}" destId="{99FE8B19-CB6D-47BC-973E-C8F800EE38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8BDDA48-DBA4-4354-85D6-10D1F707C0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4661E1-DD6B-4408-BD20-98F81FC41F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"/>
            </a:rPr>
            <a:t>Viscosity scales </a:t>
          </a:r>
          <a:r>
            <a:rPr lang="en-US" b="1" dirty="0">
              <a:latin typeface="Aptos"/>
            </a:rPr>
            <a:t>non-linearly</a:t>
          </a:r>
          <a:r>
            <a:rPr lang="en-US" dirty="0">
              <a:latin typeface="Aptos"/>
            </a:rPr>
            <a:t>. Below 25° API, pumping resistance spikes exponentially.</a:t>
          </a:r>
        </a:p>
      </dgm:t>
    </dgm:pt>
    <dgm:pt modelId="{C45DC92B-E168-4E11-9B56-26A824B8A2B4}" type="parTrans" cxnId="{AD3E8E1D-497C-4713-8AE9-DE5DDAABE8FF}">
      <dgm:prSet/>
      <dgm:spPr/>
      <dgm:t>
        <a:bodyPr/>
        <a:lstStyle/>
        <a:p>
          <a:endParaRPr lang="en-US"/>
        </a:p>
      </dgm:t>
    </dgm:pt>
    <dgm:pt modelId="{62292364-9B71-4C7F-A290-0DE9EC295A24}" type="sibTrans" cxnId="{AD3E8E1D-497C-4713-8AE9-DE5DDAABE8FF}">
      <dgm:prSet/>
      <dgm:spPr/>
      <dgm:t>
        <a:bodyPr/>
        <a:lstStyle/>
        <a:p>
          <a:endParaRPr lang="en-US"/>
        </a:p>
      </dgm:t>
    </dgm:pt>
    <dgm:pt modelId="{D68B4437-45B0-464D-A5FE-8B0D25FF32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Aptos"/>
            </a:rPr>
            <a:t>Near-perfect correlation (r &gt; 0.9)</a:t>
          </a:r>
          <a:r>
            <a:rPr lang="en-US" dirty="0">
              <a:latin typeface="Aptos"/>
            </a:rPr>
            <a:t> between Sulfur and Metals (Vanadium/Nickel).</a:t>
          </a:r>
        </a:p>
      </dgm:t>
    </dgm:pt>
    <dgm:pt modelId="{5FD604F8-FC9A-400A-9110-98D016A061D0}" type="parTrans" cxnId="{4C69B0C0-8A37-487C-8E89-45706B5C5D93}">
      <dgm:prSet/>
      <dgm:spPr/>
      <dgm:t>
        <a:bodyPr/>
        <a:lstStyle/>
        <a:p>
          <a:endParaRPr lang="en-US"/>
        </a:p>
      </dgm:t>
    </dgm:pt>
    <dgm:pt modelId="{44C46842-29F8-46BE-855D-69F52934E59F}" type="sibTrans" cxnId="{4C69B0C0-8A37-487C-8E89-45706B5C5D93}">
      <dgm:prSet/>
      <dgm:spPr/>
      <dgm:t>
        <a:bodyPr/>
        <a:lstStyle/>
        <a:p>
          <a:endParaRPr lang="en-US"/>
        </a:p>
      </dgm:t>
    </dgm:pt>
    <dgm:pt modelId="{92ACB7B2-2F23-48BA-B0D3-C6E80169C01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Aptos"/>
            </a:rPr>
            <a:t> "Sour" crude is guaranteed to be "Dirty" (high metal).</a:t>
          </a:r>
        </a:p>
      </dgm:t>
    </dgm:pt>
    <dgm:pt modelId="{26154DBE-534E-4DB9-94D8-712AB7EC34A9}" type="parTrans" cxnId="{AFBA05A6-9982-4217-8783-8A2F43366872}">
      <dgm:prSet/>
      <dgm:spPr/>
      <dgm:t>
        <a:bodyPr/>
        <a:lstStyle/>
        <a:p>
          <a:endParaRPr lang="en-US"/>
        </a:p>
      </dgm:t>
    </dgm:pt>
    <dgm:pt modelId="{7CCEEAE1-1ABF-4B8E-97C1-1819ED0D89B3}" type="sibTrans" cxnId="{AFBA05A6-9982-4217-8783-8A2F43366872}">
      <dgm:prSet/>
      <dgm:spPr/>
      <dgm:t>
        <a:bodyPr/>
        <a:lstStyle/>
        <a:p>
          <a:endParaRPr lang="en-US"/>
        </a:p>
      </dgm:t>
    </dgm:pt>
    <dgm:pt modelId="{BDB88E52-F0E1-486A-B83A-F3C5568B5334}" type="pres">
      <dgm:prSet presAssocID="{38BDDA48-DBA4-4354-85D6-10D1F707C0C7}" presName="root" presStyleCnt="0">
        <dgm:presLayoutVars>
          <dgm:dir/>
          <dgm:resizeHandles val="exact"/>
        </dgm:presLayoutVars>
      </dgm:prSet>
      <dgm:spPr/>
    </dgm:pt>
    <dgm:pt modelId="{E33DF062-A774-40E1-A276-3F960D706731}" type="pres">
      <dgm:prSet presAssocID="{2E4661E1-DD6B-4408-BD20-98F81FC41F04}" presName="compNode" presStyleCnt="0"/>
      <dgm:spPr/>
    </dgm:pt>
    <dgm:pt modelId="{F0529DCD-1202-4A3F-9643-0C1A97129800}" type="pres">
      <dgm:prSet presAssocID="{2E4661E1-DD6B-4408-BD20-98F81FC41F04}" presName="bgRect" presStyleLbl="bgShp" presStyleIdx="0" presStyleCnt="3"/>
      <dgm:spPr/>
    </dgm:pt>
    <dgm:pt modelId="{C621EE9E-96F2-4254-803F-8B569A0B8C63}" type="pres">
      <dgm:prSet presAssocID="{2E4661E1-DD6B-4408-BD20-98F81FC41F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2452C9A6-8796-4E07-953C-A435EF5EF882}" type="pres">
      <dgm:prSet presAssocID="{2E4661E1-DD6B-4408-BD20-98F81FC41F04}" presName="spaceRect" presStyleCnt="0"/>
      <dgm:spPr/>
    </dgm:pt>
    <dgm:pt modelId="{CAA4CF43-25B8-452A-800E-5112C0876968}" type="pres">
      <dgm:prSet presAssocID="{2E4661E1-DD6B-4408-BD20-98F81FC41F04}" presName="parTx" presStyleLbl="revTx" presStyleIdx="0" presStyleCnt="3">
        <dgm:presLayoutVars>
          <dgm:chMax val="0"/>
          <dgm:chPref val="0"/>
        </dgm:presLayoutVars>
      </dgm:prSet>
      <dgm:spPr/>
    </dgm:pt>
    <dgm:pt modelId="{77D3A575-1AFB-4FE3-9AE3-019E893F334F}" type="pres">
      <dgm:prSet presAssocID="{62292364-9B71-4C7F-A290-0DE9EC295A24}" presName="sibTrans" presStyleCnt="0"/>
      <dgm:spPr/>
    </dgm:pt>
    <dgm:pt modelId="{23345131-2E0A-4A20-BDE4-DE4D994F8F0D}" type="pres">
      <dgm:prSet presAssocID="{D68B4437-45B0-464D-A5FE-8B0D25FF32B1}" presName="compNode" presStyleCnt="0"/>
      <dgm:spPr/>
    </dgm:pt>
    <dgm:pt modelId="{7C4C80A9-241A-4E0E-A13B-D927057E35E4}" type="pres">
      <dgm:prSet presAssocID="{D68B4437-45B0-464D-A5FE-8B0D25FF32B1}" presName="bgRect" presStyleLbl="bgShp" presStyleIdx="1" presStyleCnt="3"/>
      <dgm:spPr/>
    </dgm:pt>
    <dgm:pt modelId="{34FD367F-10D4-49FC-9773-47D844751072}" type="pres">
      <dgm:prSet presAssocID="{D68B4437-45B0-464D-A5FE-8B0D25FF32B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mmable"/>
        </a:ext>
      </dgm:extLst>
    </dgm:pt>
    <dgm:pt modelId="{00ADCFFF-6186-4667-84F3-599690B8EA20}" type="pres">
      <dgm:prSet presAssocID="{D68B4437-45B0-464D-A5FE-8B0D25FF32B1}" presName="spaceRect" presStyleCnt="0"/>
      <dgm:spPr/>
    </dgm:pt>
    <dgm:pt modelId="{B4CA89AF-66C2-4D10-985D-A329F1580A0A}" type="pres">
      <dgm:prSet presAssocID="{D68B4437-45B0-464D-A5FE-8B0D25FF32B1}" presName="parTx" presStyleLbl="revTx" presStyleIdx="1" presStyleCnt="3">
        <dgm:presLayoutVars>
          <dgm:chMax val="0"/>
          <dgm:chPref val="0"/>
        </dgm:presLayoutVars>
      </dgm:prSet>
      <dgm:spPr/>
    </dgm:pt>
    <dgm:pt modelId="{FC1C5644-5F21-48DD-B5DD-830A95F8A452}" type="pres">
      <dgm:prSet presAssocID="{44C46842-29F8-46BE-855D-69F52934E59F}" presName="sibTrans" presStyleCnt="0"/>
      <dgm:spPr/>
    </dgm:pt>
    <dgm:pt modelId="{537630E5-283B-424B-B47D-4C68DF974D28}" type="pres">
      <dgm:prSet presAssocID="{92ACB7B2-2F23-48BA-B0D3-C6E80169C018}" presName="compNode" presStyleCnt="0"/>
      <dgm:spPr/>
    </dgm:pt>
    <dgm:pt modelId="{1ACBBF58-1DEE-4AEE-AA3E-E7563253F429}" type="pres">
      <dgm:prSet presAssocID="{92ACB7B2-2F23-48BA-B0D3-C6E80169C018}" presName="bgRect" presStyleLbl="bgShp" presStyleIdx="2" presStyleCnt="3"/>
      <dgm:spPr/>
    </dgm:pt>
    <dgm:pt modelId="{0E29CA87-3558-4423-8704-AB1827701F7B}" type="pres">
      <dgm:prSet presAssocID="{92ACB7B2-2F23-48BA-B0D3-C6E80169C0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17D78F12-3FB2-4191-BA12-5E9F72A6131D}" type="pres">
      <dgm:prSet presAssocID="{92ACB7B2-2F23-48BA-B0D3-C6E80169C018}" presName="spaceRect" presStyleCnt="0"/>
      <dgm:spPr/>
    </dgm:pt>
    <dgm:pt modelId="{3B7A3D11-A6AA-4375-B6C2-AF47549874D4}" type="pres">
      <dgm:prSet presAssocID="{92ACB7B2-2F23-48BA-B0D3-C6E80169C0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3E8E1D-497C-4713-8AE9-DE5DDAABE8FF}" srcId="{38BDDA48-DBA4-4354-85D6-10D1F707C0C7}" destId="{2E4661E1-DD6B-4408-BD20-98F81FC41F04}" srcOrd="0" destOrd="0" parTransId="{C45DC92B-E168-4E11-9B56-26A824B8A2B4}" sibTransId="{62292364-9B71-4C7F-A290-0DE9EC295A24}"/>
    <dgm:cxn modelId="{16A51C35-3221-42C1-8BF5-C72A8D87BA7C}" type="presOf" srcId="{2E4661E1-DD6B-4408-BD20-98F81FC41F04}" destId="{CAA4CF43-25B8-452A-800E-5112C0876968}" srcOrd="0" destOrd="0" presId="urn:microsoft.com/office/officeart/2018/2/layout/IconVerticalSolidList"/>
    <dgm:cxn modelId="{A6867244-9817-441E-9E23-39EA56238F0C}" type="presOf" srcId="{D68B4437-45B0-464D-A5FE-8B0D25FF32B1}" destId="{B4CA89AF-66C2-4D10-985D-A329F1580A0A}" srcOrd="0" destOrd="0" presId="urn:microsoft.com/office/officeart/2018/2/layout/IconVerticalSolidList"/>
    <dgm:cxn modelId="{AFBA05A6-9982-4217-8783-8A2F43366872}" srcId="{38BDDA48-DBA4-4354-85D6-10D1F707C0C7}" destId="{92ACB7B2-2F23-48BA-B0D3-C6E80169C018}" srcOrd="2" destOrd="0" parTransId="{26154DBE-534E-4DB9-94D8-712AB7EC34A9}" sibTransId="{7CCEEAE1-1ABF-4B8E-97C1-1819ED0D89B3}"/>
    <dgm:cxn modelId="{FEA82FBB-874D-4C33-96BC-051BC93E1E86}" type="presOf" srcId="{38BDDA48-DBA4-4354-85D6-10D1F707C0C7}" destId="{BDB88E52-F0E1-486A-B83A-F3C5568B5334}" srcOrd="0" destOrd="0" presId="urn:microsoft.com/office/officeart/2018/2/layout/IconVerticalSolidList"/>
    <dgm:cxn modelId="{4C69B0C0-8A37-487C-8E89-45706B5C5D93}" srcId="{38BDDA48-DBA4-4354-85D6-10D1F707C0C7}" destId="{D68B4437-45B0-464D-A5FE-8B0D25FF32B1}" srcOrd="1" destOrd="0" parTransId="{5FD604F8-FC9A-400A-9110-98D016A061D0}" sibTransId="{44C46842-29F8-46BE-855D-69F52934E59F}"/>
    <dgm:cxn modelId="{AFBB69CA-2887-4917-8CB3-69690F0BA730}" type="presOf" srcId="{92ACB7B2-2F23-48BA-B0D3-C6E80169C018}" destId="{3B7A3D11-A6AA-4375-B6C2-AF47549874D4}" srcOrd="0" destOrd="0" presId="urn:microsoft.com/office/officeart/2018/2/layout/IconVerticalSolidList"/>
    <dgm:cxn modelId="{7478E4BF-CD04-40A6-BD63-45E394E44D36}" type="presParOf" srcId="{BDB88E52-F0E1-486A-B83A-F3C5568B5334}" destId="{E33DF062-A774-40E1-A276-3F960D706731}" srcOrd="0" destOrd="0" presId="urn:microsoft.com/office/officeart/2018/2/layout/IconVerticalSolidList"/>
    <dgm:cxn modelId="{1C8ECE94-6ED2-49B0-8452-89B7928E4B45}" type="presParOf" srcId="{E33DF062-A774-40E1-A276-3F960D706731}" destId="{F0529DCD-1202-4A3F-9643-0C1A97129800}" srcOrd="0" destOrd="0" presId="urn:microsoft.com/office/officeart/2018/2/layout/IconVerticalSolidList"/>
    <dgm:cxn modelId="{71D8B954-6C2A-46B5-A7BC-EA8721D864A1}" type="presParOf" srcId="{E33DF062-A774-40E1-A276-3F960D706731}" destId="{C621EE9E-96F2-4254-803F-8B569A0B8C63}" srcOrd="1" destOrd="0" presId="urn:microsoft.com/office/officeart/2018/2/layout/IconVerticalSolidList"/>
    <dgm:cxn modelId="{482331DC-58D0-4672-B931-9A71EFCFBC1B}" type="presParOf" srcId="{E33DF062-A774-40E1-A276-3F960D706731}" destId="{2452C9A6-8796-4E07-953C-A435EF5EF882}" srcOrd="2" destOrd="0" presId="urn:microsoft.com/office/officeart/2018/2/layout/IconVerticalSolidList"/>
    <dgm:cxn modelId="{D9D958D7-854B-4973-B36E-9656D295437B}" type="presParOf" srcId="{E33DF062-A774-40E1-A276-3F960D706731}" destId="{CAA4CF43-25B8-452A-800E-5112C0876968}" srcOrd="3" destOrd="0" presId="urn:microsoft.com/office/officeart/2018/2/layout/IconVerticalSolidList"/>
    <dgm:cxn modelId="{E5AFD256-83AD-4602-8453-50817574B14A}" type="presParOf" srcId="{BDB88E52-F0E1-486A-B83A-F3C5568B5334}" destId="{77D3A575-1AFB-4FE3-9AE3-019E893F334F}" srcOrd="1" destOrd="0" presId="urn:microsoft.com/office/officeart/2018/2/layout/IconVerticalSolidList"/>
    <dgm:cxn modelId="{6A974E16-FEB1-445D-BA4E-CDB5A8564915}" type="presParOf" srcId="{BDB88E52-F0E1-486A-B83A-F3C5568B5334}" destId="{23345131-2E0A-4A20-BDE4-DE4D994F8F0D}" srcOrd="2" destOrd="0" presId="urn:microsoft.com/office/officeart/2018/2/layout/IconVerticalSolidList"/>
    <dgm:cxn modelId="{B6911B79-E7E0-4B65-8527-8BA3749D4FE9}" type="presParOf" srcId="{23345131-2E0A-4A20-BDE4-DE4D994F8F0D}" destId="{7C4C80A9-241A-4E0E-A13B-D927057E35E4}" srcOrd="0" destOrd="0" presId="urn:microsoft.com/office/officeart/2018/2/layout/IconVerticalSolidList"/>
    <dgm:cxn modelId="{D7EEEA98-6BD1-41EA-91EB-DFB693E6254A}" type="presParOf" srcId="{23345131-2E0A-4A20-BDE4-DE4D994F8F0D}" destId="{34FD367F-10D4-49FC-9773-47D844751072}" srcOrd="1" destOrd="0" presId="urn:microsoft.com/office/officeart/2018/2/layout/IconVerticalSolidList"/>
    <dgm:cxn modelId="{CC50B4B5-1045-48ED-98EE-201A6C988566}" type="presParOf" srcId="{23345131-2E0A-4A20-BDE4-DE4D994F8F0D}" destId="{00ADCFFF-6186-4667-84F3-599690B8EA20}" srcOrd="2" destOrd="0" presId="urn:microsoft.com/office/officeart/2018/2/layout/IconVerticalSolidList"/>
    <dgm:cxn modelId="{18BD0D8F-5D06-4AC0-A2CA-BEFF0F077CB4}" type="presParOf" srcId="{23345131-2E0A-4A20-BDE4-DE4D994F8F0D}" destId="{B4CA89AF-66C2-4D10-985D-A329F1580A0A}" srcOrd="3" destOrd="0" presId="urn:microsoft.com/office/officeart/2018/2/layout/IconVerticalSolidList"/>
    <dgm:cxn modelId="{A7CEC28D-D4EA-40E3-95C5-8A24FC7E1C9C}" type="presParOf" srcId="{BDB88E52-F0E1-486A-B83A-F3C5568B5334}" destId="{FC1C5644-5F21-48DD-B5DD-830A95F8A452}" srcOrd="3" destOrd="0" presId="urn:microsoft.com/office/officeart/2018/2/layout/IconVerticalSolidList"/>
    <dgm:cxn modelId="{19064762-90C6-4520-8079-50490468D66B}" type="presParOf" srcId="{BDB88E52-F0E1-486A-B83A-F3C5568B5334}" destId="{537630E5-283B-424B-B47D-4C68DF974D28}" srcOrd="4" destOrd="0" presId="urn:microsoft.com/office/officeart/2018/2/layout/IconVerticalSolidList"/>
    <dgm:cxn modelId="{903C5E0C-91FD-4C32-996B-89A209931342}" type="presParOf" srcId="{537630E5-283B-424B-B47D-4C68DF974D28}" destId="{1ACBBF58-1DEE-4AEE-AA3E-E7563253F429}" srcOrd="0" destOrd="0" presId="urn:microsoft.com/office/officeart/2018/2/layout/IconVerticalSolidList"/>
    <dgm:cxn modelId="{18150F63-4CEA-47F7-8F97-1AE6352BC354}" type="presParOf" srcId="{537630E5-283B-424B-B47D-4C68DF974D28}" destId="{0E29CA87-3558-4423-8704-AB1827701F7B}" srcOrd="1" destOrd="0" presId="urn:microsoft.com/office/officeart/2018/2/layout/IconVerticalSolidList"/>
    <dgm:cxn modelId="{F045394F-63EE-49D4-AEC5-18DEB980EE31}" type="presParOf" srcId="{537630E5-283B-424B-B47D-4C68DF974D28}" destId="{17D78F12-3FB2-4191-BA12-5E9F72A6131D}" srcOrd="2" destOrd="0" presId="urn:microsoft.com/office/officeart/2018/2/layout/IconVerticalSolidList"/>
    <dgm:cxn modelId="{20EA2275-4AE8-4C86-B0F1-8D850095BE2F}" type="presParOf" srcId="{537630E5-283B-424B-B47D-4C68DF974D28}" destId="{3B7A3D11-A6AA-4375-B6C2-AF47549874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17176E1-121F-4DA2-B0F4-C5F90CEB72F9}" type="doc">
      <dgm:prSet loTypeId="urn:microsoft.com/office/officeart/2016/7/layout/VerticalDownArrowProcess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D2DAA04-8ABF-4AF8-8CFD-1449EC09D0E1}">
      <dgm:prSet/>
      <dgm:spPr/>
      <dgm:t>
        <a:bodyPr/>
        <a:lstStyle/>
        <a:p>
          <a:pPr>
            <a:defRPr b="1"/>
          </a:pPr>
          <a:r>
            <a:rPr lang="en-US" b="1" dirty="0">
              <a:latin typeface="Aptos"/>
            </a:rPr>
            <a:t>Classification (Automated Grading):</a:t>
          </a:r>
          <a:endParaRPr lang="en-US" dirty="0">
            <a:latin typeface="Aptos"/>
          </a:endParaRPr>
        </a:p>
      </dgm:t>
    </dgm:pt>
    <dgm:pt modelId="{338A34A5-27EB-4566-B14C-D3C5C87590F3}" type="parTrans" cxnId="{0CB9FC6A-B1DE-4B31-8315-46C10C5D2257}">
      <dgm:prSet/>
      <dgm:spPr/>
      <dgm:t>
        <a:bodyPr/>
        <a:lstStyle/>
        <a:p>
          <a:endParaRPr lang="en-US"/>
        </a:p>
      </dgm:t>
    </dgm:pt>
    <dgm:pt modelId="{3D31C4B0-F00B-489D-BCB1-5C05A3D4BC2D}" type="sibTrans" cxnId="{0CB9FC6A-B1DE-4B31-8315-46C10C5D2257}">
      <dgm:prSet/>
      <dgm:spPr/>
      <dgm:t>
        <a:bodyPr/>
        <a:lstStyle/>
        <a:p>
          <a:endParaRPr lang="en-US"/>
        </a:p>
      </dgm:t>
    </dgm:pt>
    <dgm:pt modelId="{352B1FAC-AA97-44D1-A80D-FBBA1AE2ACB7}">
      <dgm:prSet/>
      <dgm:spPr/>
      <dgm:t>
        <a:bodyPr/>
        <a:lstStyle/>
        <a:p>
          <a:r>
            <a:rPr lang="en-US" b="1" dirty="0">
              <a:latin typeface="Aptos"/>
            </a:rPr>
            <a:t>Crude Type:</a:t>
          </a:r>
          <a:r>
            <a:rPr lang="en-US" dirty="0">
              <a:latin typeface="Aptos"/>
            </a:rPr>
            <a:t> </a:t>
          </a:r>
          <a:r>
            <a:rPr lang="en-US" b="1" dirty="0">
              <a:latin typeface="Aptos"/>
            </a:rPr>
            <a:t>100% Accuracy</a:t>
          </a:r>
          <a:r>
            <a:rPr lang="en-US" dirty="0">
              <a:latin typeface="Aptos"/>
            </a:rPr>
            <a:t> (Linear SVM). Separated purely by Density &amp; Viscosity.</a:t>
          </a:r>
        </a:p>
      </dgm:t>
    </dgm:pt>
    <dgm:pt modelId="{A0DF9229-6E18-47A9-A1D1-18B5E0D2C515}" type="parTrans" cxnId="{D240FBE7-EA6A-404D-96FA-35352A12DE3B}">
      <dgm:prSet/>
      <dgm:spPr/>
      <dgm:t>
        <a:bodyPr/>
        <a:lstStyle/>
        <a:p>
          <a:endParaRPr lang="en-US"/>
        </a:p>
      </dgm:t>
    </dgm:pt>
    <dgm:pt modelId="{8E8E2D1B-CCB8-458B-9788-E387FCB47F7A}" type="sibTrans" cxnId="{D240FBE7-EA6A-404D-96FA-35352A12DE3B}">
      <dgm:prSet/>
      <dgm:spPr/>
      <dgm:t>
        <a:bodyPr/>
        <a:lstStyle/>
        <a:p>
          <a:endParaRPr lang="en-US"/>
        </a:p>
      </dgm:t>
    </dgm:pt>
    <dgm:pt modelId="{F22ACA88-A01F-4CFB-9EEE-AA4B54E3AE65}">
      <dgm:prSet/>
      <dgm:spPr/>
      <dgm:t>
        <a:bodyPr/>
        <a:lstStyle/>
        <a:p>
          <a:r>
            <a:rPr lang="en-US" b="1" dirty="0">
              <a:latin typeface="Aptos"/>
            </a:rPr>
            <a:t>Sulfur </a:t>
          </a:r>
          <a:r>
            <a:rPr lang="en-US" b="1" dirty="0" err="1">
              <a:latin typeface="Aptos"/>
            </a:rPr>
            <a:t>Flavour</a:t>
          </a:r>
          <a:r>
            <a:rPr lang="en-US" b="1" dirty="0">
              <a:latin typeface="Aptos"/>
            </a:rPr>
            <a:t>:</a:t>
          </a:r>
          <a:r>
            <a:rPr lang="en-US" dirty="0">
              <a:latin typeface="Aptos"/>
            </a:rPr>
            <a:t> </a:t>
          </a:r>
          <a:r>
            <a:rPr lang="en-US" b="1" dirty="0">
              <a:latin typeface="Aptos"/>
            </a:rPr>
            <a:t>~89% Accuracy</a:t>
          </a:r>
          <a:r>
            <a:rPr lang="en-US" dirty="0">
              <a:latin typeface="Aptos"/>
            </a:rPr>
            <a:t> (Logistic Regression). Successfully used Vanadium as a proxy for Sourness.</a:t>
          </a:r>
        </a:p>
      </dgm:t>
    </dgm:pt>
    <dgm:pt modelId="{C6D45C75-2336-46D2-961F-31DE1D8C8781}" type="parTrans" cxnId="{8B6BF43A-09F8-4814-A0EB-78452FDD245E}">
      <dgm:prSet/>
      <dgm:spPr/>
      <dgm:t>
        <a:bodyPr/>
        <a:lstStyle/>
        <a:p>
          <a:endParaRPr lang="en-US"/>
        </a:p>
      </dgm:t>
    </dgm:pt>
    <dgm:pt modelId="{91DA8A58-DA5D-427F-BA39-117E91C547A3}" type="sibTrans" cxnId="{8B6BF43A-09F8-4814-A0EB-78452FDD245E}">
      <dgm:prSet/>
      <dgm:spPr/>
      <dgm:t>
        <a:bodyPr/>
        <a:lstStyle/>
        <a:p>
          <a:endParaRPr lang="en-US"/>
        </a:p>
      </dgm:t>
    </dgm:pt>
    <dgm:pt modelId="{9A2CB184-4BE3-4C98-8A57-D7DC04710714}">
      <dgm:prSet/>
      <dgm:spPr/>
      <dgm:t>
        <a:bodyPr/>
        <a:lstStyle/>
        <a:p>
          <a:pPr>
            <a:defRPr b="1"/>
          </a:pPr>
          <a:r>
            <a:rPr lang="en-US" b="1" dirty="0">
              <a:latin typeface="Aptos"/>
            </a:rPr>
            <a:t>Regression (Property Estimation):</a:t>
          </a:r>
          <a:endParaRPr lang="en-US" dirty="0">
            <a:latin typeface="Aptos"/>
          </a:endParaRPr>
        </a:p>
      </dgm:t>
    </dgm:pt>
    <dgm:pt modelId="{DA3D3BB7-7B1C-46A1-86EA-26201191D7C8}" type="parTrans" cxnId="{4E3C7E4D-D588-4654-AECC-2D28E5915552}">
      <dgm:prSet/>
      <dgm:spPr/>
      <dgm:t>
        <a:bodyPr/>
        <a:lstStyle/>
        <a:p>
          <a:endParaRPr lang="en-US"/>
        </a:p>
      </dgm:t>
    </dgm:pt>
    <dgm:pt modelId="{66088A51-FF09-4464-AEDB-2506B1054630}" type="sibTrans" cxnId="{4E3C7E4D-D588-4654-AECC-2D28E5915552}">
      <dgm:prSet/>
      <dgm:spPr/>
      <dgm:t>
        <a:bodyPr/>
        <a:lstStyle/>
        <a:p>
          <a:endParaRPr lang="en-US"/>
        </a:p>
      </dgm:t>
    </dgm:pt>
    <dgm:pt modelId="{9FA2738A-6FE4-4031-BD26-7AE2317361A2}">
      <dgm:prSet/>
      <dgm:spPr/>
      <dgm:t>
        <a:bodyPr/>
        <a:lstStyle/>
        <a:p>
          <a:r>
            <a:rPr lang="en-US" b="1" dirty="0">
              <a:latin typeface="Aptos"/>
            </a:rPr>
            <a:t>API Gravity:</a:t>
          </a:r>
          <a:r>
            <a:rPr lang="en-US" dirty="0">
              <a:latin typeface="Aptos"/>
            </a:rPr>
            <a:t> </a:t>
          </a:r>
          <a:r>
            <a:rPr lang="en-US" b="1" dirty="0">
              <a:latin typeface="Aptos"/>
            </a:rPr>
            <a:t>R</a:t>
          </a:r>
          <a:r>
            <a:rPr lang="en-US" b="1" baseline="30000" dirty="0">
              <a:latin typeface="Aptos"/>
            </a:rPr>
            <a:t>2 </a:t>
          </a:r>
          <a:r>
            <a:rPr lang="en-US" b="1" dirty="0">
              <a:latin typeface="Aptos"/>
            </a:rPr>
            <a:t>= 0.95</a:t>
          </a:r>
          <a:r>
            <a:rPr lang="en-US" dirty="0">
              <a:latin typeface="Aptos"/>
            </a:rPr>
            <a:t> (Linear SVR). Highly predictable using light hydrocarbon composition.</a:t>
          </a:r>
        </a:p>
      </dgm:t>
    </dgm:pt>
    <dgm:pt modelId="{5FA9D889-B655-4063-BBE2-2D7EF903A6EA}" type="parTrans" cxnId="{5B6CCFDA-0D39-4FE7-A8DC-320BADB3C232}">
      <dgm:prSet/>
      <dgm:spPr/>
      <dgm:t>
        <a:bodyPr/>
        <a:lstStyle/>
        <a:p>
          <a:endParaRPr lang="en-US"/>
        </a:p>
      </dgm:t>
    </dgm:pt>
    <dgm:pt modelId="{7709604E-D098-4C23-BAA9-EE75CA516C79}" type="sibTrans" cxnId="{5B6CCFDA-0D39-4FE7-A8DC-320BADB3C232}">
      <dgm:prSet/>
      <dgm:spPr/>
      <dgm:t>
        <a:bodyPr/>
        <a:lstStyle/>
        <a:p>
          <a:endParaRPr lang="en-US"/>
        </a:p>
      </dgm:t>
    </dgm:pt>
    <dgm:pt modelId="{64032C5D-1563-451C-95CF-BBC14935F5A8}">
      <dgm:prSet/>
      <dgm:spPr/>
      <dgm:t>
        <a:bodyPr/>
        <a:lstStyle/>
        <a:p>
          <a:r>
            <a:rPr lang="en-US" b="1" dirty="0">
              <a:latin typeface="Aptos"/>
            </a:rPr>
            <a:t>Total Sulfur:</a:t>
          </a:r>
          <a:r>
            <a:rPr lang="en-US" dirty="0">
              <a:latin typeface="Aptos"/>
            </a:rPr>
            <a:t> Regression failed (R</a:t>
          </a:r>
          <a:r>
            <a:rPr lang="en-US" baseline="30000" dirty="0">
              <a:latin typeface="Aptos"/>
            </a:rPr>
            <a:t>2</a:t>
          </a:r>
          <a:r>
            <a:rPr lang="en-US" dirty="0">
              <a:latin typeface="Aptos"/>
            </a:rPr>
            <a:t> &lt; 0) due to extreme outliers.</a:t>
          </a:r>
        </a:p>
      </dgm:t>
    </dgm:pt>
    <dgm:pt modelId="{15DC598E-4642-4AE1-AA7A-C4F0BFA28803}" type="parTrans" cxnId="{4DF45D29-E625-4032-BDB9-CD1A12F457F8}">
      <dgm:prSet/>
      <dgm:spPr/>
      <dgm:t>
        <a:bodyPr/>
        <a:lstStyle/>
        <a:p>
          <a:endParaRPr lang="en-US"/>
        </a:p>
      </dgm:t>
    </dgm:pt>
    <dgm:pt modelId="{1B35C63B-EA00-4809-B854-E2B1979D41F6}" type="sibTrans" cxnId="{4DF45D29-E625-4032-BDB9-CD1A12F457F8}">
      <dgm:prSet/>
      <dgm:spPr/>
      <dgm:t>
        <a:bodyPr/>
        <a:lstStyle/>
        <a:p>
          <a:endParaRPr lang="en-US"/>
        </a:p>
      </dgm:t>
    </dgm:pt>
    <dgm:pt modelId="{6BFA443B-0C3D-441F-A496-64CD1AD2DBB3}">
      <dgm:prSet/>
      <dgm:spPr/>
      <dgm:t>
        <a:bodyPr/>
        <a:lstStyle/>
        <a:p>
          <a:r>
            <a:rPr lang="en-US" b="1">
              <a:latin typeface="Aptos"/>
            </a:rPr>
            <a:t>Takeaway:</a:t>
          </a:r>
          <a:r>
            <a:rPr lang="en-US">
              <a:latin typeface="Aptos"/>
            </a:rPr>
            <a:t> Classifying sulfur risk (High/Low) is safer than predicting exact percentages.</a:t>
          </a:r>
        </a:p>
      </dgm:t>
    </dgm:pt>
    <dgm:pt modelId="{43266DD8-F4EE-4539-8017-37A333E68ADF}" type="parTrans" cxnId="{F66A23CB-9FD7-479F-A423-A46370B03F74}">
      <dgm:prSet/>
      <dgm:spPr/>
      <dgm:t>
        <a:bodyPr/>
        <a:lstStyle/>
        <a:p>
          <a:endParaRPr lang="en-US"/>
        </a:p>
      </dgm:t>
    </dgm:pt>
    <dgm:pt modelId="{D02B2A93-4095-419F-9478-A7954CA104B6}" type="sibTrans" cxnId="{F66A23CB-9FD7-479F-A423-A46370B03F74}">
      <dgm:prSet/>
      <dgm:spPr/>
      <dgm:t>
        <a:bodyPr/>
        <a:lstStyle/>
        <a:p>
          <a:endParaRPr lang="en-US"/>
        </a:p>
      </dgm:t>
    </dgm:pt>
    <dgm:pt modelId="{D248D45F-9CE0-4E8E-A2CF-6EE6E4D91756}" type="pres">
      <dgm:prSet presAssocID="{017176E1-121F-4DA2-B0F4-C5F90CEB72F9}" presName="Name0" presStyleCnt="0">
        <dgm:presLayoutVars>
          <dgm:dir/>
          <dgm:animLvl val="lvl"/>
          <dgm:resizeHandles val="exact"/>
        </dgm:presLayoutVars>
      </dgm:prSet>
      <dgm:spPr/>
    </dgm:pt>
    <dgm:pt modelId="{C4A16B1A-6860-4487-895B-B530D091C0B6}" type="pres">
      <dgm:prSet presAssocID="{9A2CB184-4BE3-4C98-8A57-D7DC04710714}" presName="boxAndChildren" presStyleCnt="0"/>
      <dgm:spPr/>
    </dgm:pt>
    <dgm:pt modelId="{FA957F6C-128E-4E0C-8CD8-A0E4B15360FB}" type="pres">
      <dgm:prSet presAssocID="{9A2CB184-4BE3-4C98-8A57-D7DC04710714}" presName="parentTextBox" presStyleLbl="alignNode1" presStyleIdx="0" presStyleCnt="2"/>
      <dgm:spPr/>
    </dgm:pt>
    <dgm:pt modelId="{B4D94DE9-BC5A-49F6-8B01-FC843DD773A8}" type="pres">
      <dgm:prSet presAssocID="{9A2CB184-4BE3-4C98-8A57-D7DC04710714}" presName="descendantBox" presStyleLbl="bgAccFollowNode1" presStyleIdx="0" presStyleCnt="2"/>
      <dgm:spPr/>
    </dgm:pt>
    <dgm:pt modelId="{738D4023-96D0-42B8-A313-D8E1B1A8294B}" type="pres">
      <dgm:prSet presAssocID="{3D31C4B0-F00B-489D-BCB1-5C05A3D4BC2D}" presName="sp" presStyleCnt="0"/>
      <dgm:spPr/>
    </dgm:pt>
    <dgm:pt modelId="{30092F23-82C6-4287-AB12-FFA77A797A7D}" type="pres">
      <dgm:prSet presAssocID="{6D2DAA04-8ABF-4AF8-8CFD-1449EC09D0E1}" presName="arrowAndChildren" presStyleCnt="0"/>
      <dgm:spPr/>
    </dgm:pt>
    <dgm:pt modelId="{461C95FA-6D38-49C5-BB27-C256E45D2581}" type="pres">
      <dgm:prSet presAssocID="{6D2DAA04-8ABF-4AF8-8CFD-1449EC09D0E1}" presName="parentTextArrow" presStyleLbl="node1" presStyleIdx="0" presStyleCnt="0"/>
      <dgm:spPr/>
    </dgm:pt>
    <dgm:pt modelId="{24F7D9DC-5A04-46AE-B447-2D844475316E}" type="pres">
      <dgm:prSet presAssocID="{6D2DAA04-8ABF-4AF8-8CFD-1449EC09D0E1}" presName="arrow" presStyleLbl="alignNode1" presStyleIdx="1" presStyleCnt="2"/>
      <dgm:spPr/>
    </dgm:pt>
    <dgm:pt modelId="{104D8581-7944-4C38-80A4-3BC1C33E033E}" type="pres">
      <dgm:prSet presAssocID="{6D2DAA04-8ABF-4AF8-8CFD-1449EC09D0E1}" presName="descendantArrow" presStyleLbl="bgAccFollowNode1" presStyleIdx="1" presStyleCnt="2"/>
      <dgm:spPr/>
    </dgm:pt>
  </dgm:ptLst>
  <dgm:cxnLst>
    <dgm:cxn modelId="{DD3B4216-00A5-48E2-84E6-325C318C4082}" type="presOf" srcId="{6D2DAA04-8ABF-4AF8-8CFD-1449EC09D0E1}" destId="{461C95FA-6D38-49C5-BB27-C256E45D2581}" srcOrd="0" destOrd="0" presId="urn:microsoft.com/office/officeart/2016/7/layout/VerticalDownArrowProcess"/>
    <dgm:cxn modelId="{FF9B1719-E678-47C3-A8E9-439A95A915DB}" type="presOf" srcId="{64032C5D-1563-451C-95CF-BBC14935F5A8}" destId="{B4D94DE9-BC5A-49F6-8B01-FC843DD773A8}" srcOrd="0" destOrd="1" presId="urn:microsoft.com/office/officeart/2016/7/layout/VerticalDownArrowProcess"/>
    <dgm:cxn modelId="{4DF45D29-E625-4032-BDB9-CD1A12F457F8}" srcId="{9A2CB184-4BE3-4C98-8A57-D7DC04710714}" destId="{64032C5D-1563-451C-95CF-BBC14935F5A8}" srcOrd="1" destOrd="0" parTransId="{15DC598E-4642-4AE1-AA7A-C4F0BFA28803}" sibTransId="{1B35C63B-EA00-4809-B854-E2B1979D41F6}"/>
    <dgm:cxn modelId="{1DD8A031-A8A1-4A1F-97BB-483E984B5D83}" type="presOf" srcId="{352B1FAC-AA97-44D1-A80D-FBBA1AE2ACB7}" destId="{104D8581-7944-4C38-80A4-3BC1C33E033E}" srcOrd="0" destOrd="0" presId="urn:microsoft.com/office/officeart/2016/7/layout/VerticalDownArrowProcess"/>
    <dgm:cxn modelId="{8B6BF43A-09F8-4814-A0EB-78452FDD245E}" srcId="{6D2DAA04-8ABF-4AF8-8CFD-1449EC09D0E1}" destId="{F22ACA88-A01F-4CFB-9EEE-AA4B54E3AE65}" srcOrd="1" destOrd="0" parTransId="{C6D45C75-2336-46D2-961F-31DE1D8C8781}" sibTransId="{91DA8A58-DA5D-427F-BA39-117E91C547A3}"/>
    <dgm:cxn modelId="{0CB9FC6A-B1DE-4B31-8315-46C10C5D2257}" srcId="{017176E1-121F-4DA2-B0F4-C5F90CEB72F9}" destId="{6D2DAA04-8ABF-4AF8-8CFD-1449EC09D0E1}" srcOrd="0" destOrd="0" parTransId="{338A34A5-27EB-4566-B14C-D3C5C87590F3}" sibTransId="{3D31C4B0-F00B-489D-BCB1-5C05A3D4BC2D}"/>
    <dgm:cxn modelId="{4E3C7E4D-D588-4654-AECC-2D28E5915552}" srcId="{017176E1-121F-4DA2-B0F4-C5F90CEB72F9}" destId="{9A2CB184-4BE3-4C98-8A57-D7DC04710714}" srcOrd="1" destOrd="0" parTransId="{DA3D3BB7-7B1C-46A1-86EA-26201191D7C8}" sibTransId="{66088A51-FF09-4464-AEDB-2506B1054630}"/>
    <dgm:cxn modelId="{C7D0C050-FAE6-404A-A2A1-73B51D29657A}" type="presOf" srcId="{017176E1-121F-4DA2-B0F4-C5F90CEB72F9}" destId="{D248D45F-9CE0-4E8E-A2CF-6EE6E4D91756}" srcOrd="0" destOrd="0" presId="urn:microsoft.com/office/officeart/2016/7/layout/VerticalDownArrowProcess"/>
    <dgm:cxn modelId="{7DA8DA51-71D1-439C-ACF9-46FF993643F4}" type="presOf" srcId="{9A2CB184-4BE3-4C98-8A57-D7DC04710714}" destId="{FA957F6C-128E-4E0C-8CD8-A0E4B15360FB}" srcOrd="0" destOrd="0" presId="urn:microsoft.com/office/officeart/2016/7/layout/VerticalDownArrowProcess"/>
    <dgm:cxn modelId="{24E9D058-44DA-40AF-85C4-96D48811E0CD}" type="presOf" srcId="{F22ACA88-A01F-4CFB-9EEE-AA4B54E3AE65}" destId="{104D8581-7944-4C38-80A4-3BC1C33E033E}" srcOrd="0" destOrd="1" presId="urn:microsoft.com/office/officeart/2016/7/layout/VerticalDownArrowProcess"/>
    <dgm:cxn modelId="{0086729C-828A-4DFB-AAC1-BC9A90A65AAC}" type="presOf" srcId="{6D2DAA04-8ABF-4AF8-8CFD-1449EC09D0E1}" destId="{24F7D9DC-5A04-46AE-B447-2D844475316E}" srcOrd="1" destOrd="0" presId="urn:microsoft.com/office/officeart/2016/7/layout/VerticalDownArrowProcess"/>
    <dgm:cxn modelId="{F66A23CB-9FD7-479F-A423-A46370B03F74}" srcId="{9A2CB184-4BE3-4C98-8A57-D7DC04710714}" destId="{6BFA443B-0C3D-441F-A496-64CD1AD2DBB3}" srcOrd="2" destOrd="0" parTransId="{43266DD8-F4EE-4539-8017-37A333E68ADF}" sibTransId="{D02B2A93-4095-419F-9478-A7954CA104B6}"/>
    <dgm:cxn modelId="{8D1869D3-2CCE-4149-B5F5-11F8CB420E4C}" type="presOf" srcId="{6BFA443B-0C3D-441F-A496-64CD1AD2DBB3}" destId="{B4D94DE9-BC5A-49F6-8B01-FC843DD773A8}" srcOrd="0" destOrd="2" presId="urn:microsoft.com/office/officeart/2016/7/layout/VerticalDownArrowProcess"/>
    <dgm:cxn modelId="{5B6CCFDA-0D39-4FE7-A8DC-320BADB3C232}" srcId="{9A2CB184-4BE3-4C98-8A57-D7DC04710714}" destId="{9FA2738A-6FE4-4031-BD26-7AE2317361A2}" srcOrd="0" destOrd="0" parTransId="{5FA9D889-B655-4063-BBE2-2D7EF903A6EA}" sibTransId="{7709604E-D098-4C23-BAA9-EE75CA516C79}"/>
    <dgm:cxn modelId="{E568ECE1-D490-4949-8C43-7AEE1B8FD0E6}" type="presOf" srcId="{9FA2738A-6FE4-4031-BD26-7AE2317361A2}" destId="{B4D94DE9-BC5A-49F6-8B01-FC843DD773A8}" srcOrd="0" destOrd="0" presId="urn:microsoft.com/office/officeart/2016/7/layout/VerticalDownArrowProcess"/>
    <dgm:cxn modelId="{D240FBE7-EA6A-404D-96FA-35352A12DE3B}" srcId="{6D2DAA04-8ABF-4AF8-8CFD-1449EC09D0E1}" destId="{352B1FAC-AA97-44D1-A80D-FBBA1AE2ACB7}" srcOrd="0" destOrd="0" parTransId="{A0DF9229-6E18-47A9-A1D1-18B5E0D2C515}" sibTransId="{8E8E2D1B-CCB8-458B-9788-E387FCB47F7A}"/>
    <dgm:cxn modelId="{4F3EA595-B23F-4DFF-8844-212F2DEED0F1}" type="presParOf" srcId="{D248D45F-9CE0-4E8E-A2CF-6EE6E4D91756}" destId="{C4A16B1A-6860-4487-895B-B530D091C0B6}" srcOrd="0" destOrd="0" presId="urn:microsoft.com/office/officeart/2016/7/layout/VerticalDownArrowProcess"/>
    <dgm:cxn modelId="{0DA2779A-11FA-42A8-8924-11EF8DFFD459}" type="presParOf" srcId="{C4A16B1A-6860-4487-895B-B530D091C0B6}" destId="{FA957F6C-128E-4E0C-8CD8-A0E4B15360FB}" srcOrd="0" destOrd="0" presId="urn:microsoft.com/office/officeart/2016/7/layout/VerticalDownArrowProcess"/>
    <dgm:cxn modelId="{DAD02183-DD16-4A81-903D-8B968D97499F}" type="presParOf" srcId="{C4A16B1A-6860-4487-895B-B530D091C0B6}" destId="{B4D94DE9-BC5A-49F6-8B01-FC843DD773A8}" srcOrd="1" destOrd="0" presId="urn:microsoft.com/office/officeart/2016/7/layout/VerticalDownArrowProcess"/>
    <dgm:cxn modelId="{71F7CB33-2AD9-4CC9-ACDC-D5DB3D3939C6}" type="presParOf" srcId="{D248D45F-9CE0-4E8E-A2CF-6EE6E4D91756}" destId="{738D4023-96D0-42B8-A313-D8E1B1A8294B}" srcOrd="1" destOrd="0" presId="urn:microsoft.com/office/officeart/2016/7/layout/VerticalDownArrowProcess"/>
    <dgm:cxn modelId="{760A6442-C154-4395-A620-515E43D5DECB}" type="presParOf" srcId="{D248D45F-9CE0-4E8E-A2CF-6EE6E4D91756}" destId="{30092F23-82C6-4287-AB12-FFA77A797A7D}" srcOrd="2" destOrd="0" presId="urn:microsoft.com/office/officeart/2016/7/layout/VerticalDownArrowProcess"/>
    <dgm:cxn modelId="{0A3C0A9B-D9B8-46B3-A004-49B78870BBD0}" type="presParOf" srcId="{30092F23-82C6-4287-AB12-FFA77A797A7D}" destId="{461C95FA-6D38-49C5-BB27-C256E45D2581}" srcOrd="0" destOrd="0" presId="urn:microsoft.com/office/officeart/2016/7/layout/VerticalDownArrowProcess"/>
    <dgm:cxn modelId="{BE699D3E-8D31-47AD-B473-5B161849D6BD}" type="presParOf" srcId="{30092F23-82C6-4287-AB12-FFA77A797A7D}" destId="{24F7D9DC-5A04-46AE-B447-2D844475316E}" srcOrd="1" destOrd="0" presId="urn:microsoft.com/office/officeart/2016/7/layout/VerticalDownArrowProcess"/>
    <dgm:cxn modelId="{FF3648B0-E64E-4F8C-BE9B-828A01E4924F}" type="presParOf" srcId="{30092F23-82C6-4287-AB12-FFA77A797A7D}" destId="{104D8581-7944-4C38-80A4-3BC1C33E033E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94B223F-0078-4844-873D-7E0D54D44B55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D37372D-4859-4FB4-96B6-B94782DC41FD}">
      <dgm:prSet/>
      <dgm:spPr/>
      <dgm:t>
        <a:bodyPr/>
        <a:lstStyle/>
        <a:p>
          <a:pPr>
            <a:defRPr b="1"/>
          </a:pPr>
          <a:r>
            <a:rPr lang="en-US" b="1" dirty="0"/>
            <a:t>Method:</a:t>
          </a:r>
          <a:r>
            <a:rPr lang="en-US" dirty="0"/>
            <a:t> K-Means Clustering (Blind / No Labels).</a:t>
          </a:r>
        </a:p>
      </dgm:t>
    </dgm:pt>
    <dgm:pt modelId="{ADB60296-2A98-4D20-AC9A-1D5F02A8C09B}" type="parTrans" cxnId="{6F56F988-006A-4665-813D-FDFDBFF5B2DD}">
      <dgm:prSet/>
      <dgm:spPr/>
      <dgm:t>
        <a:bodyPr/>
        <a:lstStyle/>
        <a:p>
          <a:endParaRPr lang="en-US"/>
        </a:p>
      </dgm:t>
    </dgm:pt>
    <dgm:pt modelId="{42252C73-611C-4ABE-884F-8530796BF868}" type="sibTrans" cxnId="{6F56F988-006A-4665-813D-FDFDBFF5B2DD}">
      <dgm:prSet/>
      <dgm:spPr/>
      <dgm:t>
        <a:bodyPr/>
        <a:lstStyle/>
        <a:p>
          <a:endParaRPr lang="en-US"/>
        </a:p>
      </dgm:t>
    </dgm:pt>
    <dgm:pt modelId="{8E6132AA-AA15-4EEF-86C0-98F94CB7FE1E}">
      <dgm:prSet/>
      <dgm:spPr/>
      <dgm:t>
        <a:bodyPr/>
        <a:lstStyle/>
        <a:p>
          <a:pPr>
            <a:defRPr b="1"/>
          </a:pPr>
          <a:r>
            <a:rPr lang="en-US" dirty="0"/>
            <a:t>Discovered </a:t>
          </a:r>
          <a:r>
            <a:rPr lang="en-US" b="1" dirty="0"/>
            <a:t>3 Natural Groups</a:t>
          </a:r>
          <a:r>
            <a:rPr lang="en-US" dirty="0"/>
            <a:t> that match physical reality</a:t>
          </a:r>
        </a:p>
      </dgm:t>
    </dgm:pt>
    <dgm:pt modelId="{566C3DEF-4BB6-49B6-AE8D-98ED34A500A7}" type="parTrans" cxnId="{8222413B-A9BD-429D-B326-9C74B30F7621}">
      <dgm:prSet/>
      <dgm:spPr/>
      <dgm:t>
        <a:bodyPr/>
        <a:lstStyle/>
        <a:p>
          <a:endParaRPr lang="en-US"/>
        </a:p>
      </dgm:t>
    </dgm:pt>
    <dgm:pt modelId="{5D435BDC-7FFB-4EAE-9101-A7CDE699E811}" type="sibTrans" cxnId="{8222413B-A9BD-429D-B326-9C74B30F7621}">
      <dgm:prSet/>
      <dgm:spPr/>
      <dgm:t>
        <a:bodyPr/>
        <a:lstStyle/>
        <a:p>
          <a:endParaRPr lang="en-US"/>
        </a:p>
      </dgm:t>
    </dgm:pt>
    <dgm:pt modelId="{9E449767-C3B5-4290-AD68-03672E38F8AF}">
      <dgm:prSet/>
      <dgm:spPr/>
      <dgm:t>
        <a:bodyPr/>
        <a:lstStyle/>
        <a:p>
          <a:r>
            <a:rPr lang="en-US" b="1" dirty="0"/>
            <a:t>Cluster 0:</a:t>
          </a:r>
          <a:r>
            <a:rPr lang="en-US" dirty="0"/>
            <a:t> Super-Light Condensates (API ~59°).</a:t>
          </a:r>
        </a:p>
      </dgm:t>
    </dgm:pt>
    <dgm:pt modelId="{E671910D-226A-4918-91C7-88D00A2F5208}" type="parTrans" cxnId="{1700EB9A-6A56-439C-BEF1-080B44247411}">
      <dgm:prSet/>
      <dgm:spPr/>
      <dgm:t>
        <a:bodyPr/>
        <a:lstStyle/>
        <a:p>
          <a:endParaRPr lang="en-US"/>
        </a:p>
      </dgm:t>
    </dgm:pt>
    <dgm:pt modelId="{FA153060-3F6A-45EA-967A-4F23B71312E9}" type="sibTrans" cxnId="{1700EB9A-6A56-439C-BEF1-080B44247411}">
      <dgm:prSet/>
      <dgm:spPr/>
      <dgm:t>
        <a:bodyPr/>
        <a:lstStyle/>
        <a:p>
          <a:endParaRPr lang="en-US"/>
        </a:p>
      </dgm:t>
    </dgm:pt>
    <dgm:pt modelId="{E1D08BD4-54A3-4CD0-86CF-C5EF78902000}">
      <dgm:prSet/>
      <dgm:spPr/>
      <dgm:t>
        <a:bodyPr/>
        <a:lstStyle/>
        <a:p>
          <a:r>
            <a:rPr lang="en-US" b="1" dirty="0"/>
            <a:t>Cluster 1:</a:t>
          </a:r>
          <a:r>
            <a:rPr lang="en-US" dirty="0"/>
            <a:t> Standard Baseload (API ~35°).</a:t>
          </a:r>
        </a:p>
      </dgm:t>
    </dgm:pt>
    <dgm:pt modelId="{FCD73A96-F00C-413F-986E-656105195A84}" type="parTrans" cxnId="{0C0695B1-FE6D-4772-B258-3969BBB89B33}">
      <dgm:prSet/>
      <dgm:spPr/>
      <dgm:t>
        <a:bodyPr/>
        <a:lstStyle/>
        <a:p>
          <a:endParaRPr lang="en-US"/>
        </a:p>
      </dgm:t>
    </dgm:pt>
    <dgm:pt modelId="{46707D76-CC33-4C34-B6A9-DC4AB1EC421E}" type="sibTrans" cxnId="{0C0695B1-FE6D-4772-B258-3969BBB89B33}">
      <dgm:prSet/>
      <dgm:spPr/>
      <dgm:t>
        <a:bodyPr/>
        <a:lstStyle/>
        <a:p>
          <a:endParaRPr lang="en-US"/>
        </a:p>
      </dgm:t>
    </dgm:pt>
    <dgm:pt modelId="{DE8BF2F8-1B99-40D1-917A-2318BE2EED82}">
      <dgm:prSet/>
      <dgm:spPr/>
      <dgm:t>
        <a:bodyPr/>
        <a:lstStyle/>
        <a:p>
          <a:r>
            <a:rPr lang="en-US" b="1" dirty="0"/>
            <a:t>Cluster 2:</a:t>
          </a:r>
          <a:r>
            <a:rPr lang="en-US" dirty="0"/>
            <a:t> Heavy/Sour Outliers (API ~22°, High Metals).</a:t>
          </a:r>
        </a:p>
      </dgm:t>
    </dgm:pt>
    <dgm:pt modelId="{FFF9A3B4-385C-47F8-93F0-C0CEB1523136}" type="parTrans" cxnId="{B2BF7896-0E3A-431F-BB70-997AB55CCE88}">
      <dgm:prSet/>
      <dgm:spPr/>
      <dgm:t>
        <a:bodyPr/>
        <a:lstStyle/>
        <a:p>
          <a:endParaRPr lang="en-US"/>
        </a:p>
      </dgm:t>
    </dgm:pt>
    <dgm:pt modelId="{1EE4DAB6-3D1F-48DF-AA7B-D5E34BF63336}" type="sibTrans" cxnId="{B2BF7896-0E3A-431F-BB70-997AB55CCE88}">
      <dgm:prSet/>
      <dgm:spPr/>
      <dgm:t>
        <a:bodyPr/>
        <a:lstStyle/>
        <a:p>
          <a:endParaRPr lang="en-US"/>
        </a:p>
      </dgm:t>
    </dgm:pt>
    <dgm:pt modelId="{298882F7-87BE-4EEA-BF9B-EFFCD0809F8B}">
      <dgm:prSet/>
      <dgm:spPr/>
      <dgm:t>
        <a:bodyPr/>
        <a:lstStyle/>
        <a:p>
          <a:pPr>
            <a:defRPr b="1"/>
          </a:pPr>
          <a:r>
            <a:rPr lang="en-US" dirty="0"/>
            <a:t>Confirmed that "Condensates" are a distinct, premium asset class.</a:t>
          </a:r>
        </a:p>
      </dgm:t>
    </dgm:pt>
    <dgm:pt modelId="{A2C5D332-AA04-4E28-A1F0-964E18261651}" type="parTrans" cxnId="{E6EECEE0-163F-47FA-9532-8D8AFA866D4B}">
      <dgm:prSet/>
      <dgm:spPr/>
      <dgm:t>
        <a:bodyPr/>
        <a:lstStyle/>
        <a:p>
          <a:endParaRPr lang="en-US"/>
        </a:p>
      </dgm:t>
    </dgm:pt>
    <dgm:pt modelId="{86D80CB1-6639-4EE5-ACD4-2BAFE28D4AB2}" type="sibTrans" cxnId="{E6EECEE0-163F-47FA-9532-8D8AFA866D4B}">
      <dgm:prSet/>
      <dgm:spPr/>
      <dgm:t>
        <a:bodyPr/>
        <a:lstStyle/>
        <a:p>
          <a:endParaRPr lang="en-US"/>
        </a:p>
      </dgm:t>
    </dgm:pt>
    <dgm:pt modelId="{6604857B-1B09-4C36-B623-5D87DDA198B2}" type="pres">
      <dgm:prSet presAssocID="{C94B223F-0078-4844-873D-7E0D54D44B55}" presName="Name0" presStyleCnt="0">
        <dgm:presLayoutVars>
          <dgm:dir/>
          <dgm:animLvl val="lvl"/>
          <dgm:resizeHandles val="exact"/>
        </dgm:presLayoutVars>
      </dgm:prSet>
      <dgm:spPr/>
    </dgm:pt>
    <dgm:pt modelId="{4731CA99-1766-49EC-95A8-4DFCD50F6D72}" type="pres">
      <dgm:prSet presAssocID="{5D37372D-4859-4FB4-96B6-B94782DC41FD}" presName="linNode" presStyleCnt="0"/>
      <dgm:spPr/>
    </dgm:pt>
    <dgm:pt modelId="{98CECC0D-0030-48A9-AC63-D9EBA3E2E96E}" type="pres">
      <dgm:prSet presAssocID="{5D37372D-4859-4FB4-96B6-B94782DC41F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D18A8FC-00FF-4025-B9E3-BC498F0203FE}" type="pres">
      <dgm:prSet presAssocID="{42252C73-611C-4ABE-884F-8530796BF868}" presName="sp" presStyleCnt="0"/>
      <dgm:spPr/>
    </dgm:pt>
    <dgm:pt modelId="{01EB2F89-7551-4404-A9F4-073FB6647D35}" type="pres">
      <dgm:prSet presAssocID="{8E6132AA-AA15-4EEF-86C0-98F94CB7FE1E}" presName="linNode" presStyleCnt="0"/>
      <dgm:spPr/>
    </dgm:pt>
    <dgm:pt modelId="{F1152BCE-5FF1-451A-9706-4C7B0BFF7C9A}" type="pres">
      <dgm:prSet presAssocID="{8E6132AA-AA15-4EEF-86C0-98F94CB7FE1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8FC6A2E-6C97-4870-938D-D6AC44D73317}" type="pres">
      <dgm:prSet presAssocID="{8E6132AA-AA15-4EEF-86C0-98F94CB7FE1E}" presName="descendantText" presStyleLbl="alignAccFollowNode1" presStyleIdx="0" presStyleCnt="1">
        <dgm:presLayoutVars>
          <dgm:bulletEnabled val="1"/>
        </dgm:presLayoutVars>
      </dgm:prSet>
      <dgm:spPr/>
    </dgm:pt>
    <dgm:pt modelId="{FF0D151A-3A82-4B08-BC3E-C9BF1C686993}" type="pres">
      <dgm:prSet presAssocID="{5D435BDC-7FFB-4EAE-9101-A7CDE699E811}" presName="sp" presStyleCnt="0"/>
      <dgm:spPr/>
    </dgm:pt>
    <dgm:pt modelId="{96900CB8-5FB1-4DD2-A6F3-E04EF2C6A6CA}" type="pres">
      <dgm:prSet presAssocID="{298882F7-87BE-4EEA-BF9B-EFFCD0809F8B}" presName="linNode" presStyleCnt="0"/>
      <dgm:spPr/>
    </dgm:pt>
    <dgm:pt modelId="{C1A8E37A-57A1-4EC4-BEE5-77D441FA5445}" type="pres">
      <dgm:prSet presAssocID="{298882F7-87BE-4EEA-BF9B-EFFCD0809F8B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1A444C0C-85DC-47C2-A7AB-14597D925C6E}" type="presOf" srcId="{C94B223F-0078-4844-873D-7E0D54D44B55}" destId="{6604857B-1B09-4C36-B623-5D87DDA198B2}" srcOrd="0" destOrd="0" presId="urn:microsoft.com/office/officeart/2005/8/layout/vList5"/>
    <dgm:cxn modelId="{8222413B-A9BD-429D-B326-9C74B30F7621}" srcId="{C94B223F-0078-4844-873D-7E0D54D44B55}" destId="{8E6132AA-AA15-4EEF-86C0-98F94CB7FE1E}" srcOrd="1" destOrd="0" parTransId="{566C3DEF-4BB6-49B6-AE8D-98ED34A500A7}" sibTransId="{5D435BDC-7FFB-4EAE-9101-A7CDE699E811}"/>
    <dgm:cxn modelId="{07C6237A-043F-40F0-B5FD-672C4AB8B34E}" type="presOf" srcId="{DE8BF2F8-1B99-40D1-917A-2318BE2EED82}" destId="{E8FC6A2E-6C97-4870-938D-D6AC44D73317}" srcOrd="0" destOrd="2" presId="urn:microsoft.com/office/officeart/2005/8/layout/vList5"/>
    <dgm:cxn modelId="{6F56F988-006A-4665-813D-FDFDBFF5B2DD}" srcId="{C94B223F-0078-4844-873D-7E0D54D44B55}" destId="{5D37372D-4859-4FB4-96B6-B94782DC41FD}" srcOrd="0" destOrd="0" parTransId="{ADB60296-2A98-4D20-AC9A-1D5F02A8C09B}" sibTransId="{42252C73-611C-4ABE-884F-8530796BF868}"/>
    <dgm:cxn modelId="{7048E78E-A238-475B-97EA-EEB321D93765}" type="presOf" srcId="{E1D08BD4-54A3-4CD0-86CF-C5EF78902000}" destId="{E8FC6A2E-6C97-4870-938D-D6AC44D73317}" srcOrd="0" destOrd="1" presId="urn:microsoft.com/office/officeart/2005/8/layout/vList5"/>
    <dgm:cxn modelId="{B2BF7896-0E3A-431F-BB70-997AB55CCE88}" srcId="{8E6132AA-AA15-4EEF-86C0-98F94CB7FE1E}" destId="{DE8BF2F8-1B99-40D1-917A-2318BE2EED82}" srcOrd="2" destOrd="0" parTransId="{FFF9A3B4-385C-47F8-93F0-C0CEB1523136}" sibTransId="{1EE4DAB6-3D1F-48DF-AA7B-D5E34BF63336}"/>
    <dgm:cxn modelId="{1700EB9A-6A56-439C-BEF1-080B44247411}" srcId="{8E6132AA-AA15-4EEF-86C0-98F94CB7FE1E}" destId="{9E449767-C3B5-4290-AD68-03672E38F8AF}" srcOrd="0" destOrd="0" parTransId="{E671910D-226A-4918-91C7-88D00A2F5208}" sibTransId="{FA153060-3F6A-45EA-967A-4F23B71312E9}"/>
    <dgm:cxn modelId="{0C0695B1-FE6D-4772-B258-3969BBB89B33}" srcId="{8E6132AA-AA15-4EEF-86C0-98F94CB7FE1E}" destId="{E1D08BD4-54A3-4CD0-86CF-C5EF78902000}" srcOrd="1" destOrd="0" parTransId="{FCD73A96-F00C-413F-986E-656105195A84}" sibTransId="{46707D76-CC33-4C34-B6A9-DC4AB1EC421E}"/>
    <dgm:cxn modelId="{6279D1D8-262B-4CA0-835E-AE39219444DA}" type="presOf" srcId="{5D37372D-4859-4FB4-96B6-B94782DC41FD}" destId="{98CECC0D-0030-48A9-AC63-D9EBA3E2E96E}" srcOrd="0" destOrd="0" presId="urn:microsoft.com/office/officeart/2005/8/layout/vList5"/>
    <dgm:cxn modelId="{8C45CDDF-09CF-43CC-9558-2DD8CAD45FD1}" type="presOf" srcId="{8E6132AA-AA15-4EEF-86C0-98F94CB7FE1E}" destId="{F1152BCE-5FF1-451A-9706-4C7B0BFF7C9A}" srcOrd="0" destOrd="0" presId="urn:microsoft.com/office/officeart/2005/8/layout/vList5"/>
    <dgm:cxn modelId="{E6EECEE0-163F-47FA-9532-8D8AFA866D4B}" srcId="{C94B223F-0078-4844-873D-7E0D54D44B55}" destId="{298882F7-87BE-4EEA-BF9B-EFFCD0809F8B}" srcOrd="2" destOrd="0" parTransId="{A2C5D332-AA04-4E28-A1F0-964E18261651}" sibTransId="{86D80CB1-6639-4EE5-ACD4-2BAFE28D4AB2}"/>
    <dgm:cxn modelId="{F00913EB-309A-497E-AB03-3B239948D414}" type="presOf" srcId="{9E449767-C3B5-4290-AD68-03672E38F8AF}" destId="{E8FC6A2E-6C97-4870-938D-D6AC44D73317}" srcOrd="0" destOrd="0" presId="urn:microsoft.com/office/officeart/2005/8/layout/vList5"/>
    <dgm:cxn modelId="{E31667EF-9281-4A16-8A8B-6C03BC493421}" type="presOf" srcId="{298882F7-87BE-4EEA-BF9B-EFFCD0809F8B}" destId="{C1A8E37A-57A1-4EC4-BEE5-77D441FA5445}" srcOrd="0" destOrd="0" presId="urn:microsoft.com/office/officeart/2005/8/layout/vList5"/>
    <dgm:cxn modelId="{D3CA49B2-CDEA-4BA5-9A08-B549FDFD9088}" type="presParOf" srcId="{6604857B-1B09-4C36-B623-5D87DDA198B2}" destId="{4731CA99-1766-49EC-95A8-4DFCD50F6D72}" srcOrd="0" destOrd="0" presId="urn:microsoft.com/office/officeart/2005/8/layout/vList5"/>
    <dgm:cxn modelId="{06FFC882-4C9E-43AC-B3D3-8F3F19A01B28}" type="presParOf" srcId="{4731CA99-1766-49EC-95A8-4DFCD50F6D72}" destId="{98CECC0D-0030-48A9-AC63-D9EBA3E2E96E}" srcOrd="0" destOrd="0" presId="urn:microsoft.com/office/officeart/2005/8/layout/vList5"/>
    <dgm:cxn modelId="{214EC405-E8B4-49DF-BC22-6B21AF8508E2}" type="presParOf" srcId="{6604857B-1B09-4C36-B623-5D87DDA198B2}" destId="{9D18A8FC-00FF-4025-B9E3-BC498F0203FE}" srcOrd="1" destOrd="0" presId="urn:microsoft.com/office/officeart/2005/8/layout/vList5"/>
    <dgm:cxn modelId="{F9D42748-8342-4D33-803A-1E1847A57133}" type="presParOf" srcId="{6604857B-1B09-4C36-B623-5D87DDA198B2}" destId="{01EB2F89-7551-4404-A9F4-073FB6647D35}" srcOrd="2" destOrd="0" presId="urn:microsoft.com/office/officeart/2005/8/layout/vList5"/>
    <dgm:cxn modelId="{FE4DEFE6-5163-405C-94BB-060BC510EA24}" type="presParOf" srcId="{01EB2F89-7551-4404-A9F4-073FB6647D35}" destId="{F1152BCE-5FF1-451A-9706-4C7B0BFF7C9A}" srcOrd="0" destOrd="0" presId="urn:microsoft.com/office/officeart/2005/8/layout/vList5"/>
    <dgm:cxn modelId="{A151CD75-F645-487B-B7A5-8DA0F72E4800}" type="presParOf" srcId="{01EB2F89-7551-4404-A9F4-073FB6647D35}" destId="{E8FC6A2E-6C97-4870-938D-D6AC44D73317}" srcOrd="1" destOrd="0" presId="urn:microsoft.com/office/officeart/2005/8/layout/vList5"/>
    <dgm:cxn modelId="{A7EAAD20-F92F-4F4C-97F1-454E08E9E378}" type="presParOf" srcId="{6604857B-1B09-4C36-B623-5D87DDA198B2}" destId="{FF0D151A-3A82-4B08-BC3E-C9BF1C686993}" srcOrd="3" destOrd="0" presId="urn:microsoft.com/office/officeart/2005/8/layout/vList5"/>
    <dgm:cxn modelId="{212F80A3-9D10-4545-B4B3-1E0A5C8C8FDD}" type="presParOf" srcId="{6604857B-1B09-4C36-B623-5D87DDA198B2}" destId="{96900CB8-5FB1-4DD2-A6F3-E04EF2C6A6CA}" srcOrd="4" destOrd="0" presId="urn:microsoft.com/office/officeart/2005/8/layout/vList5"/>
    <dgm:cxn modelId="{0DC30AC4-3016-41A5-AD6C-191A6DB728D4}" type="presParOf" srcId="{96900CB8-5FB1-4DD2-A6F3-E04EF2C6A6CA}" destId="{C1A8E37A-57A1-4EC4-BEE5-77D441FA544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491DD75-5C4B-4BB5-BCA8-56849E971159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979F7E1-9968-4D58-8F02-7BEE6C956367}">
      <dgm:prSet/>
      <dgm:spPr/>
      <dgm:t>
        <a:bodyPr/>
        <a:lstStyle/>
        <a:p>
          <a:pPr>
            <a:defRPr b="1"/>
          </a:pPr>
          <a:r>
            <a:rPr lang="en-US" b="1"/>
            <a:t>Operational:</a:t>
          </a:r>
          <a:endParaRPr lang="en-US"/>
        </a:p>
      </dgm:t>
    </dgm:pt>
    <dgm:pt modelId="{251BAD7D-2828-47F1-98F8-92675CF6EDB8}" type="parTrans" cxnId="{68F37C0B-4282-4695-BA1D-AEBF6D751650}">
      <dgm:prSet/>
      <dgm:spPr/>
      <dgm:t>
        <a:bodyPr/>
        <a:lstStyle/>
        <a:p>
          <a:endParaRPr lang="en-US"/>
        </a:p>
      </dgm:t>
    </dgm:pt>
    <dgm:pt modelId="{50C3EC24-E703-4BB3-B235-3D5734109F35}" type="sibTrans" cxnId="{68F37C0B-4282-4695-BA1D-AEBF6D751650}">
      <dgm:prSet/>
      <dgm:spPr/>
      <dgm:t>
        <a:bodyPr/>
        <a:lstStyle/>
        <a:p>
          <a:endParaRPr lang="en-US"/>
        </a:p>
      </dgm:t>
    </dgm:pt>
    <dgm:pt modelId="{B7F7307B-BF8A-40A7-96F2-F8A162E03949}">
      <dgm:prSet/>
      <dgm:spPr/>
      <dgm:t>
        <a:bodyPr/>
        <a:lstStyle/>
        <a:p>
          <a:r>
            <a:rPr lang="en-US" b="1"/>
            <a:t>Proxy Testing:</a:t>
          </a:r>
          <a:r>
            <a:rPr lang="en-US"/>
            <a:t> Use rapid metal assays to flag "Sour" crude risks immediately.</a:t>
          </a:r>
        </a:p>
      </dgm:t>
    </dgm:pt>
    <dgm:pt modelId="{C69B6ED7-0D35-4753-B10E-802B9678CEC4}" type="parTrans" cxnId="{34219A25-F1E5-4719-B65C-EFC76BD6AAFD}">
      <dgm:prSet/>
      <dgm:spPr/>
      <dgm:t>
        <a:bodyPr/>
        <a:lstStyle/>
        <a:p>
          <a:endParaRPr lang="en-US"/>
        </a:p>
      </dgm:t>
    </dgm:pt>
    <dgm:pt modelId="{D792AE34-C3AB-461B-9A3B-C2D11054E144}" type="sibTrans" cxnId="{34219A25-F1E5-4719-B65C-EFC76BD6AAFD}">
      <dgm:prSet/>
      <dgm:spPr/>
      <dgm:t>
        <a:bodyPr/>
        <a:lstStyle/>
        <a:p>
          <a:endParaRPr lang="en-US"/>
        </a:p>
      </dgm:t>
    </dgm:pt>
    <dgm:pt modelId="{CEF07817-ECEB-45E6-BE2D-4F9A350DEB88}">
      <dgm:prSet/>
      <dgm:spPr/>
      <dgm:t>
        <a:bodyPr/>
        <a:lstStyle/>
        <a:p>
          <a:r>
            <a:rPr lang="en-US" b="1"/>
            <a:t>Segregation:</a:t>
          </a:r>
          <a:r>
            <a:rPr lang="en-US"/>
            <a:t> Strictly isolate </a:t>
          </a:r>
          <a:r>
            <a:rPr lang="en-US" b="1"/>
            <a:t>Cluster 2 (Heavy)</a:t>
          </a:r>
          <a:r>
            <a:rPr lang="en-US"/>
            <a:t> oils to prevent contamination of premium stock.</a:t>
          </a:r>
        </a:p>
      </dgm:t>
    </dgm:pt>
    <dgm:pt modelId="{5F6B2CBC-365E-4022-9397-4EC6509322F6}" type="parTrans" cxnId="{984159C8-9391-491C-9790-AC4F7C4988A6}">
      <dgm:prSet/>
      <dgm:spPr/>
      <dgm:t>
        <a:bodyPr/>
        <a:lstStyle/>
        <a:p>
          <a:endParaRPr lang="en-US"/>
        </a:p>
      </dgm:t>
    </dgm:pt>
    <dgm:pt modelId="{6E5F08AE-1CED-4387-AD03-C7778FAD3D91}" type="sibTrans" cxnId="{984159C8-9391-491C-9790-AC4F7C4988A6}">
      <dgm:prSet/>
      <dgm:spPr/>
      <dgm:t>
        <a:bodyPr/>
        <a:lstStyle/>
        <a:p>
          <a:endParaRPr lang="en-US"/>
        </a:p>
      </dgm:t>
    </dgm:pt>
    <dgm:pt modelId="{F5F60C13-47C0-4361-A58B-250885836D1B}">
      <dgm:prSet/>
      <dgm:spPr/>
      <dgm:t>
        <a:bodyPr/>
        <a:lstStyle/>
        <a:p>
          <a:pPr>
            <a:defRPr b="1"/>
          </a:pPr>
          <a:r>
            <a:rPr lang="en-US" b="1"/>
            <a:t>Data Strategy:</a:t>
          </a:r>
          <a:endParaRPr lang="en-US"/>
        </a:p>
      </dgm:t>
    </dgm:pt>
    <dgm:pt modelId="{83D33E2E-E64B-4FFE-A197-C2490F298FC2}" type="parTrans" cxnId="{0BDE424C-8E5A-4837-8BCD-74DA2471F417}">
      <dgm:prSet/>
      <dgm:spPr/>
      <dgm:t>
        <a:bodyPr/>
        <a:lstStyle/>
        <a:p>
          <a:endParaRPr lang="en-US"/>
        </a:p>
      </dgm:t>
    </dgm:pt>
    <dgm:pt modelId="{A5661604-0918-4C7C-A775-733937554F5E}" type="sibTrans" cxnId="{0BDE424C-8E5A-4837-8BCD-74DA2471F417}">
      <dgm:prSet/>
      <dgm:spPr/>
      <dgm:t>
        <a:bodyPr/>
        <a:lstStyle/>
        <a:p>
          <a:endParaRPr lang="en-US"/>
        </a:p>
      </dgm:t>
    </dgm:pt>
    <dgm:pt modelId="{844F3A46-0FA5-48F3-8B02-6C3152DBCA8D}">
      <dgm:prSet/>
      <dgm:spPr/>
      <dgm:t>
        <a:bodyPr/>
        <a:lstStyle/>
        <a:p>
          <a:r>
            <a:rPr lang="en-US"/>
            <a:t>Use </a:t>
          </a:r>
          <a:r>
            <a:rPr lang="en-US" b="1"/>
            <a:t>Linear Models</a:t>
          </a:r>
          <a:r>
            <a:rPr lang="en-US"/>
            <a:t> for physical properties (API, Density).</a:t>
          </a:r>
        </a:p>
      </dgm:t>
    </dgm:pt>
    <dgm:pt modelId="{FD7B443D-DF0D-461A-9F52-05BDD939D3AB}" type="parTrans" cxnId="{9FFEBEB4-6E91-455D-BB3F-EA530D41A413}">
      <dgm:prSet/>
      <dgm:spPr/>
      <dgm:t>
        <a:bodyPr/>
        <a:lstStyle/>
        <a:p>
          <a:endParaRPr lang="en-US"/>
        </a:p>
      </dgm:t>
    </dgm:pt>
    <dgm:pt modelId="{8C96E7E4-B483-45BD-8E44-32E5201AF60F}" type="sibTrans" cxnId="{9FFEBEB4-6E91-455D-BB3F-EA530D41A413}">
      <dgm:prSet/>
      <dgm:spPr/>
      <dgm:t>
        <a:bodyPr/>
        <a:lstStyle/>
        <a:p>
          <a:endParaRPr lang="en-US"/>
        </a:p>
      </dgm:t>
    </dgm:pt>
    <dgm:pt modelId="{B0B6F3A8-FE08-42F8-B61F-A79B69CE42E1}">
      <dgm:prSet/>
      <dgm:spPr/>
      <dgm:t>
        <a:bodyPr/>
        <a:lstStyle/>
        <a:p>
          <a:r>
            <a:rPr lang="en-US"/>
            <a:t>Use </a:t>
          </a:r>
          <a:r>
            <a:rPr lang="en-US" b="1"/>
            <a:t>Classification</a:t>
          </a:r>
          <a:r>
            <a:rPr lang="en-US"/>
            <a:t> for contaminant risk (Sulfur, Acidity).</a:t>
          </a:r>
        </a:p>
      </dgm:t>
    </dgm:pt>
    <dgm:pt modelId="{66B45CC5-3535-4B1D-857B-623EB14133E1}" type="parTrans" cxnId="{E424A356-29CC-4EE9-B85C-0B6B5720D065}">
      <dgm:prSet/>
      <dgm:spPr/>
      <dgm:t>
        <a:bodyPr/>
        <a:lstStyle/>
        <a:p>
          <a:endParaRPr lang="en-US"/>
        </a:p>
      </dgm:t>
    </dgm:pt>
    <dgm:pt modelId="{B3A303E0-B6C4-496C-8ACA-A2A813E48098}" type="sibTrans" cxnId="{E424A356-29CC-4EE9-B85C-0B6B5720D065}">
      <dgm:prSet/>
      <dgm:spPr/>
      <dgm:t>
        <a:bodyPr/>
        <a:lstStyle/>
        <a:p>
          <a:endParaRPr lang="en-US"/>
        </a:p>
      </dgm:t>
    </dgm:pt>
    <dgm:pt modelId="{E9F77072-55B3-4EB7-8EC9-0A2F42217670}">
      <dgm:prSet/>
      <dgm:spPr/>
      <dgm:t>
        <a:bodyPr/>
        <a:lstStyle/>
        <a:p>
          <a:r>
            <a:rPr lang="en-US"/>
            <a:t>Do </a:t>
          </a:r>
          <a:r>
            <a:rPr lang="en-US" b="1"/>
            <a:t>not</a:t>
          </a:r>
          <a:r>
            <a:rPr lang="en-US"/>
            <a:t> extrapolate viscosity linearly for heavy oils; use log-models.</a:t>
          </a:r>
        </a:p>
      </dgm:t>
    </dgm:pt>
    <dgm:pt modelId="{A4DCE70D-D7BE-4B4A-9573-5BE7F3494F8D}" type="parTrans" cxnId="{035F7D84-9661-479E-BE50-628788934400}">
      <dgm:prSet/>
      <dgm:spPr/>
      <dgm:t>
        <a:bodyPr/>
        <a:lstStyle/>
        <a:p>
          <a:endParaRPr lang="en-US"/>
        </a:p>
      </dgm:t>
    </dgm:pt>
    <dgm:pt modelId="{5D4080F0-6725-4987-8168-B6AEEF018F55}" type="sibTrans" cxnId="{035F7D84-9661-479E-BE50-628788934400}">
      <dgm:prSet/>
      <dgm:spPr/>
      <dgm:t>
        <a:bodyPr/>
        <a:lstStyle/>
        <a:p>
          <a:endParaRPr lang="en-US"/>
        </a:p>
      </dgm:t>
    </dgm:pt>
    <dgm:pt modelId="{A6A89629-6D01-477D-9F19-154C9B21C29A}" type="pres">
      <dgm:prSet presAssocID="{4491DD75-5C4B-4BB5-BCA8-56849E971159}" presName="linear" presStyleCnt="0">
        <dgm:presLayoutVars>
          <dgm:dir/>
          <dgm:animLvl val="lvl"/>
          <dgm:resizeHandles val="exact"/>
        </dgm:presLayoutVars>
      </dgm:prSet>
      <dgm:spPr/>
    </dgm:pt>
    <dgm:pt modelId="{65ECE75C-94BD-4236-9457-0C2BA8053FA6}" type="pres">
      <dgm:prSet presAssocID="{2979F7E1-9968-4D58-8F02-7BEE6C956367}" presName="parentLin" presStyleCnt="0"/>
      <dgm:spPr/>
    </dgm:pt>
    <dgm:pt modelId="{74AAFC1C-F576-471D-BC5B-D76E159C0382}" type="pres">
      <dgm:prSet presAssocID="{2979F7E1-9968-4D58-8F02-7BEE6C956367}" presName="parentLeftMargin" presStyleLbl="node1" presStyleIdx="0" presStyleCnt="2"/>
      <dgm:spPr/>
    </dgm:pt>
    <dgm:pt modelId="{D5AA79F1-2275-40C8-8211-CEB2228CBA15}" type="pres">
      <dgm:prSet presAssocID="{2979F7E1-9968-4D58-8F02-7BEE6C9563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B150C4-43A5-400A-9828-313D9AA850E8}" type="pres">
      <dgm:prSet presAssocID="{2979F7E1-9968-4D58-8F02-7BEE6C956367}" presName="negativeSpace" presStyleCnt="0"/>
      <dgm:spPr/>
    </dgm:pt>
    <dgm:pt modelId="{67657E0D-6E42-4DC2-BEA3-4E55A17CD777}" type="pres">
      <dgm:prSet presAssocID="{2979F7E1-9968-4D58-8F02-7BEE6C956367}" presName="childText" presStyleLbl="conFgAcc1" presStyleIdx="0" presStyleCnt="2">
        <dgm:presLayoutVars>
          <dgm:bulletEnabled val="1"/>
        </dgm:presLayoutVars>
      </dgm:prSet>
      <dgm:spPr/>
    </dgm:pt>
    <dgm:pt modelId="{B8D71322-73B4-4E1F-AF08-88C2EE0C0866}" type="pres">
      <dgm:prSet presAssocID="{50C3EC24-E703-4BB3-B235-3D5734109F35}" presName="spaceBetweenRectangles" presStyleCnt="0"/>
      <dgm:spPr/>
    </dgm:pt>
    <dgm:pt modelId="{EF4FE40A-09C3-4452-9726-B0DAAA7C6FE2}" type="pres">
      <dgm:prSet presAssocID="{F5F60C13-47C0-4361-A58B-250885836D1B}" presName="parentLin" presStyleCnt="0"/>
      <dgm:spPr/>
    </dgm:pt>
    <dgm:pt modelId="{83A36EB1-D267-4323-B175-FFF2E1AA076C}" type="pres">
      <dgm:prSet presAssocID="{F5F60C13-47C0-4361-A58B-250885836D1B}" presName="parentLeftMargin" presStyleLbl="node1" presStyleIdx="0" presStyleCnt="2"/>
      <dgm:spPr/>
    </dgm:pt>
    <dgm:pt modelId="{8DAC7CF7-FDDF-4048-BDBB-BA6089692FB5}" type="pres">
      <dgm:prSet presAssocID="{F5F60C13-47C0-4361-A58B-250885836D1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131F94A-2BD3-4DB4-B568-CC6FF203292F}" type="pres">
      <dgm:prSet presAssocID="{F5F60C13-47C0-4361-A58B-250885836D1B}" presName="negativeSpace" presStyleCnt="0"/>
      <dgm:spPr/>
    </dgm:pt>
    <dgm:pt modelId="{6EE94265-908C-48F3-ABAE-49F853618A4D}" type="pres">
      <dgm:prSet presAssocID="{F5F60C13-47C0-4361-A58B-250885836D1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8F37C0B-4282-4695-BA1D-AEBF6D751650}" srcId="{4491DD75-5C4B-4BB5-BCA8-56849E971159}" destId="{2979F7E1-9968-4D58-8F02-7BEE6C956367}" srcOrd="0" destOrd="0" parTransId="{251BAD7D-2828-47F1-98F8-92675CF6EDB8}" sibTransId="{50C3EC24-E703-4BB3-B235-3D5734109F35}"/>
    <dgm:cxn modelId="{8D76A81B-A58C-45E9-A5CD-A683216A2F37}" type="presOf" srcId="{F5F60C13-47C0-4361-A58B-250885836D1B}" destId="{83A36EB1-D267-4323-B175-FFF2E1AA076C}" srcOrd="0" destOrd="0" presId="urn:microsoft.com/office/officeart/2005/8/layout/list1"/>
    <dgm:cxn modelId="{CCE54125-EE83-42FA-BDF3-138C8D8102B1}" type="presOf" srcId="{2979F7E1-9968-4D58-8F02-7BEE6C956367}" destId="{D5AA79F1-2275-40C8-8211-CEB2228CBA15}" srcOrd="1" destOrd="0" presId="urn:microsoft.com/office/officeart/2005/8/layout/list1"/>
    <dgm:cxn modelId="{34219A25-F1E5-4719-B65C-EFC76BD6AAFD}" srcId="{2979F7E1-9968-4D58-8F02-7BEE6C956367}" destId="{B7F7307B-BF8A-40A7-96F2-F8A162E03949}" srcOrd="0" destOrd="0" parTransId="{C69B6ED7-0D35-4753-B10E-802B9678CEC4}" sibTransId="{D792AE34-C3AB-461B-9A3B-C2D11054E144}"/>
    <dgm:cxn modelId="{BF369367-3D8A-41AF-AF09-0BD1BF4A3071}" type="presOf" srcId="{E9F77072-55B3-4EB7-8EC9-0A2F42217670}" destId="{6EE94265-908C-48F3-ABAE-49F853618A4D}" srcOrd="0" destOrd="2" presId="urn:microsoft.com/office/officeart/2005/8/layout/list1"/>
    <dgm:cxn modelId="{0BDE424C-8E5A-4837-8BCD-74DA2471F417}" srcId="{4491DD75-5C4B-4BB5-BCA8-56849E971159}" destId="{F5F60C13-47C0-4361-A58B-250885836D1B}" srcOrd="1" destOrd="0" parTransId="{83D33E2E-E64B-4FFE-A197-C2490F298FC2}" sibTransId="{A5661604-0918-4C7C-A775-733937554F5E}"/>
    <dgm:cxn modelId="{42012D71-F11F-44EB-8A2A-74BC3C8B6617}" type="presOf" srcId="{F5F60C13-47C0-4361-A58B-250885836D1B}" destId="{8DAC7CF7-FDDF-4048-BDBB-BA6089692FB5}" srcOrd="1" destOrd="0" presId="urn:microsoft.com/office/officeart/2005/8/layout/list1"/>
    <dgm:cxn modelId="{E424A356-29CC-4EE9-B85C-0B6B5720D065}" srcId="{F5F60C13-47C0-4361-A58B-250885836D1B}" destId="{B0B6F3A8-FE08-42F8-B61F-A79B69CE42E1}" srcOrd="1" destOrd="0" parTransId="{66B45CC5-3535-4B1D-857B-623EB14133E1}" sibTransId="{B3A303E0-B6C4-496C-8ACA-A2A813E48098}"/>
    <dgm:cxn modelId="{8A6AA676-ABDB-4458-BFA5-18191A80B1D4}" type="presOf" srcId="{2979F7E1-9968-4D58-8F02-7BEE6C956367}" destId="{74AAFC1C-F576-471D-BC5B-D76E159C0382}" srcOrd="0" destOrd="0" presId="urn:microsoft.com/office/officeart/2005/8/layout/list1"/>
    <dgm:cxn modelId="{035F7D84-9661-479E-BE50-628788934400}" srcId="{F5F60C13-47C0-4361-A58B-250885836D1B}" destId="{E9F77072-55B3-4EB7-8EC9-0A2F42217670}" srcOrd="2" destOrd="0" parTransId="{A4DCE70D-D7BE-4B4A-9573-5BE7F3494F8D}" sibTransId="{5D4080F0-6725-4987-8168-B6AEEF018F55}"/>
    <dgm:cxn modelId="{97DF949D-5AEC-4E35-A1BC-B73703E2A6F0}" type="presOf" srcId="{CEF07817-ECEB-45E6-BE2D-4F9A350DEB88}" destId="{67657E0D-6E42-4DC2-BEA3-4E55A17CD777}" srcOrd="0" destOrd="1" presId="urn:microsoft.com/office/officeart/2005/8/layout/list1"/>
    <dgm:cxn modelId="{E4A924A9-AFB5-4355-9384-F37EA87C941F}" type="presOf" srcId="{844F3A46-0FA5-48F3-8B02-6C3152DBCA8D}" destId="{6EE94265-908C-48F3-ABAE-49F853618A4D}" srcOrd="0" destOrd="0" presId="urn:microsoft.com/office/officeart/2005/8/layout/list1"/>
    <dgm:cxn modelId="{9FFEBEB4-6E91-455D-BB3F-EA530D41A413}" srcId="{F5F60C13-47C0-4361-A58B-250885836D1B}" destId="{844F3A46-0FA5-48F3-8B02-6C3152DBCA8D}" srcOrd="0" destOrd="0" parTransId="{FD7B443D-DF0D-461A-9F52-05BDD939D3AB}" sibTransId="{8C96E7E4-B483-45BD-8E44-32E5201AF60F}"/>
    <dgm:cxn modelId="{984159C8-9391-491C-9790-AC4F7C4988A6}" srcId="{2979F7E1-9968-4D58-8F02-7BEE6C956367}" destId="{CEF07817-ECEB-45E6-BE2D-4F9A350DEB88}" srcOrd="1" destOrd="0" parTransId="{5F6B2CBC-365E-4022-9397-4EC6509322F6}" sibTransId="{6E5F08AE-1CED-4387-AD03-C7778FAD3D91}"/>
    <dgm:cxn modelId="{D05594D3-8C74-41E5-92F5-6C229B53823D}" type="presOf" srcId="{4491DD75-5C4B-4BB5-BCA8-56849E971159}" destId="{A6A89629-6D01-477D-9F19-154C9B21C29A}" srcOrd="0" destOrd="0" presId="urn:microsoft.com/office/officeart/2005/8/layout/list1"/>
    <dgm:cxn modelId="{F15594ED-414F-42CA-8A3D-58D98E739F7F}" type="presOf" srcId="{B0B6F3A8-FE08-42F8-B61F-A79B69CE42E1}" destId="{6EE94265-908C-48F3-ABAE-49F853618A4D}" srcOrd="0" destOrd="1" presId="urn:microsoft.com/office/officeart/2005/8/layout/list1"/>
    <dgm:cxn modelId="{49EC91F3-05E7-436E-AD2A-3613ACFF6F90}" type="presOf" srcId="{B7F7307B-BF8A-40A7-96F2-F8A162E03949}" destId="{67657E0D-6E42-4DC2-BEA3-4E55A17CD777}" srcOrd="0" destOrd="0" presId="urn:microsoft.com/office/officeart/2005/8/layout/list1"/>
    <dgm:cxn modelId="{E574EC88-DCAF-4FB4-87E8-5BB146C36DA2}" type="presParOf" srcId="{A6A89629-6D01-477D-9F19-154C9B21C29A}" destId="{65ECE75C-94BD-4236-9457-0C2BA8053FA6}" srcOrd="0" destOrd="0" presId="urn:microsoft.com/office/officeart/2005/8/layout/list1"/>
    <dgm:cxn modelId="{35FC141A-4E73-4DF8-824C-3A4E22E12BAA}" type="presParOf" srcId="{65ECE75C-94BD-4236-9457-0C2BA8053FA6}" destId="{74AAFC1C-F576-471D-BC5B-D76E159C0382}" srcOrd="0" destOrd="0" presId="urn:microsoft.com/office/officeart/2005/8/layout/list1"/>
    <dgm:cxn modelId="{C670376D-0BC9-424F-B1C1-D373463EA8AC}" type="presParOf" srcId="{65ECE75C-94BD-4236-9457-0C2BA8053FA6}" destId="{D5AA79F1-2275-40C8-8211-CEB2228CBA15}" srcOrd="1" destOrd="0" presId="urn:microsoft.com/office/officeart/2005/8/layout/list1"/>
    <dgm:cxn modelId="{3C37C47B-8ED7-447C-9EDC-61C206405404}" type="presParOf" srcId="{A6A89629-6D01-477D-9F19-154C9B21C29A}" destId="{3DB150C4-43A5-400A-9828-313D9AA850E8}" srcOrd="1" destOrd="0" presId="urn:microsoft.com/office/officeart/2005/8/layout/list1"/>
    <dgm:cxn modelId="{5F4549BA-74E9-4918-BF05-21C168817C28}" type="presParOf" srcId="{A6A89629-6D01-477D-9F19-154C9B21C29A}" destId="{67657E0D-6E42-4DC2-BEA3-4E55A17CD777}" srcOrd="2" destOrd="0" presId="urn:microsoft.com/office/officeart/2005/8/layout/list1"/>
    <dgm:cxn modelId="{503FBC13-2FA9-4FAE-A914-59712377CB59}" type="presParOf" srcId="{A6A89629-6D01-477D-9F19-154C9B21C29A}" destId="{B8D71322-73B4-4E1F-AF08-88C2EE0C0866}" srcOrd="3" destOrd="0" presId="urn:microsoft.com/office/officeart/2005/8/layout/list1"/>
    <dgm:cxn modelId="{5826AD58-7924-4872-94DA-86D66FF1293A}" type="presParOf" srcId="{A6A89629-6D01-477D-9F19-154C9B21C29A}" destId="{EF4FE40A-09C3-4452-9726-B0DAAA7C6FE2}" srcOrd="4" destOrd="0" presId="urn:microsoft.com/office/officeart/2005/8/layout/list1"/>
    <dgm:cxn modelId="{7B438693-B20E-4BB0-A772-5054DEB831E3}" type="presParOf" srcId="{EF4FE40A-09C3-4452-9726-B0DAAA7C6FE2}" destId="{83A36EB1-D267-4323-B175-FFF2E1AA076C}" srcOrd="0" destOrd="0" presId="urn:microsoft.com/office/officeart/2005/8/layout/list1"/>
    <dgm:cxn modelId="{97B8ECED-E3AF-4669-A7F8-C89F4EEE03DC}" type="presParOf" srcId="{EF4FE40A-09C3-4452-9726-B0DAAA7C6FE2}" destId="{8DAC7CF7-FDDF-4048-BDBB-BA6089692FB5}" srcOrd="1" destOrd="0" presId="urn:microsoft.com/office/officeart/2005/8/layout/list1"/>
    <dgm:cxn modelId="{31EDC22B-1762-4A57-A385-A8108DAD969B}" type="presParOf" srcId="{A6A89629-6D01-477D-9F19-154C9B21C29A}" destId="{9131F94A-2BD3-4DB4-B568-CC6FF203292F}" srcOrd="5" destOrd="0" presId="urn:microsoft.com/office/officeart/2005/8/layout/list1"/>
    <dgm:cxn modelId="{4C48DCFA-E523-4DCE-BB48-F16A0FB2E173}" type="presParOf" srcId="{A6A89629-6D01-477D-9F19-154C9B21C29A}" destId="{6EE94265-908C-48F3-ABAE-49F853618A4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1AF03-CA66-4422-9093-B61A642D0EB5}">
      <dsp:nvSpPr>
        <dsp:cNvPr id="0" name=""/>
        <dsp:cNvSpPr/>
      </dsp:nvSpPr>
      <dsp:spPr>
        <a:xfrm>
          <a:off x="0" y="3463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711A4-FE2E-49D6-BCA0-26A17F5F03CD}">
      <dsp:nvSpPr>
        <dsp:cNvPr id="0" name=""/>
        <dsp:cNvSpPr/>
      </dsp:nvSpPr>
      <dsp:spPr>
        <a:xfrm>
          <a:off x="476495" y="511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Segoe UI Black"/>
              <a:cs typeface="+mn-cs"/>
            </a:rPr>
            <a:t>Analyzed crude oil quality and composition (41 samples).</a:t>
          </a:r>
        </a:p>
      </dsp:txBody>
      <dsp:txXfrm>
        <a:off x="505316" y="79951"/>
        <a:ext cx="6613295" cy="532758"/>
      </dsp:txXfrm>
    </dsp:sp>
    <dsp:sp modelId="{2B7D1C17-0E06-4FDC-8AF4-7BB2C586D44F}">
      <dsp:nvSpPr>
        <dsp:cNvPr id="0" name=""/>
        <dsp:cNvSpPr/>
      </dsp:nvSpPr>
      <dsp:spPr>
        <a:xfrm>
          <a:off x="0" y="12535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4FAFB-559A-4027-A4FA-98A7314E7390}">
      <dsp:nvSpPr>
        <dsp:cNvPr id="0" name=""/>
        <dsp:cNvSpPr/>
      </dsp:nvSpPr>
      <dsp:spPr>
        <a:xfrm>
          <a:off x="476495" y="9583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Segoe UI Black"/>
              <a:cs typeface="+mn-cs"/>
            </a:rPr>
            <a:t>Cleaned 33 features (27 numerical, 6 categorical); no missing values.</a:t>
          </a:r>
        </a:p>
      </dsp:txBody>
      <dsp:txXfrm>
        <a:off x="505316" y="987151"/>
        <a:ext cx="6613295" cy="532758"/>
      </dsp:txXfrm>
    </dsp:sp>
    <dsp:sp modelId="{D6535CAD-C7A9-4A3B-ABD3-EA25CBF7989D}">
      <dsp:nvSpPr>
        <dsp:cNvPr id="0" name=""/>
        <dsp:cNvSpPr/>
      </dsp:nvSpPr>
      <dsp:spPr>
        <a:xfrm>
          <a:off x="0" y="21607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F119-0CAE-4EDC-9570-695DA6C66E42}">
      <dsp:nvSpPr>
        <dsp:cNvPr id="0" name=""/>
        <dsp:cNvSpPr/>
      </dsp:nvSpPr>
      <dsp:spPr>
        <a:xfrm>
          <a:off x="476495" y="18655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Calculated Mean, Mode, SD, and Range to find averages and outliers.</a:t>
          </a:r>
        </a:p>
      </dsp:txBody>
      <dsp:txXfrm>
        <a:off x="505316" y="1894351"/>
        <a:ext cx="6613295" cy="532758"/>
      </dsp:txXfrm>
    </dsp:sp>
    <dsp:sp modelId="{2FC84F47-0755-41D2-B59E-7E22DF4AA98C}">
      <dsp:nvSpPr>
        <dsp:cNvPr id="0" name=""/>
        <dsp:cNvSpPr/>
      </dsp:nvSpPr>
      <dsp:spPr>
        <a:xfrm>
          <a:off x="0" y="30679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15F28-CC61-4D1E-8383-F53D2B99B962}">
      <dsp:nvSpPr>
        <dsp:cNvPr id="0" name=""/>
        <dsp:cNvSpPr/>
      </dsp:nvSpPr>
      <dsp:spPr>
        <a:xfrm>
          <a:off x="476495" y="27727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Segoe UI Black"/>
              <a:cs typeface="+mn-cs"/>
            </a:rPr>
            <a:t>Mapped distributions of crude types, regions, and sulfur levels</a:t>
          </a:r>
          <a:r>
            <a:rPr lang="en-US" sz="1400" kern="1200">
              <a:solidFill>
                <a:srgbClr val="2F2F2F"/>
              </a:solidFill>
              <a:latin typeface="Aptos"/>
              <a:ea typeface="Segoe UI Black"/>
              <a:cs typeface="+mn-cs"/>
            </a:rPr>
            <a:t>.</a:t>
          </a:r>
        </a:p>
      </dsp:txBody>
      <dsp:txXfrm>
        <a:off x="505316" y="2801551"/>
        <a:ext cx="6613295" cy="53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B284A-D884-4841-ADE7-BFF0FF93589F}">
      <dsp:nvSpPr>
        <dsp:cNvPr id="0" name=""/>
        <dsp:cNvSpPr/>
      </dsp:nvSpPr>
      <dsp:spPr>
        <a:xfrm rot="16200000">
          <a:off x="-534789" y="537291"/>
          <a:ext cx="3529118" cy="2454535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>
              <a:solidFill>
                <a:srgbClr val="2F2F2F"/>
              </a:solidFill>
              <a:latin typeface="Aptos"/>
              <a:ea typeface="+mn-ea"/>
              <a:cs typeface="+mn-cs"/>
            </a:rPr>
            <a:t>Quality Summary: The dataset represents mostly high-quality, sweet, medium-light crudes.</a:t>
          </a:r>
        </a:p>
      </dsp:txBody>
      <dsp:txXfrm rot="5400000">
        <a:off x="2503" y="705823"/>
        <a:ext cx="2454535" cy="2117470"/>
      </dsp:txXfrm>
    </dsp:sp>
    <dsp:sp modelId="{94F82973-52BD-4620-ADD7-1F539A04391A}">
      <dsp:nvSpPr>
        <dsp:cNvPr id="0" name=""/>
        <dsp:cNvSpPr/>
      </dsp:nvSpPr>
      <dsp:spPr>
        <a:xfrm rot="16200000">
          <a:off x="2103836" y="537291"/>
          <a:ext cx="3529118" cy="2454535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95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solidFill>
                <a:srgbClr val="2F2F2F"/>
              </a:solidFill>
              <a:latin typeface="Aptos"/>
              <a:ea typeface="+mn-ea"/>
              <a:cs typeface="+mn-cs"/>
            </a:rPr>
            <a:t>Low sulfur content suggests lower processing costs (less desulfurization needed).</a:t>
          </a:r>
        </a:p>
      </dsp:txBody>
      <dsp:txXfrm rot="5400000">
        <a:off x="2641128" y="705823"/>
        <a:ext cx="2454535" cy="2117470"/>
      </dsp:txXfrm>
    </dsp:sp>
    <dsp:sp modelId="{ECA3E5FC-5A70-4C76-B230-F572E083E66D}">
      <dsp:nvSpPr>
        <dsp:cNvPr id="0" name=""/>
        <dsp:cNvSpPr/>
      </dsp:nvSpPr>
      <dsp:spPr>
        <a:xfrm rot="16200000">
          <a:off x="4742462" y="537291"/>
          <a:ext cx="3529118" cy="2454535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95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solidFill>
                <a:srgbClr val="2F2F2F"/>
              </a:solidFill>
              <a:latin typeface="Aptos"/>
              <a:ea typeface="+mn-ea"/>
              <a:cs typeface="+mn-cs"/>
            </a:rPr>
            <a:t>Wide API range requires flexible distillation capabilities.</a:t>
          </a:r>
        </a:p>
      </dsp:txBody>
      <dsp:txXfrm rot="5400000">
        <a:off x="5279754" y="705823"/>
        <a:ext cx="2454535" cy="2117470"/>
      </dsp:txXfrm>
    </dsp:sp>
    <dsp:sp modelId="{1B72EED4-C387-4CFF-AC26-71F62FD454C2}">
      <dsp:nvSpPr>
        <dsp:cNvPr id="0" name=""/>
        <dsp:cNvSpPr/>
      </dsp:nvSpPr>
      <dsp:spPr>
        <a:xfrm rot="16200000">
          <a:off x="7381088" y="537291"/>
          <a:ext cx="3529118" cy="2454535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395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>
              <a:solidFill>
                <a:srgbClr val="2F2F2F"/>
              </a:solidFill>
              <a:latin typeface="Aptos"/>
              <a:ea typeface="+mn-ea"/>
              <a:cs typeface="+mn-cs"/>
            </a:rPr>
            <a:t>High variance in viscosity and metals suggests that while "average" quality is high, individual handling protocols must be strictly tailored to the specific crude batch.</a:t>
          </a:r>
        </a:p>
      </dsp:txBody>
      <dsp:txXfrm rot="5400000">
        <a:off x="7918380" y="705823"/>
        <a:ext cx="2454535" cy="2117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1AF03-CA66-4422-9093-B61A642D0EB5}">
      <dsp:nvSpPr>
        <dsp:cNvPr id="0" name=""/>
        <dsp:cNvSpPr/>
      </dsp:nvSpPr>
      <dsp:spPr>
        <a:xfrm>
          <a:off x="0" y="3463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711A4-FE2E-49D6-BCA0-26A17F5F03CD}">
      <dsp:nvSpPr>
        <dsp:cNvPr id="0" name=""/>
        <dsp:cNvSpPr/>
      </dsp:nvSpPr>
      <dsp:spPr>
        <a:xfrm>
          <a:off x="476495" y="511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Visualized data structure beyond simple averages.</a:t>
          </a:r>
          <a:endParaRPr lang="en-US" kern="1200">
            <a:solidFill>
              <a:srgbClr val="2F2F2F"/>
            </a:solidFill>
            <a:latin typeface="Aptos"/>
            <a:ea typeface="+mn-ea"/>
            <a:cs typeface="+mn-cs"/>
          </a:endParaRPr>
        </a:p>
      </dsp:txBody>
      <dsp:txXfrm>
        <a:off x="505316" y="79951"/>
        <a:ext cx="6613295" cy="532758"/>
      </dsp:txXfrm>
    </dsp:sp>
    <dsp:sp modelId="{2B7D1C17-0E06-4FDC-8AF4-7BB2C586D44F}">
      <dsp:nvSpPr>
        <dsp:cNvPr id="0" name=""/>
        <dsp:cNvSpPr/>
      </dsp:nvSpPr>
      <dsp:spPr>
        <a:xfrm>
          <a:off x="0" y="12535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4FAFB-559A-4027-A4FA-98A7314E7390}">
      <dsp:nvSpPr>
        <dsp:cNvPr id="0" name=""/>
        <dsp:cNvSpPr/>
      </dsp:nvSpPr>
      <dsp:spPr>
        <a:xfrm>
          <a:off x="476495" y="9583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Histograms: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Analyzed distribution shapes (Normal vs. Skewed).</a:t>
          </a:r>
          <a:endParaRPr lang="en-US" kern="1200">
            <a:solidFill>
              <a:srgbClr val="2F2F2F"/>
            </a:solidFill>
            <a:latin typeface="Aptos"/>
            <a:ea typeface="+mn-ea"/>
            <a:cs typeface="+mn-cs"/>
          </a:endParaRPr>
        </a:p>
      </dsp:txBody>
      <dsp:txXfrm>
        <a:off x="505316" y="987151"/>
        <a:ext cx="6613295" cy="532758"/>
      </dsp:txXfrm>
    </dsp:sp>
    <dsp:sp modelId="{D6535CAD-C7A9-4A3B-ABD3-EA25CBF7989D}">
      <dsp:nvSpPr>
        <dsp:cNvPr id="0" name=""/>
        <dsp:cNvSpPr/>
      </dsp:nvSpPr>
      <dsp:spPr>
        <a:xfrm>
          <a:off x="0" y="21607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F119-0CAE-4EDC-9570-695DA6C66E42}">
      <dsp:nvSpPr>
        <dsp:cNvPr id="0" name=""/>
        <dsp:cNvSpPr/>
      </dsp:nvSpPr>
      <dsp:spPr>
        <a:xfrm>
          <a:off x="476495" y="18655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Box Plots: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Identified statistical outliers and data spread.</a:t>
          </a:r>
          <a:endParaRPr lang="en-US" kern="1200">
            <a:solidFill>
              <a:srgbClr val="2F2F2F"/>
            </a:solidFill>
            <a:latin typeface="Aptos"/>
            <a:ea typeface="+mn-ea"/>
            <a:cs typeface="+mn-cs"/>
          </a:endParaRPr>
        </a:p>
      </dsp:txBody>
      <dsp:txXfrm>
        <a:off x="505316" y="1894351"/>
        <a:ext cx="6613295" cy="532758"/>
      </dsp:txXfrm>
    </dsp:sp>
    <dsp:sp modelId="{2FC84F47-0755-41D2-B59E-7E22DF4AA98C}">
      <dsp:nvSpPr>
        <dsp:cNvPr id="0" name=""/>
        <dsp:cNvSpPr/>
      </dsp:nvSpPr>
      <dsp:spPr>
        <a:xfrm>
          <a:off x="0" y="30679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15F28-CC61-4D1E-8383-F53D2B99B962}">
      <dsp:nvSpPr>
        <dsp:cNvPr id="0" name=""/>
        <dsp:cNvSpPr/>
      </dsp:nvSpPr>
      <dsp:spPr>
        <a:xfrm>
          <a:off x="476495" y="27727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Focus: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Key quality drivers (API, Sulfur, Viscosity</a:t>
          </a:r>
          <a:r>
            <a:rPr lang="en-US" sz="1600" kern="1200">
              <a:solidFill>
                <a:srgbClr val="2F2F2F"/>
              </a:solidFill>
              <a:latin typeface="Aptos"/>
              <a:ea typeface="Segoe UI Black"/>
              <a:cs typeface="+mn-cs"/>
            </a:rPr>
            <a:t>).</a:t>
          </a:r>
        </a:p>
      </dsp:txBody>
      <dsp:txXfrm>
        <a:off x="505316" y="2801551"/>
        <a:ext cx="6613295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1AF03-CA66-4422-9093-B61A642D0EB5}">
      <dsp:nvSpPr>
        <dsp:cNvPr id="0" name=""/>
        <dsp:cNvSpPr/>
      </dsp:nvSpPr>
      <dsp:spPr>
        <a:xfrm>
          <a:off x="0" y="3463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711A4-FE2E-49D6-BCA0-26A17F5F03CD}">
      <dsp:nvSpPr>
        <dsp:cNvPr id="0" name=""/>
        <dsp:cNvSpPr/>
      </dsp:nvSpPr>
      <dsp:spPr>
        <a:xfrm>
          <a:off x="476495" y="511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Uncovered hidden relationships and dependencies between different crude oil properties.</a:t>
          </a:r>
        </a:p>
      </dsp:txBody>
      <dsp:txXfrm>
        <a:off x="505316" y="79951"/>
        <a:ext cx="6613295" cy="532758"/>
      </dsp:txXfrm>
    </dsp:sp>
    <dsp:sp modelId="{2B7D1C17-0E06-4FDC-8AF4-7BB2C586D44F}">
      <dsp:nvSpPr>
        <dsp:cNvPr id="0" name=""/>
        <dsp:cNvSpPr/>
      </dsp:nvSpPr>
      <dsp:spPr>
        <a:xfrm>
          <a:off x="0" y="12535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4FAFB-559A-4027-A4FA-98A7314E7390}">
      <dsp:nvSpPr>
        <dsp:cNvPr id="0" name=""/>
        <dsp:cNvSpPr/>
      </dsp:nvSpPr>
      <dsp:spPr>
        <a:xfrm>
          <a:off x="476495" y="9583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Pearson Correlation: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Measured linear relationships (straight-line trends).</a:t>
          </a:r>
        </a:p>
      </dsp:txBody>
      <dsp:txXfrm>
        <a:off x="505316" y="987151"/>
        <a:ext cx="6613295" cy="532758"/>
      </dsp:txXfrm>
    </dsp:sp>
    <dsp:sp modelId="{D6535CAD-C7A9-4A3B-ABD3-EA25CBF7989D}">
      <dsp:nvSpPr>
        <dsp:cNvPr id="0" name=""/>
        <dsp:cNvSpPr/>
      </dsp:nvSpPr>
      <dsp:spPr>
        <a:xfrm>
          <a:off x="0" y="21607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F119-0CAE-4EDC-9570-695DA6C66E42}">
      <dsp:nvSpPr>
        <dsp:cNvPr id="0" name=""/>
        <dsp:cNvSpPr/>
      </dsp:nvSpPr>
      <dsp:spPr>
        <a:xfrm>
          <a:off x="476495" y="18655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Spearman Correlation: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Captured non-linear/rank-based trends (curved relationships).</a:t>
          </a:r>
        </a:p>
      </dsp:txBody>
      <dsp:txXfrm>
        <a:off x="505316" y="1894351"/>
        <a:ext cx="6613295" cy="532758"/>
      </dsp:txXfrm>
    </dsp:sp>
    <dsp:sp modelId="{2FC84F47-0755-41D2-B59E-7E22DF4AA98C}">
      <dsp:nvSpPr>
        <dsp:cNvPr id="0" name=""/>
        <dsp:cNvSpPr/>
      </dsp:nvSpPr>
      <dsp:spPr>
        <a:xfrm>
          <a:off x="0" y="3067930"/>
          <a:ext cx="9529910" cy="504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15F28-CC61-4D1E-8383-F53D2B99B962}">
      <dsp:nvSpPr>
        <dsp:cNvPr id="0" name=""/>
        <dsp:cNvSpPr/>
      </dsp:nvSpPr>
      <dsp:spPr>
        <a:xfrm>
          <a:off x="476495" y="27727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Mutual Information: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Quantified how much one variable tells us about another.</a:t>
          </a:r>
        </a:p>
      </dsp:txBody>
      <dsp:txXfrm>
        <a:off x="505316" y="2801551"/>
        <a:ext cx="6613295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913EB-8856-4EA7-9010-253F45D4F37D}">
      <dsp:nvSpPr>
        <dsp:cNvPr id="0" name=""/>
        <dsp:cNvSpPr/>
      </dsp:nvSpPr>
      <dsp:spPr>
        <a:xfrm>
          <a:off x="3039" y="1723261"/>
          <a:ext cx="3703334" cy="148133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Aptos"/>
            </a:rPr>
            <a:t>Linear Dependencies: Sulfur, Nitrogen, and Metals</a:t>
          </a:r>
          <a:r>
            <a:rPr lang="en-US" sz="1400" b="0" kern="1200">
              <a:latin typeface="Aptos"/>
            </a:rPr>
            <a:t> rise and fall together. If a crude is "Sour" (High Sulfur), it is guaranteed to be "Dirty" (High Metals).</a:t>
          </a:r>
          <a:endParaRPr lang="en-US" sz="1400" b="1" kern="1200">
            <a:latin typeface="Aptos"/>
          </a:endParaRPr>
        </a:p>
      </dsp:txBody>
      <dsp:txXfrm>
        <a:off x="743706" y="1723261"/>
        <a:ext cx="2222001" cy="1481333"/>
      </dsp:txXfrm>
    </dsp:sp>
    <dsp:sp modelId="{CA044851-36A4-4775-A314-BB0B65721BF7}">
      <dsp:nvSpPr>
        <dsp:cNvPr id="0" name=""/>
        <dsp:cNvSpPr/>
      </dsp:nvSpPr>
      <dsp:spPr>
        <a:xfrm>
          <a:off x="3336041" y="1723261"/>
          <a:ext cx="3703334" cy="148133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l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ptos"/>
            </a:rPr>
            <a:t>Non-Linear Dependencies: Viscosity</a:t>
          </a:r>
          <a:r>
            <a:rPr lang="en-US" sz="1300" b="0" kern="1200">
              <a:latin typeface="Aptos"/>
            </a:rPr>
            <a:t> does not scale evenly with density. Heavy crudes require exponentially more heating/pumping energy than medium crudes.</a:t>
          </a:r>
          <a:endParaRPr lang="en-US" sz="1300" b="1" kern="1200">
            <a:latin typeface="Aptos"/>
          </a:endParaRPr>
        </a:p>
      </dsp:txBody>
      <dsp:txXfrm>
        <a:off x="4076708" y="1723261"/>
        <a:ext cx="2222001" cy="1481333"/>
      </dsp:txXfrm>
    </dsp:sp>
    <dsp:sp modelId="{BA9C09D1-1EDD-436F-9E25-D1AD6279DA89}">
      <dsp:nvSpPr>
        <dsp:cNvPr id="0" name=""/>
        <dsp:cNvSpPr/>
      </dsp:nvSpPr>
      <dsp:spPr>
        <a:xfrm>
          <a:off x="6669042" y="1723261"/>
          <a:ext cx="3703334" cy="148133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l" defTabSz="5778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ptos"/>
            </a:rPr>
            <a:t>Strategic Conclusion: Predictive Power:</a:t>
          </a:r>
          <a:r>
            <a:rPr lang="en-US" sz="1300" b="0" kern="1200">
              <a:latin typeface="Aptos"/>
            </a:rPr>
            <a:t> We can confidently impute missing </a:t>
          </a:r>
          <a:r>
            <a:rPr lang="en-US" sz="1300" b="1" kern="1200">
              <a:latin typeface="Aptos"/>
            </a:rPr>
            <a:t>Vanadium/Nickel</a:t>
          </a:r>
          <a:r>
            <a:rPr lang="en-US" sz="1300" b="0" kern="1200">
              <a:latin typeface="Aptos"/>
            </a:rPr>
            <a:t> values using </a:t>
          </a:r>
          <a:r>
            <a:rPr lang="en-US" sz="1300" b="1" kern="1200">
              <a:latin typeface="Aptos"/>
            </a:rPr>
            <a:t>Sulfur</a:t>
          </a:r>
          <a:r>
            <a:rPr lang="en-US" sz="1300" b="0" kern="1200">
              <a:latin typeface="Aptos"/>
            </a:rPr>
            <a:t> data due to the 90%+ correlation.</a:t>
          </a:r>
          <a:endParaRPr lang="en-US" sz="1300" kern="1200">
            <a:latin typeface="Aptos"/>
          </a:endParaRPr>
        </a:p>
      </dsp:txBody>
      <dsp:txXfrm>
        <a:off x="7409709" y="1723261"/>
        <a:ext cx="2222001" cy="148133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C1AF03-CA66-4422-9093-B61A642D0EB5}">
      <dsp:nvSpPr>
        <dsp:cNvPr id="0" name=""/>
        <dsp:cNvSpPr/>
      </dsp:nvSpPr>
      <dsp:spPr>
        <a:xfrm>
          <a:off x="0" y="3463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711A4-FE2E-49D6-BCA0-26A17F5F03CD}">
      <dsp:nvSpPr>
        <dsp:cNvPr id="0" name=""/>
        <dsp:cNvSpPr/>
      </dsp:nvSpPr>
      <dsp:spPr>
        <a:xfrm>
          <a:off x="476495" y="511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Visualized complex interactions, clusters, and patterns across the entire dataset</a:t>
          </a:r>
          <a:endParaRPr lang="en-US" kern="1200">
            <a:solidFill>
              <a:srgbClr val="2F2F2F"/>
            </a:solidFill>
            <a:latin typeface="Aptos"/>
            <a:ea typeface="+mn-ea"/>
            <a:cs typeface="+mn-cs"/>
          </a:endParaRPr>
        </a:p>
      </dsp:txBody>
      <dsp:txXfrm>
        <a:off x="505316" y="79951"/>
        <a:ext cx="6613295" cy="532758"/>
      </dsp:txXfrm>
    </dsp:sp>
    <dsp:sp modelId="{2B7D1C17-0E06-4FDC-8AF4-7BB2C586D44F}">
      <dsp:nvSpPr>
        <dsp:cNvPr id="0" name=""/>
        <dsp:cNvSpPr/>
      </dsp:nvSpPr>
      <dsp:spPr>
        <a:xfrm>
          <a:off x="0" y="12535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4FAFB-559A-4027-A4FA-98A7314E7390}">
      <dsp:nvSpPr>
        <dsp:cNvPr id="0" name=""/>
        <dsp:cNvSpPr/>
      </dsp:nvSpPr>
      <dsp:spPr>
        <a:xfrm>
          <a:off x="476495" y="9583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Correlation Heatmaps: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Mapped the intensity of relationships to identify co-varying features</a:t>
          </a:r>
          <a:endParaRPr lang="en-US" kern="1200">
            <a:solidFill>
              <a:srgbClr val="2F2F2F"/>
            </a:solidFill>
            <a:latin typeface="Aptos"/>
            <a:ea typeface="+mn-ea"/>
            <a:cs typeface="+mn-cs"/>
          </a:endParaRPr>
        </a:p>
      </dsp:txBody>
      <dsp:txXfrm>
        <a:off x="505316" y="987151"/>
        <a:ext cx="6613295" cy="532758"/>
      </dsp:txXfrm>
    </dsp:sp>
    <dsp:sp modelId="{D6535CAD-C7A9-4A3B-ABD3-EA25CBF7989D}">
      <dsp:nvSpPr>
        <dsp:cNvPr id="0" name=""/>
        <dsp:cNvSpPr/>
      </dsp:nvSpPr>
      <dsp:spPr>
        <a:xfrm>
          <a:off x="0" y="21607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F119-0CAE-4EDC-9570-695DA6C66E42}">
      <dsp:nvSpPr>
        <dsp:cNvPr id="0" name=""/>
        <dsp:cNvSpPr/>
      </dsp:nvSpPr>
      <dsp:spPr>
        <a:xfrm>
          <a:off x="476495" y="18655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Scatter Plot: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Visualized the strongest correlations</a:t>
          </a:r>
          <a:endParaRPr lang="en-US" kern="1200">
            <a:solidFill>
              <a:srgbClr val="2F2F2F"/>
            </a:solidFill>
            <a:latin typeface="Aptos"/>
            <a:ea typeface="+mn-ea"/>
            <a:cs typeface="+mn-cs"/>
          </a:endParaRPr>
        </a:p>
      </dsp:txBody>
      <dsp:txXfrm>
        <a:off x="505316" y="1894351"/>
        <a:ext cx="6613295" cy="532758"/>
      </dsp:txXfrm>
    </dsp:sp>
    <dsp:sp modelId="{2FC84F47-0755-41D2-B59E-7E22DF4AA98C}">
      <dsp:nvSpPr>
        <dsp:cNvPr id="0" name=""/>
        <dsp:cNvSpPr/>
      </dsp:nvSpPr>
      <dsp:spPr>
        <a:xfrm>
          <a:off x="0" y="3067930"/>
          <a:ext cx="9529910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15F28-CC61-4D1E-8383-F53D2B99B962}">
      <dsp:nvSpPr>
        <dsp:cNvPr id="0" name=""/>
        <dsp:cNvSpPr/>
      </dsp:nvSpPr>
      <dsp:spPr>
        <a:xfrm>
          <a:off x="476495" y="2772730"/>
          <a:ext cx="6670937" cy="590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2146" tIns="0" rIns="25214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srgbClr val="2F2F2F"/>
              </a:solidFill>
              <a:latin typeface="Aptos"/>
              <a:ea typeface="+mn-ea"/>
              <a:cs typeface="+mn-cs"/>
            </a:rPr>
            <a:t>Grouped Pair Plots:</a:t>
          </a:r>
          <a:r>
            <a:rPr lang="en-US" sz="1600" kern="1200">
              <a:solidFill>
                <a:srgbClr val="2F2F2F"/>
              </a:solidFill>
              <a:latin typeface="Aptos"/>
              <a:ea typeface="+mn-ea"/>
              <a:cs typeface="+mn-cs"/>
            </a:rPr>
            <a:t> Analyzed multivariate behaviors within logical categories</a:t>
          </a:r>
        </a:p>
      </dsp:txBody>
      <dsp:txXfrm>
        <a:off x="505316" y="2801551"/>
        <a:ext cx="6613295" cy="5327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F66C6-E04D-4A7E-929F-32AE022F4E0D}">
      <dsp:nvSpPr>
        <dsp:cNvPr id="0" name=""/>
        <dsp:cNvSpPr/>
      </dsp:nvSpPr>
      <dsp:spPr>
        <a:xfrm>
          <a:off x="0" y="1297369"/>
          <a:ext cx="10302346" cy="352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B935A-106D-44DD-AB05-272381819BC5}">
      <dsp:nvSpPr>
        <dsp:cNvPr id="0" name=""/>
        <dsp:cNvSpPr/>
      </dsp:nvSpPr>
      <dsp:spPr>
        <a:xfrm>
          <a:off x="515117" y="1090729"/>
          <a:ext cx="7211642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>
              <a:latin typeface="Aptos"/>
            </a:rPr>
            <a:t>Tested </a:t>
          </a:r>
          <a:r>
            <a:rPr lang="en-US" sz="1400" b="1" i="0" kern="1200">
              <a:latin typeface="Aptos"/>
            </a:rPr>
            <a:t>Logistic Regression</a:t>
          </a:r>
          <a:r>
            <a:rPr lang="en-US" sz="1400" b="0" i="0" kern="1200">
              <a:latin typeface="Aptos"/>
            </a:rPr>
            <a:t> (Baseline) vs. </a:t>
          </a:r>
          <a:r>
            <a:rPr lang="en-US" sz="1400" b="1" i="0" kern="1200">
              <a:latin typeface="Aptos"/>
            </a:rPr>
            <a:t>SVM</a:t>
          </a:r>
          <a:r>
            <a:rPr lang="en-US" sz="1400" b="0" i="0" kern="1200">
              <a:latin typeface="Aptos"/>
            </a:rPr>
            <a:t> (Linear &amp; Non-Linear Kernels).</a:t>
          </a:r>
        </a:p>
      </dsp:txBody>
      <dsp:txXfrm>
        <a:off x="535292" y="1110904"/>
        <a:ext cx="7171292" cy="372930"/>
      </dsp:txXfrm>
    </dsp:sp>
    <dsp:sp modelId="{630717DF-73A3-4456-95DB-37F89D584992}">
      <dsp:nvSpPr>
        <dsp:cNvPr id="0" name=""/>
        <dsp:cNvSpPr/>
      </dsp:nvSpPr>
      <dsp:spPr>
        <a:xfrm>
          <a:off x="0" y="1932409"/>
          <a:ext cx="10302346" cy="352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FD316-5B90-4C12-96D7-CF29D5A118F5}">
      <dsp:nvSpPr>
        <dsp:cNvPr id="0" name=""/>
        <dsp:cNvSpPr/>
      </dsp:nvSpPr>
      <dsp:spPr>
        <a:xfrm>
          <a:off x="515117" y="1725769"/>
          <a:ext cx="7211642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Aptos"/>
            </a:rPr>
            <a:t>Validation:</a:t>
          </a:r>
          <a:r>
            <a:rPr lang="en-US" sz="1400" b="0" i="0" kern="1200">
              <a:latin typeface="Aptos"/>
            </a:rPr>
            <a:t> 80/20 Train-Test split with Stratified Sampling.</a:t>
          </a:r>
        </a:p>
      </dsp:txBody>
      <dsp:txXfrm>
        <a:off x="535292" y="1745944"/>
        <a:ext cx="7171292" cy="372930"/>
      </dsp:txXfrm>
    </dsp:sp>
    <dsp:sp modelId="{65BABDF5-BA16-4DF7-A6FD-FFE88EFAEF73}">
      <dsp:nvSpPr>
        <dsp:cNvPr id="0" name=""/>
        <dsp:cNvSpPr/>
      </dsp:nvSpPr>
      <dsp:spPr>
        <a:xfrm>
          <a:off x="0" y="2567449"/>
          <a:ext cx="10302346" cy="352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1072D-AEA2-4FD9-9F25-CE61ACEDE255}">
      <dsp:nvSpPr>
        <dsp:cNvPr id="0" name=""/>
        <dsp:cNvSpPr/>
      </dsp:nvSpPr>
      <dsp:spPr>
        <a:xfrm>
          <a:off x="515117" y="2360809"/>
          <a:ext cx="7211642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Aptos"/>
            </a:rPr>
            <a:t>Task 1: Crude Type (Multi-Class), Goal:</a:t>
          </a:r>
          <a:r>
            <a:rPr lang="en-US" sz="1400" b="0" i="0" kern="1200">
              <a:latin typeface="Aptos"/>
            </a:rPr>
            <a:t> Classify into Light / Medium / Heavy.</a:t>
          </a:r>
          <a:endParaRPr lang="en-US" sz="1400" b="0" i="0" kern="1200">
            <a:latin typeface="Aptos"/>
            <a:ea typeface="+mn-ea"/>
            <a:cs typeface="+mn-cs"/>
          </a:endParaRPr>
        </a:p>
      </dsp:txBody>
      <dsp:txXfrm>
        <a:off x="535292" y="2380984"/>
        <a:ext cx="7171292" cy="372930"/>
      </dsp:txXfrm>
    </dsp:sp>
    <dsp:sp modelId="{AB3907C3-A011-43F6-A22E-8E7853CEDAE2}">
      <dsp:nvSpPr>
        <dsp:cNvPr id="0" name=""/>
        <dsp:cNvSpPr/>
      </dsp:nvSpPr>
      <dsp:spPr>
        <a:xfrm>
          <a:off x="0" y="3202489"/>
          <a:ext cx="10302346" cy="352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80AC6-4924-4E9D-B013-DA98818CA77C}">
      <dsp:nvSpPr>
        <dsp:cNvPr id="0" name=""/>
        <dsp:cNvSpPr/>
      </dsp:nvSpPr>
      <dsp:spPr>
        <a:xfrm>
          <a:off x="515117" y="2995849"/>
          <a:ext cx="7211642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Aptos"/>
            </a:rPr>
            <a:t>Task 2: Sulfur </a:t>
          </a:r>
          <a:r>
            <a:rPr lang="en-US" sz="1400" b="1" i="0" kern="1200" err="1">
              <a:latin typeface="Aptos"/>
            </a:rPr>
            <a:t>Flavour</a:t>
          </a:r>
          <a:r>
            <a:rPr lang="en-US" sz="1400" b="1" i="0" kern="1200">
              <a:latin typeface="Aptos"/>
            </a:rPr>
            <a:t> (Binary), Goal:</a:t>
          </a:r>
          <a:r>
            <a:rPr lang="en-US" sz="1400" b="0" i="0" kern="1200">
              <a:latin typeface="Aptos"/>
            </a:rPr>
            <a:t> Classify into Sweet / Sour (using metal proxies).</a:t>
          </a:r>
        </a:p>
      </dsp:txBody>
      <dsp:txXfrm>
        <a:off x="535292" y="3016024"/>
        <a:ext cx="7171292" cy="37293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F66C6-E04D-4A7E-929F-32AE022F4E0D}">
      <dsp:nvSpPr>
        <dsp:cNvPr id="0" name=""/>
        <dsp:cNvSpPr/>
      </dsp:nvSpPr>
      <dsp:spPr>
        <a:xfrm>
          <a:off x="0" y="543709"/>
          <a:ext cx="10302346" cy="37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B935A-106D-44DD-AB05-272381819BC5}">
      <dsp:nvSpPr>
        <dsp:cNvPr id="0" name=""/>
        <dsp:cNvSpPr/>
      </dsp:nvSpPr>
      <dsp:spPr>
        <a:xfrm>
          <a:off x="515117" y="3223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>
              <a:latin typeface="Aptos"/>
              <a:ea typeface="+mn-ea"/>
              <a:cs typeface="+mn-cs"/>
            </a:rPr>
            <a:t>Predicted continuous physicochemical values for precise refinery planning.</a:t>
          </a:r>
          <a:endParaRPr lang="en-US" kern="1200">
            <a:latin typeface="Aptos"/>
            <a:ea typeface="+mn-ea"/>
            <a:cs typeface="+mn-cs"/>
          </a:endParaRPr>
        </a:p>
      </dsp:txBody>
      <dsp:txXfrm>
        <a:off x="536733" y="343925"/>
        <a:ext cx="7168410" cy="399568"/>
      </dsp:txXfrm>
    </dsp:sp>
    <dsp:sp modelId="{630717DF-73A3-4456-95DB-37F89D584992}">
      <dsp:nvSpPr>
        <dsp:cNvPr id="0" name=""/>
        <dsp:cNvSpPr/>
      </dsp:nvSpPr>
      <dsp:spPr>
        <a:xfrm>
          <a:off x="0" y="1224109"/>
          <a:ext cx="10302346" cy="37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FD316-5B90-4C12-96D7-CF29D5A118F5}">
      <dsp:nvSpPr>
        <dsp:cNvPr id="0" name=""/>
        <dsp:cNvSpPr/>
      </dsp:nvSpPr>
      <dsp:spPr>
        <a:xfrm>
          <a:off x="515117" y="10027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latin typeface="Aptos"/>
              <a:ea typeface="+mn-ea"/>
              <a:cs typeface="+mn-cs"/>
            </a:rPr>
            <a:t>Evaluated </a:t>
          </a:r>
          <a:r>
            <a:rPr lang="en-US" sz="1500" b="1" i="0" kern="1200">
              <a:latin typeface="Aptos"/>
              <a:ea typeface="+mn-ea"/>
              <a:cs typeface="+mn-cs"/>
            </a:rPr>
            <a:t>Linear Models</a:t>
          </a:r>
          <a:r>
            <a:rPr lang="en-US" sz="1500" b="0" i="0" kern="1200">
              <a:latin typeface="Aptos"/>
              <a:ea typeface="+mn-ea"/>
              <a:cs typeface="+mn-cs"/>
            </a:rPr>
            <a:t> (Simple, Ridge, LASSO) vs. </a:t>
          </a:r>
          <a:r>
            <a:rPr lang="en-US" sz="1500" b="1" i="0" kern="1200">
              <a:latin typeface="Aptos"/>
              <a:ea typeface="+mn-ea"/>
              <a:cs typeface="+mn-cs"/>
            </a:rPr>
            <a:t>SVR</a:t>
          </a:r>
          <a:r>
            <a:rPr lang="en-US" sz="1500" b="0" i="0" kern="1200">
              <a:latin typeface="Aptos"/>
              <a:ea typeface="+mn-ea"/>
              <a:cs typeface="+mn-cs"/>
            </a:rPr>
            <a:t> (Linear &amp; Non-Linear).</a:t>
          </a:r>
          <a:endParaRPr lang="en-US" sz="1500" kern="1200">
            <a:latin typeface="Aptos"/>
            <a:ea typeface="+mn-ea"/>
            <a:cs typeface="+mn-cs"/>
          </a:endParaRPr>
        </a:p>
      </dsp:txBody>
      <dsp:txXfrm>
        <a:off x="536733" y="1024325"/>
        <a:ext cx="7168410" cy="399568"/>
      </dsp:txXfrm>
    </dsp:sp>
    <dsp:sp modelId="{1C9E66C8-BB65-49F7-B4F8-5DCEEE89BD4A}">
      <dsp:nvSpPr>
        <dsp:cNvPr id="0" name=""/>
        <dsp:cNvSpPr/>
      </dsp:nvSpPr>
      <dsp:spPr>
        <a:xfrm>
          <a:off x="0" y="1904509"/>
          <a:ext cx="10302346" cy="37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BF0D7-FF6D-49DF-BD18-9746B234D807}">
      <dsp:nvSpPr>
        <dsp:cNvPr id="0" name=""/>
        <dsp:cNvSpPr/>
      </dsp:nvSpPr>
      <dsp:spPr>
        <a:xfrm>
          <a:off x="515117" y="16831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>
              <a:latin typeface="Aptos"/>
              <a:ea typeface="Calibri"/>
              <a:cs typeface="Calibri"/>
            </a:rPr>
            <a:t>Validation: 80/20</a:t>
          </a:r>
          <a:r>
            <a:rPr lang="en-US" sz="1500" b="0" i="0" kern="1200">
              <a:latin typeface="Aptos"/>
              <a:ea typeface="Calibri"/>
              <a:cs typeface="Calibri"/>
            </a:rPr>
            <a:t> Train-Test split with Stratified Sampling.</a:t>
          </a:r>
        </a:p>
      </dsp:txBody>
      <dsp:txXfrm>
        <a:off x="536733" y="1704725"/>
        <a:ext cx="7168410" cy="399568"/>
      </dsp:txXfrm>
    </dsp:sp>
    <dsp:sp modelId="{B10F7EA8-178D-465B-9A41-F3B7082274C5}">
      <dsp:nvSpPr>
        <dsp:cNvPr id="0" name=""/>
        <dsp:cNvSpPr/>
      </dsp:nvSpPr>
      <dsp:spPr>
        <a:xfrm>
          <a:off x="0" y="2584909"/>
          <a:ext cx="10302346" cy="37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D10FC-7A6A-4825-8616-CD26519E16B2}">
      <dsp:nvSpPr>
        <dsp:cNvPr id="0" name=""/>
        <dsp:cNvSpPr/>
      </dsp:nvSpPr>
      <dsp:spPr>
        <a:xfrm>
          <a:off x="515117" y="23635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>
              <a:latin typeface="Aptos"/>
              <a:ea typeface="+mn-ea"/>
              <a:cs typeface="+mn-cs"/>
            </a:rPr>
            <a:t>Key Metric:</a:t>
          </a:r>
          <a:r>
            <a:rPr lang="en-US" sz="1500" b="0" i="0" kern="1200">
              <a:latin typeface="Aptos"/>
              <a:ea typeface="+mn-ea"/>
              <a:cs typeface="+mn-cs"/>
            </a:rPr>
            <a:t> R</a:t>
          </a:r>
          <a:r>
            <a:rPr lang="en-US" sz="1500" b="0" i="0" kern="1200" baseline="30000">
              <a:latin typeface="Aptos"/>
              <a:ea typeface="+mn-ea"/>
              <a:cs typeface="+mn-cs"/>
            </a:rPr>
            <a:t>2</a:t>
          </a:r>
          <a:r>
            <a:rPr lang="en-US" sz="1500" b="0" i="0" kern="1200">
              <a:latin typeface="Aptos"/>
              <a:ea typeface="+mn-ea"/>
              <a:cs typeface="+mn-cs"/>
            </a:rPr>
            <a:t> Score and RMSE (Root Mean Square Error)</a:t>
          </a:r>
        </a:p>
      </dsp:txBody>
      <dsp:txXfrm>
        <a:off x="536733" y="2385125"/>
        <a:ext cx="7168410" cy="399568"/>
      </dsp:txXfrm>
    </dsp:sp>
    <dsp:sp modelId="{65BABDF5-BA16-4DF7-A6FD-FFE88EFAEF73}">
      <dsp:nvSpPr>
        <dsp:cNvPr id="0" name=""/>
        <dsp:cNvSpPr/>
      </dsp:nvSpPr>
      <dsp:spPr>
        <a:xfrm>
          <a:off x="0" y="3265309"/>
          <a:ext cx="10302346" cy="37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51072D-AEA2-4FD9-9F25-CE61ACEDE255}">
      <dsp:nvSpPr>
        <dsp:cNvPr id="0" name=""/>
        <dsp:cNvSpPr/>
      </dsp:nvSpPr>
      <dsp:spPr>
        <a:xfrm>
          <a:off x="515117" y="30439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>
              <a:latin typeface="Aptos"/>
              <a:ea typeface="+mn-ea"/>
              <a:cs typeface="+mn-cs"/>
            </a:rPr>
            <a:t>Task 1: API Gravity, Goal:</a:t>
          </a:r>
          <a:r>
            <a:rPr lang="en-US" sz="1400" b="0" i="0" kern="1200">
              <a:latin typeface="Aptos"/>
              <a:ea typeface="+mn-ea"/>
              <a:cs typeface="+mn-cs"/>
            </a:rPr>
            <a:t> Estimate crude lightness and product yield.</a:t>
          </a:r>
          <a:endParaRPr lang="en-US" sz="1400" b="1" i="0" kern="1200">
            <a:latin typeface="Aptos"/>
            <a:ea typeface="+mn-ea"/>
            <a:cs typeface="+mn-cs"/>
          </a:endParaRPr>
        </a:p>
      </dsp:txBody>
      <dsp:txXfrm>
        <a:off x="536733" y="3065525"/>
        <a:ext cx="7168410" cy="399568"/>
      </dsp:txXfrm>
    </dsp:sp>
    <dsp:sp modelId="{AB3907C3-A011-43F6-A22E-8E7853CEDAE2}">
      <dsp:nvSpPr>
        <dsp:cNvPr id="0" name=""/>
        <dsp:cNvSpPr/>
      </dsp:nvSpPr>
      <dsp:spPr>
        <a:xfrm>
          <a:off x="0" y="3945709"/>
          <a:ext cx="10302346" cy="378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80AC6-4924-4E9D-B013-DA98818CA77C}">
      <dsp:nvSpPr>
        <dsp:cNvPr id="0" name=""/>
        <dsp:cNvSpPr/>
      </dsp:nvSpPr>
      <dsp:spPr>
        <a:xfrm>
          <a:off x="515117" y="37243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>
              <a:latin typeface="Aptos"/>
              <a:ea typeface="+mn-ea"/>
              <a:cs typeface="+mn-cs"/>
            </a:rPr>
            <a:t>Task 2: Total Sulfur, Goal:</a:t>
          </a:r>
          <a:r>
            <a:rPr lang="en-US" sz="1500" b="0" i="0" kern="1200">
              <a:latin typeface="Aptos"/>
              <a:ea typeface="+mn-ea"/>
              <a:cs typeface="+mn-cs"/>
            </a:rPr>
            <a:t> Estimate exact impurity percentage.</a:t>
          </a:r>
          <a:endParaRPr lang="en-US" sz="1500" b="1" i="0" kern="1200">
            <a:latin typeface="Aptos"/>
            <a:ea typeface="+mn-ea"/>
            <a:cs typeface="+mn-cs"/>
          </a:endParaRPr>
        </a:p>
      </dsp:txBody>
      <dsp:txXfrm>
        <a:off x="536733" y="3745925"/>
        <a:ext cx="7168410" cy="3995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F66C6-E04D-4A7E-929F-32AE022F4E0D}">
      <dsp:nvSpPr>
        <dsp:cNvPr id="0" name=""/>
        <dsp:cNvSpPr/>
      </dsp:nvSpPr>
      <dsp:spPr>
        <a:xfrm>
          <a:off x="0" y="1605109"/>
          <a:ext cx="10302346" cy="378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B935A-106D-44DD-AB05-272381819BC5}">
      <dsp:nvSpPr>
        <dsp:cNvPr id="0" name=""/>
        <dsp:cNvSpPr/>
      </dsp:nvSpPr>
      <dsp:spPr>
        <a:xfrm>
          <a:off x="515117" y="13837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>
              <a:latin typeface="Arial"/>
              <a:ea typeface="+mn-ea"/>
              <a:cs typeface="+mn-cs"/>
            </a:rPr>
            <a:t>Discovered hidden chemical patterns without using pre-existing labels.</a:t>
          </a:r>
          <a:endParaRPr lang="en-US" kern="1200">
            <a:latin typeface="Arial"/>
            <a:ea typeface="+mn-ea"/>
            <a:cs typeface="+mn-cs"/>
          </a:endParaRPr>
        </a:p>
      </dsp:txBody>
      <dsp:txXfrm>
        <a:off x="536733" y="1405325"/>
        <a:ext cx="7168410" cy="399568"/>
      </dsp:txXfrm>
    </dsp:sp>
    <dsp:sp modelId="{0040C6FB-2539-44D4-8413-E07211407E7B}">
      <dsp:nvSpPr>
        <dsp:cNvPr id="0" name=""/>
        <dsp:cNvSpPr/>
      </dsp:nvSpPr>
      <dsp:spPr>
        <a:xfrm>
          <a:off x="0" y="2285509"/>
          <a:ext cx="10302346" cy="378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205B6-C078-4A2F-B8CE-07B15BACF4A6}">
      <dsp:nvSpPr>
        <dsp:cNvPr id="0" name=""/>
        <dsp:cNvSpPr/>
      </dsp:nvSpPr>
      <dsp:spPr>
        <a:xfrm>
          <a:off x="515117" y="20641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Arial"/>
              <a:ea typeface="+mn-ea"/>
              <a:cs typeface="+mn-cs"/>
            </a:rPr>
            <a:t>K-Means:</a:t>
          </a:r>
          <a:r>
            <a:rPr lang="en-US" sz="1500" kern="1200">
              <a:latin typeface="Arial"/>
              <a:ea typeface="+mn-ea"/>
              <a:cs typeface="+mn-cs"/>
            </a:rPr>
            <a:t> Grouped crude oils into distinct clusters based on similarity.</a:t>
          </a:r>
        </a:p>
      </dsp:txBody>
      <dsp:txXfrm>
        <a:off x="536733" y="2085725"/>
        <a:ext cx="7168410" cy="399568"/>
      </dsp:txXfrm>
    </dsp:sp>
    <dsp:sp modelId="{7E70ACF0-6CBD-4E13-941F-93B99BA6602C}">
      <dsp:nvSpPr>
        <dsp:cNvPr id="0" name=""/>
        <dsp:cNvSpPr/>
      </dsp:nvSpPr>
      <dsp:spPr>
        <a:xfrm>
          <a:off x="0" y="2965909"/>
          <a:ext cx="10302346" cy="378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8ED2E-DA5E-413A-8E24-C0E6E4B37C61}">
      <dsp:nvSpPr>
        <dsp:cNvPr id="0" name=""/>
        <dsp:cNvSpPr/>
      </dsp:nvSpPr>
      <dsp:spPr>
        <a:xfrm>
          <a:off x="515117" y="27445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>
              <a:latin typeface="Arial"/>
              <a:ea typeface="+mn-ea"/>
              <a:cs typeface="+mn-cs"/>
            </a:rPr>
            <a:t>Dendrogram:</a:t>
          </a:r>
          <a:r>
            <a:rPr lang="en-US" sz="1500" kern="1200">
              <a:latin typeface="Arial"/>
              <a:ea typeface="+mn-ea"/>
              <a:cs typeface="+mn-cs"/>
            </a:rPr>
            <a:t> Built a "Family Tree" to visualize relationships and substitutes.</a:t>
          </a:r>
        </a:p>
      </dsp:txBody>
      <dsp:txXfrm>
        <a:off x="536733" y="2766125"/>
        <a:ext cx="7168410" cy="399568"/>
      </dsp:txXfrm>
    </dsp:sp>
    <dsp:sp modelId="{630717DF-73A3-4456-95DB-37F89D584992}">
      <dsp:nvSpPr>
        <dsp:cNvPr id="0" name=""/>
        <dsp:cNvSpPr/>
      </dsp:nvSpPr>
      <dsp:spPr>
        <a:xfrm>
          <a:off x="0" y="3646309"/>
          <a:ext cx="10302346" cy="3780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FD316-5B90-4C12-96D7-CF29D5A118F5}">
      <dsp:nvSpPr>
        <dsp:cNvPr id="0" name=""/>
        <dsp:cNvSpPr/>
      </dsp:nvSpPr>
      <dsp:spPr>
        <a:xfrm>
          <a:off x="515117" y="3424909"/>
          <a:ext cx="7211642" cy="442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583" tIns="0" rIns="272583" bIns="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rial"/>
              <a:ea typeface="+mn-ea"/>
              <a:cs typeface="+mn-cs"/>
            </a:rPr>
            <a:t>Identified </a:t>
          </a:r>
          <a:r>
            <a:rPr lang="en-US" sz="1500" b="1" kern="1200">
              <a:latin typeface="Arial"/>
              <a:ea typeface="+mn-ea"/>
              <a:cs typeface="+mn-cs"/>
            </a:rPr>
            <a:t>3 Natural Clusters</a:t>
          </a:r>
          <a:r>
            <a:rPr lang="en-US" sz="1500" kern="1200">
              <a:latin typeface="Arial"/>
              <a:ea typeface="+mn-ea"/>
              <a:cs typeface="+mn-cs"/>
            </a:rPr>
            <a:t> (Condensates, Baseload, Heavy/Sour).</a:t>
          </a:r>
        </a:p>
      </dsp:txBody>
      <dsp:txXfrm>
        <a:off x="536733" y="3446525"/>
        <a:ext cx="7168410" cy="3995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5DA78-3516-4F2A-9535-E2BCB9A3CF9C}">
      <dsp:nvSpPr>
        <dsp:cNvPr id="0" name=""/>
        <dsp:cNvSpPr/>
      </dsp:nvSpPr>
      <dsp:spPr>
        <a:xfrm>
          <a:off x="0" y="4299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640281-2609-4DD8-B2F0-DC99D1B7ECFD}">
      <dsp:nvSpPr>
        <dsp:cNvPr id="0" name=""/>
        <dsp:cNvSpPr/>
      </dsp:nvSpPr>
      <dsp:spPr>
        <a:xfrm>
          <a:off x="277016" y="210345"/>
          <a:ext cx="503667" cy="503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1DC8D-8466-4A6E-AF44-C6A763A28027}">
      <dsp:nvSpPr>
        <dsp:cNvPr id="0" name=""/>
        <dsp:cNvSpPr/>
      </dsp:nvSpPr>
      <dsp:spPr>
        <a:xfrm>
          <a:off x="1057701" y="4299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/>
            </a:rPr>
            <a:t>Core Finding:</a:t>
          </a:r>
          <a:r>
            <a:rPr lang="en-US" sz="1800" kern="1200" dirty="0">
              <a:latin typeface="Aptos"/>
            </a:rPr>
            <a:t> Crude oil quality is not random; it follows </a:t>
          </a:r>
          <a:r>
            <a:rPr lang="en-US" sz="1800" b="1" kern="1200" dirty="0">
              <a:latin typeface="Aptos"/>
            </a:rPr>
            <a:t>three distinct chemical regimes</a:t>
          </a:r>
          <a:r>
            <a:rPr lang="en-US" sz="1800" kern="1200" dirty="0">
              <a:latin typeface="Aptos"/>
            </a:rPr>
            <a:t>.</a:t>
          </a:r>
        </a:p>
      </dsp:txBody>
      <dsp:txXfrm>
        <a:off x="1057701" y="4299"/>
        <a:ext cx="4803388" cy="915758"/>
      </dsp:txXfrm>
    </dsp:sp>
    <dsp:sp modelId="{E17B1C5D-2925-42E1-86BF-2E22975D593C}">
      <dsp:nvSpPr>
        <dsp:cNvPr id="0" name=""/>
        <dsp:cNvSpPr/>
      </dsp:nvSpPr>
      <dsp:spPr>
        <a:xfrm>
          <a:off x="0" y="1148997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1F6215-5B23-4528-A7C9-CF75A29B7B7B}">
      <dsp:nvSpPr>
        <dsp:cNvPr id="0" name=""/>
        <dsp:cNvSpPr/>
      </dsp:nvSpPr>
      <dsp:spPr>
        <a:xfrm>
          <a:off x="277016" y="1355043"/>
          <a:ext cx="503667" cy="503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32DBF-EA26-4815-BFCB-7B6DE729F13A}">
      <dsp:nvSpPr>
        <dsp:cNvPr id="0" name=""/>
        <dsp:cNvSpPr/>
      </dsp:nvSpPr>
      <dsp:spPr>
        <a:xfrm>
          <a:off x="1057701" y="1148997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/>
            </a:rPr>
            <a:t>Ultra-Light Condensates</a:t>
          </a:r>
          <a:r>
            <a:rPr lang="en-US" sz="1800" kern="1200" dirty="0">
              <a:latin typeface="Aptos"/>
            </a:rPr>
            <a:t> (Premium).</a:t>
          </a:r>
        </a:p>
      </dsp:txBody>
      <dsp:txXfrm>
        <a:off x="1057701" y="1148997"/>
        <a:ext cx="4803388" cy="915758"/>
      </dsp:txXfrm>
    </dsp:sp>
    <dsp:sp modelId="{CE1074F9-65B8-4F90-BDE7-D6BDC2155203}">
      <dsp:nvSpPr>
        <dsp:cNvPr id="0" name=""/>
        <dsp:cNvSpPr/>
      </dsp:nvSpPr>
      <dsp:spPr>
        <a:xfrm>
          <a:off x="0" y="2293695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E27764-9306-42D4-A33A-6EBFE73E8604}">
      <dsp:nvSpPr>
        <dsp:cNvPr id="0" name=""/>
        <dsp:cNvSpPr/>
      </dsp:nvSpPr>
      <dsp:spPr>
        <a:xfrm>
          <a:off x="277016" y="2499741"/>
          <a:ext cx="503667" cy="5036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9A506C-A684-4EB8-90AC-4E3313D4A0C1}">
      <dsp:nvSpPr>
        <dsp:cNvPr id="0" name=""/>
        <dsp:cNvSpPr/>
      </dsp:nvSpPr>
      <dsp:spPr>
        <a:xfrm>
          <a:off x="1057701" y="2293695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/>
            </a:rPr>
            <a:t>Baseload Medium Crudes</a:t>
          </a:r>
          <a:r>
            <a:rPr lang="en-US" sz="1800" kern="1200" dirty="0">
              <a:latin typeface="Aptos"/>
            </a:rPr>
            <a:t> (Standard).</a:t>
          </a:r>
        </a:p>
      </dsp:txBody>
      <dsp:txXfrm>
        <a:off x="1057701" y="2293695"/>
        <a:ext cx="4803388" cy="915758"/>
      </dsp:txXfrm>
    </dsp:sp>
    <dsp:sp modelId="{4A00895D-63B2-4514-B9E8-15311B263B96}">
      <dsp:nvSpPr>
        <dsp:cNvPr id="0" name=""/>
        <dsp:cNvSpPr/>
      </dsp:nvSpPr>
      <dsp:spPr>
        <a:xfrm>
          <a:off x="0" y="3438393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A769C-0079-4205-AE78-9001AE5F19D2}">
      <dsp:nvSpPr>
        <dsp:cNvPr id="0" name=""/>
        <dsp:cNvSpPr/>
      </dsp:nvSpPr>
      <dsp:spPr>
        <a:xfrm>
          <a:off x="277016" y="3644439"/>
          <a:ext cx="503667" cy="5036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64738-968C-4EEB-BCF6-FF798B3BC21F}">
      <dsp:nvSpPr>
        <dsp:cNvPr id="0" name=""/>
        <dsp:cNvSpPr/>
      </dsp:nvSpPr>
      <dsp:spPr>
        <a:xfrm>
          <a:off x="1057701" y="3438393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/>
            </a:rPr>
            <a:t>Heavy/Sour Crudes</a:t>
          </a:r>
          <a:r>
            <a:rPr lang="en-US" sz="1800" kern="1200" dirty="0">
              <a:latin typeface="Aptos"/>
            </a:rPr>
            <a:t> (Distressed/Complex).</a:t>
          </a:r>
        </a:p>
      </dsp:txBody>
      <dsp:txXfrm>
        <a:off x="1057701" y="3438393"/>
        <a:ext cx="4803388" cy="915758"/>
      </dsp:txXfrm>
    </dsp:sp>
    <dsp:sp modelId="{2F9D4F11-6543-4D57-8F5A-5BA111F9300C}">
      <dsp:nvSpPr>
        <dsp:cNvPr id="0" name=""/>
        <dsp:cNvSpPr/>
      </dsp:nvSpPr>
      <dsp:spPr>
        <a:xfrm>
          <a:off x="0" y="4583092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44F65-E103-4174-9D09-2B6F457EE5F1}">
      <dsp:nvSpPr>
        <dsp:cNvPr id="0" name=""/>
        <dsp:cNvSpPr/>
      </dsp:nvSpPr>
      <dsp:spPr>
        <a:xfrm>
          <a:off x="277016" y="4789137"/>
          <a:ext cx="503667" cy="5036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E8B19-CB6D-47BC-973E-C8F800EE384F}">
      <dsp:nvSpPr>
        <dsp:cNvPr id="0" name=""/>
        <dsp:cNvSpPr/>
      </dsp:nvSpPr>
      <dsp:spPr>
        <a:xfrm>
          <a:off x="1057701" y="4583092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"/>
            </a:rPr>
            <a:t>Key Insight:</a:t>
          </a:r>
          <a:r>
            <a:rPr lang="en-US" sz="1800" kern="1200" dirty="0">
              <a:latin typeface="Aptos"/>
            </a:rPr>
            <a:t> Industry labels ("Light/Heavy") are scientifically valid and mathematically separable.</a:t>
          </a:r>
        </a:p>
      </dsp:txBody>
      <dsp:txXfrm>
        <a:off x="1057701" y="4583092"/>
        <a:ext cx="4803388" cy="9157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29DCD-1202-4A3F-9643-0C1A97129800}">
      <dsp:nvSpPr>
        <dsp:cNvPr id="0" name=""/>
        <dsp:cNvSpPr/>
      </dsp:nvSpPr>
      <dsp:spPr>
        <a:xfrm>
          <a:off x="0" y="671"/>
          <a:ext cx="5861090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1EE9E-96F2-4254-803F-8B569A0B8C63}">
      <dsp:nvSpPr>
        <dsp:cNvPr id="0" name=""/>
        <dsp:cNvSpPr/>
      </dsp:nvSpPr>
      <dsp:spPr>
        <a:xfrm>
          <a:off x="475513" y="354359"/>
          <a:ext cx="864569" cy="864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4CF43-25B8-452A-800E-5112C0876968}">
      <dsp:nvSpPr>
        <dsp:cNvPr id="0" name=""/>
        <dsp:cNvSpPr/>
      </dsp:nvSpPr>
      <dsp:spPr>
        <a:xfrm>
          <a:off x="1815596" y="671"/>
          <a:ext cx="4045493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ptos"/>
            </a:rPr>
            <a:t>Viscosity scales </a:t>
          </a:r>
          <a:r>
            <a:rPr lang="en-US" sz="2100" b="1" kern="1200" dirty="0">
              <a:latin typeface="Aptos"/>
            </a:rPr>
            <a:t>non-linearly</a:t>
          </a:r>
          <a:r>
            <a:rPr lang="en-US" sz="2100" kern="1200" dirty="0">
              <a:latin typeface="Aptos"/>
            </a:rPr>
            <a:t>. Below 25° API, pumping resistance spikes exponentially.</a:t>
          </a:r>
        </a:p>
      </dsp:txBody>
      <dsp:txXfrm>
        <a:off x="1815596" y="671"/>
        <a:ext cx="4045493" cy="1571944"/>
      </dsp:txXfrm>
    </dsp:sp>
    <dsp:sp modelId="{7C4C80A9-241A-4E0E-A13B-D927057E35E4}">
      <dsp:nvSpPr>
        <dsp:cNvPr id="0" name=""/>
        <dsp:cNvSpPr/>
      </dsp:nvSpPr>
      <dsp:spPr>
        <a:xfrm>
          <a:off x="0" y="1965602"/>
          <a:ext cx="5861090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FD367F-10D4-49FC-9773-47D844751072}">
      <dsp:nvSpPr>
        <dsp:cNvPr id="0" name=""/>
        <dsp:cNvSpPr/>
      </dsp:nvSpPr>
      <dsp:spPr>
        <a:xfrm>
          <a:off x="475513" y="2319290"/>
          <a:ext cx="864569" cy="864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A89AF-66C2-4D10-985D-A329F1580A0A}">
      <dsp:nvSpPr>
        <dsp:cNvPr id="0" name=""/>
        <dsp:cNvSpPr/>
      </dsp:nvSpPr>
      <dsp:spPr>
        <a:xfrm>
          <a:off x="1815596" y="1965602"/>
          <a:ext cx="4045493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Aptos"/>
            </a:rPr>
            <a:t>Near-perfect correlation (r &gt; 0.9)</a:t>
          </a:r>
          <a:r>
            <a:rPr lang="en-US" sz="2100" kern="1200" dirty="0">
              <a:latin typeface="Aptos"/>
            </a:rPr>
            <a:t> between Sulfur and Metals (Vanadium/Nickel).</a:t>
          </a:r>
        </a:p>
      </dsp:txBody>
      <dsp:txXfrm>
        <a:off x="1815596" y="1965602"/>
        <a:ext cx="4045493" cy="1571944"/>
      </dsp:txXfrm>
    </dsp:sp>
    <dsp:sp modelId="{1ACBBF58-1DEE-4AEE-AA3E-E7563253F429}">
      <dsp:nvSpPr>
        <dsp:cNvPr id="0" name=""/>
        <dsp:cNvSpPr/>
      </dsp:nvSpPr>
      <dsp:spPr>
        <a:xfrm>
          <a:off x="0" y="3930533"/>
          <a:ext cx="5861090" cy="15719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29CA87-3558-4423-8704-AB1827701F7B}">
      <dsp:nvSpPr>
        <dsp:cNvPr id="0" name=""/>
        <dsp:cNvSpPr/>
      </dsp:nvSpPr>
      <dsp:spPr>
        <a:xfrm>
          <a:off x="475513" y="4284221"/>
          <a:ext cx="864569" cy="8645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A3D11-A6AA-4375-B6C2-AF47549874D4}">
      <dsp:nvSpPr>
        <dsp:cNvPr id="0" name=""/>
        <dsp:cNvSpPr/>
      </dsp:nvSpPr>
      <dsp:spPr>
        <a:xfrm>
          <a:off x="1815596" y="3930533"/>
          <a:ext cx="4045493" cy="1571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364" tIns="166364" rIns="166364" bIns="166364" numCol="1" spcCol="127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Aptos"/>
            </a:rPr>
            <a:t> "Sour" crude is guaranteed to be "Dirty" (high metal).</a:t>
          </a:r>
        </a:p>
      </dsp:txBody>
      <dsp:txXfrm>
        <a:off x="1815596" y="3930533"/>
        <a:ext cx="4045493" cy="15719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57F6C-128E-4E0C-8CD8-A0E4B15360FB}">
      <dsp:nvSpPr>
        <dsp:cNvPr id="0" name=""/>
        <dsp:cNvSpPr/>
      </dsp:nvSpPr>
      <dsp:spPr>
        <a:xfrm>
          <a:off x="0" y="2626263"/>
          <a:ext cx="2628900" cy="17231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b="1" kern="1200" dirty="0">
              <a:latin typeface="Aptos"/>
            </a:rPr>
            <a:t>Regression (Property Estimation):</a:t>
          </a:r>
          <a:endParaRPr lang="en-US" sz="2700" kern="1200" dirty="0">
            <a:latin typeface="Aptos"/>
          </a:endParaRPr>
        </a:p>
      </dsp:txBody>
      <dsp:txXfrm>
        <a:off x="0" y="2626263"/>
        <a:ext cx="2628900" cy="1723112"/>
      </dsp:txXfrm>
    </dsp:sp>
    <dsp:sp modelId="{B4D94DE9-BC5A-49F6-8B01-FC843DD773A8}">
      <dsp:nvSpPr>
        <dsp:cNvPr id="0" name=""/>
        <dsp:cNvSpPr/>
      </dsp:nvSpPr>
      <dsp:spPr>
        <a:xfrm>
          <a:off x="2628900" y="2626263"/>
          <a:ext cx="7886700" cy="17231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9980" tIns="215900" rIns="159980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Aptos"/>
            </a:rPr>
            <a:t>API Gravity:</a:t>
          </a:r>
          <a:r>
            <a:rPr lang="en-US" sz="1700" kern="1200" dirty="0">
              <a:latin typeface="Aptos"/>
            </a:rPr>
            <a:t> </a:t>
          </a:r>
          <a:r>
            <a:rPr lang="en-US" sz="1700" b="1" kern="1200" dirty="0">
              <a:latin typeface="Aptos"/>
            </a:rPr>
            <a:t>R</a:t>
          </a:r>
          <a:r>
            <a:rPr lang="en-US" sz="1700" b="1" kern="1200" baseline="30000" dirty="0">
              <a:latin typeface="Aptos"/>
            </a:rPr>
            <a:t>2 </a:t>
          </a:r>
          <a:r>
            <a:rPr lang="en-US" sz="1700" b="1" kern="1200" dirty="0">
              <a:latin typeface="Aptos"/>
            </a:rPr>
            <a:t>= 0.95</a:t>
          </a:r>
          <a:r>
            <a:rPr lang="en-US" sz="1700" kern="1200" dirty="0">
              <a:latin typeface="Aptos"/>
            </a:rPr>
            <a:t> (Linear SVR). Highly predictable using light hydrocarbon composition.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Aptos"/>
            </a:rPr>
            <a:t>Total Sulfur:</a:t>
          </a:r>
          <a:r>
            <a:rPr lang="en-US" sz="1700" kern="1200" dirty="0">
              <a:latin typeface="Aptos"/>
            </a:rPr>
            <a:t> Regression failed (R</a:t>
          </a:r>
          <a:r>
            <a:rPr lang="en-US" sz="1700" kern="1200" baseline="30000" dirty="0">
              <a:latin typeface="Aptos"/>
            </a:rPr>
            <a:t>2</a:t>
          </a:r>
          <a:r>
            <a:rPr lang="en-US" sz="1700" kern="1200" dirty="0">
              <a:latin typeface="Aptos"/>
            </a:rPr>
            <a:t> &lt; 0) due to extreme outliers.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Takeaway:</a:t>
          </a:r>
          <a:r>
            <a:rPr lang="en-US" sz="1700" kern="1200">
              <a:latin typeface="Aptos"/>
            </a:rPr>
            <a:t> Classifying sulfur risk (High/Low) is safer than predicting exact percentages.</a:t>
          </a:r>
        </a:p>
      </dsp:txBody>
      <dsp:txXfrm>
        <a:off x="2628900" y="2626263"/>
        <a:ext cx="7886700" cy="1723112"/>
      </dsp:txXfrm>
    </dsp:sp>
    <dsp:sp modelId="{24F7D9DC-5A04-46AE-B447-2D844475316E}">
      <dsp:nvSpPr>
        <dsp:cNvPr id="0" name=""/>
        <dsp:cNvSpPr/>
      </dsp:nvSpPr>
      <dsp:spPr>
        <a:xfrm rot="10800000">
          <a:off x="0" y="1962"/>
          <a:ext cx="2628900" cy="265014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2">
                <a:hueOff val="8241171"/>
                <a:satOff val="7643"/>
                <a:lumOff val="-223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8241171"/>
                <a:satOff val="7643"/>
                <a:lumOff val="-223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8241171"/>
                <a:satOff val="7643"/>
                <a:lumOff val="-223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8241171"/>
              <a:satOff val="7643"/>
              <a:lumOff val="-2235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b="1" kern="1200" dirty="0">
              <a:latin typeface="Aptos"/>
            </a:rPr>
            <a:t>Classification (Automated Grading):</a:t>
          </a:r>
          <a:endParaRPr lang="en-US" sz="2700" kern="1200" dirty="0">
            <a:latin typeface="Aptos"/>
          </a:endParaRPr>
        </a:p>
      </dsp:txBody>
      <dsp:txXfrm rot="-10800000">
        <a:off x="0" y="1962"/>
        <a:ext cx="2628900" cy="1722595"/>
      </dsp:txXfrm>
    </dsp:sp>
    <dsp:sp modelId="{104D8581-7944-4C38-80A4-3BC1C33E033E}">
      <dsp:nvSpPr>
        <dsp:cNvPr id="0" name=""/>
        <dsp:cNvSpPr/>
      </dsp:nvSpPr>
      <dsp:spPr>
        <a:xfrm>
          <a:off x="2628900" y="1962"/>
          <a:ext cx="7886700" cy="1722595"/>
        </a:xfrm>
        <a:prstGeom prst="rect">
          <a:avLst/>
        </a:prstGeom>
        <a:solidFill>
          <a:schemeClr val="accent2">
            <a:tint val="40000"/>
            <a:alpha val="90000"/>
            <a:hueOff val="8701605"/>
            <a:satOff val="-37799"/>
            <a:lumOff val="-367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8701605"/>
              <a:satOff val="-37799"/>
              <a:lumOff val="-36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9980" tIns="215900" rIns="159980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Aptos"/>
            </a:rPr>
            <a:t>Crude Type:</a:t>
          </a:r>
          <a:r>
            <a:rPr lang="en-US" sz="1700" kern="1200" dirty="0">
              <a:latin typeface="Aptos"/>
            </a:rPr>
            <a:t> </a:t>
          </a:r>
          <a:r>
            <a:rPr lang="en-US" sz="1700" b="1" kern="1200" dirty="0">
              <a:latin typeface="Aptos"/>
            </a:rPr>
            <a:t>100% Accuracy</a:t>
          </a:r>
          <a:r>
            <a:rPr lang="en-US" sz="1700" kern="1200" dirty="0">
              <a:latin typeface="Aptos"/>
            </a:rPr>
            <a:t> (Linear SVM). Separated purely by Density &amp; Viscosity.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Aptos"/>
            </a:rPr>
            <a:t>Sulfur </a:t>
          </a:r>
          <a:r>
            <a:rPr lang="en-US" sz="1700" b="1" kern="1200" dirty="0" err="1">
              <a:latin typeface="Aptos"/>
            </a:rPr>
            <a:t>Flavour</a:t>
          </a:r>
          <a:r>
            <a:rPr lang="en-US" sz="1700" b="1" kern="1200" dirty="0">
              <a:latin typeface="Aptos"/>
            </a:rPr>
            <a:t>:</a:t>
          </a:r>
          <a:r>
            <a:rPr lang="en-US" sz="1700" kern="1200" dirty="0">
              <a:latin typeface="Aptos"/>
            </a:rPr>
            <a:t> </a:t>
          </a:r>
          <a:r>
            <a:rPr lang="en-US" sz="1700" b="1" kern="1200" dirty="0">
              <a:latin typeface="Aptos"/>
            </a:rPr>
            <a:t>~89% Accuracy</a:t>
          </a:r>
          <a:r>
            <a:rPr lang="en-US" sz="1700" kern="1200" dirty="0">
              <a:latin typeface="Aptos"/>
            </a:rPr>
            <a:t> (Logistic Regression). Successfully used Vanadium as a proxy for Sourness.</a:t>
          </a:r>
        </a:p>
      </dsp:txBody>
      <dsp:txXfrm>
        <a:off x="2628900" y="1962"/>
        <a:ext cx="7886700" cy="172259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ECC0D-0030-48A9-AC63-D9EBA3E2E96E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 dirty="0"/>
            <a:t>Method:</a:t>
          </a:r>
          <a:r>
            <a:rPr lang="en-US" sz="2200" kern="1200" dirty="0"/>
            <a:t> K-Means Clustering (Blind / No Labels).</a:t>
          </a:r>
        </a:p>
      </dsp:txBody>
      <dsp:txXfrm>
        <a:off x="68454" y="70578"/>
        <a:ext cx="3648708" cy="1265378"/>
      </dsp:txXfrm>
    </dsp:sp>
    <dsp:sp modelId="{E8FC6A2E-6C97-4870-938D-D6AC44D73317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Cluster 0:</a:t>
          </a:r>
          <a:r>
            <a:rPr lang="en-US" sz="1900" kern="1200" dirty="0"/>
            <a:t> Super-Light Condensates (API ~59°).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Cluster 1:</a:t>
          </a:r>
          <a:r>
            <a:rPr lang="en-US" sz="1900" kern="1200" dirty="0"/>
            <a:t> Standard Baseload (API ~35°).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Cluster 2:</a:t>
          </a:r>
          <a:r>
            <a:rPr lang="en-US" sz="1900" kern="1200" dirty="0"/>
            <a:t> Heavy/Sour Outliers (API ~22°, High Metals).</a:t>
          </a:r>
        </a:p>
      </dsp:txBody>
      <dsp:txXfrm rot="-5400000">
        <a:off x="3785616" y="1669517"/>
        <a:ext cx="6675221" cy="1012303"/>
      </dsp:txXfrm>
    </dsp:sp>
    <dsp:sp modelId="{F1152BCE-5FF1-451A-9706-4C7B0BFF7C9A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Discovered </a:t>
          </a:r>
          <a:r>
            <a:rPr lang="en-US" sz="2200" b="1" kern="1200" dirty="0"/>
            <a:t>3 Natural Groups</a:t>
          </a:r>
          <a:r>
            <a:rPr lang="en-US" sz="2200" kern="1200" dirty="0"/>
            <a:t> that match physical reality</a:t>
          </a:r>
        </a:p>
      </dsp:txBody>
      <dsp:txXfrm>
        <a:off x="68454" y="1542979"/>
        <a:ext cx="3648708" cy="1265378"/>
      </dsp:txXfrm>
    </dsp:sp>
    <dsp:sp modelId="{C1A8E37A-57A1-4EC4-BEE5-77D441FA5445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 dirty="0"/>
            <a:t>Confirmed that "Condensates" are a distinct, premium asset class.</a:t>
          </a:r>
        </a:p>
      </dsp:txBody>
      <dsp:txXfrm>
        <a:off x="68454" y="3015380"/>
        <a:ext cx="3648708" cy="126537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57E0D-6E42-4DC2-BEA3-4E55A17CD777}">
      <dsp:nvSpPr>
        <dsp:cNvPr id="0" name=""/>
        <dsp:cNvSpPr/>
      </dsp:nvSpPr>
      <dsp:spPr>
        <a:xfrm>
          <a:off x="0" y="401093"/>
          <a:ext cx="10515600" cy="1836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/>
            <a:t>Proxy Testing:</a:t>
          </a:r>
          <a:r>
            <a:rPr lang="en-US" sz="2200" kern="1200"/>
            <a:t> Use rapid metal assays to flag "Sour" crude risks immediately.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1" kern="1200"/>
            <a:t>Segregation:</a:t>
          </a:r>
          <a:r>
            <a:rPr lang="en-US" sz="2200" kern="1200"/>
            <a:t> Strictly isolate </a:t>
          </a:r>
          <a:r>
            <a:rPr lang="en-US" sz="2200" b="1" kern="1200"/>
            <a:t>Cluster 2 (Heavy)</a:t>
          </a:r>
          <a:r>
            <a:rPr lang="en-US" sz="2200" kern="1200"/>
            <a:t> oils to prevent contamination of premium stock.</a:t>
          </a:r>
        </a:p>
      </dsp:txBody>
      <dsp:txXfrm>
        <a:off x="0" y="401093"/>
        <a:ext cx="10515600" cy="1836450"/>
      </dsp:txXfrm>
    </dsp:sp>
    <dsp:sp modelId="{D5AA79F1-2275-40C8-8211-CEB2228CBA15}">
      <dsp:nvSpPr>
        <dsp:cNvPr id="0" name=""/>
        <dsp:cNvSpPr/>
      </dsp:nvSpPr>
      <dsp:spPr>
        <a:xfrm>
          <a:off x="525780" y="76373"/>
          <a:ext cx="7360920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/>
            <a:t>Operational:</a:t>
          </a:r>
          <a:endParaRPr lang="en-US" sz="2200" kern="1200"/>
        </a:p>
      </dsp:txBody>
      <dsp:txXfrm>
        <a:off x="557483" y="108076"/>
        <a:ext cx="7297514" cy="586034"/>
      </dsp:txXfrm>
    </dsp:sp>
    <dsp:sp modelId="{6EE94265-908C-48F3-ABAE-49F853618A4D}">
      <dsp:nvSpPr>
        <dsp:cNvPr id="0" name=""/>
        <dsp:cNvSpPr/>
      </dsp:nvSpPr>
      <dsp:spPr>
        <a:xfrm>
          <a:off x="0" y="2681064"/>
          <a:ext cx="10515600" cy="159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58216" rIns="816127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 </a:t>
          </a:r>
          <a:r>
            <a:rPr lang="en-US" sz="2200" b="1" kern="1200"/>
            <a:t>Linear Models</a:t>
          </a:r>
          <a:r>
            <a:rPr lang="en-US" sz="2200" kern="1200"/>
            <a:t> for physical properties (API, Density).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 </a:t>
          </a:r>
          <a:r>
            <a:rPr lang="en-US" sz="2200" b="1" kern="1200"/>
            <a:t>Classification</a:t>
          </a:r>
          <a:r>
            <a:rPr lang="en-US" sz="2200" kern="1200"/>
            <a:t> for contaminant risk (Sulfur, Acidity).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Do </a:t>
          </a:r>
          <a:r>
            <a:rPr lang="en-US" sz="2200" b="1" kern="1200"/>
            <a:t>not</a:t>
          </a:r>
          <a:r>
            <a:rPr lang="en-US" sz="2200" kern="1200"/>
            <a:t> extrapolate viscosity linearly for heavy oils; use log-models.</a:t>
          </a:r>
        </a:p>
      </dsp:txBody>
      <dsp:txXfrm>
        <a:off x="0" y="2681064"/>
        <a:ext cx="10515600" cy="1593900"/>
      </dsp:txXfrm>
    </dsp:sp>
    <dsp:sp modelId="{8DAC7CF7-FDDF-4048-BDBB-BA6089692FB5}">
      <dsp:nvSpPr>
        <dsp:cNvPr id="0" name=""/>
        <dsp:cNvSpPr/>
      </dsp:nvSpPr>
      <dsp:spPr>
        <a:xfrm>
          <a:off x="525780" y="2356344"/>
          <a:ext cx="7360920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b="1" kern="1200"/>
            <a:t>Data Strategy:</a:t>
          </a:r>
          <a:endParaRPr lang="en-US" sz="2200" kern="1200"/>
        </a:p>
      </dsp:txBody>
      <dsp:txXfrm>
        <a:off x="557483" y="2388047"/>
        <a:ext cx="729751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11/26/2025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9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74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19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10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71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55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1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03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54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281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749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143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35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15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2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23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136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3831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7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064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14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6623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955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042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1078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40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4277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8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484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110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1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7400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305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7222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4987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890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093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43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878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012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66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81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22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629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796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893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8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060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22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2475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695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193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8489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2500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80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/>
              <a:t>03/12/2025</a:t>
            </a:r>
            <a:fld id="{FD138C57-8E3B-4697-92F8-0ED9B71F7E1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5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  <a:endParaRPr lang="en-US"/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3" r:id="rId4"/>
    <p:sldLayoutId id="2147483707" r:id="rId5"/>
    <p:sldLayoutId id="2147483650" r:id="rId6"/>
    <p:sldLayoutId id="2147483654" r:id="rId7"/>
    <p:sldLayoutId id="2147483754" r:id="rId8"/>
    <p:sldLayoutId id="2147483755" r:id="rId9"/>
    <p:sldLayoutId id="2147483760" r:id="rId10"/>
    <p:sldLayoutId id="2147483761" r:id="rId11"/>
    <p:sldLayoutId id="2147483762" r:id="rId12"/>
    <p:sldLayoutId id="2147483662" r:id="rId13"/>
    <p:sldLayoutId id="2147483763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2" r:id="rId23"/>
    <p:sldLayoutId id="2147483671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752" r:id="rId43"/>
    <p:sldLayoutId id="2147483753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756" r:id="rId52"/>
    <p:sldLayoutId id="2147483757" r:id="rId53"/>
    <p:sldLayoutId id="2147483758" r:id="rId54"/>
    <p:sldLayoutId id="2147483759" r:id="rId55"/>
    <p:sldLayoutId id="2147483698" r:id="rId56"/>
    <p:sldLayoutId id="2147483699" r:id="rId57"/>
    <p:sldLayoutId id="2147483700" r:id="rId58"/>
    <p:sldLayoutId id="2147483701" r:id="rId59"/>
    <p:sldLayoutId id="2147483702" r:id="rId60"/>
    <p:sldLayoutId id="2147483661" r:id="rId6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x/c/a649fcb769411c35/IQDfvoV_MOjkTZimiyg5SwLPAXbRtqN0DkeR12i_06dYF-Q?e=6VjK5D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872E-D8F0-BF64-FC5F-317F5A47D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0628" y="2204589"/>
            <a:ext cx="5824186" cy="2265471"/>
          </a:xfrm>
        </p:spPr>
        <p:txBody>
          <a:bodyPr/>
          <a:lstStyle/>
          <a:p>
            <a:r>
              <a:rPr lang="en-US" sz="4400" b="0">
                <a:ea typeface="+mj-lt"/>
                <a:cs typeface="+mj-lt"/>
              </a:rPr>
              <a:t>Crude Oil Characterization and Quality Prediction</a:t>
            </a:r>
            <a:endParaRPr lang="en-US" sz="4400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480B4-3B70-1D3F-43D1-F14B9904D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628" y="4640704"/>
            <a:ext cx="5824186" cy="87632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A Machine Learning Approach</a:t>
            </a:r>
            <a:endParaRPr lang="en-US" altLang="zh-CN">
              <a:latin typeface="Apto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48FAAD-5698-8F60-B5F5-D8E6848186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629" y="5634342"/>
            <a:ext cx="2916856" cy="611167"/>
          </a:xfrm>
        </p:spPr>
        <p:txBody>
          <a:bodyPr/>
          <a:lstStyle/>
          <a:p>
            <a:r>
              <a:rPr lang="en-US">
                <a:latin typeface="Aptos"/>
              </a:rPr>
              <a:t>CH23B024 – </a:t>
            </a:r>
            <a:r>
              <a:rPr lang="en-US" err="1">
                <a:latin typeface="Aptos"/>
              </a:rPr>
              <a:t>Kedhar</a:t>
            </a:r>
            <a:r>
              <a:rPr lang="en-US">
                <a:latin typeface="Aptos"/>
              </a:rPr>
              <a:t> Reddy</a:t>
            </a:r>
          </a:p>
          <a:p>
            <a:r>
              <a:rPr lang="en-US">
                <a:latin typeface="Aptos"/>
                <a:cs typeface="Arial"/>
              </a:rPr>
              <a:t>CH23B033 – Rushikesh Amale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B84DD-F77F-7FD7-0462-18F39291A565}"/>
              </a:ext>
            </a:extLst>
          </p:cNvPr>
          <p:cNvSpPr txBox="1"/>
          <p:nvPr/>
        </p:nvSpPr>
        <p:spPr>
          <a:xfrm>
            <a:off x="906246" y="728047"/>
            <a:ext cx="36585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CH510L </a:t>
            </a:r>
            <a:endParaRPr lang="en-US">
              <a:latin typeface="Aptos"/>
              <a:ea typeface="Segoe UI Black"/>
              <a:cs typeface="+mn-lt"/>
            </a:endParaRPr>
          </a:p>
          <a:p>
            <a:r>
              <a:rPr lang="en-US">
                <a:latin typeface="Aptos"/>
                <a:ea typeface="+mn-lt"/>
                <a:cs typeface="+mn-lt"/>
              </a:rPr>
              <a:t>Machine Learning in Process Engineering</a:t>
            </a:r>
            <a:endParaRPr lang="en-US">
              <a:latin typeface="Aptos"/>
              <a:ea typeface="Segoe UI Black"/>
              <a:cs typeface="Arial"/>
            </a:endParaRPr>
          </a:p>
        </p:txBody>
      </p:sp>
      <p:pic>
        <p:nvPicPr>
          <p:cNvPr id="7" name="Picture 6" descr="A large industrial area with a large sun in the background&#10;&#10;AI-generated content may be incorrect.">
            <a:extLst>
              <a:ext uri="{FF2B5EF4-FFF2-40B4-BE49-F238E27FC236}">
                <a16:creationId xmlns:a16="http://schemas.microsoft.com/office/drawing/2014/main" id="{20EBD73F-ECA0-091F-A431-12E2F71AB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054" y="1210850"/>
            <a:ext cx="3288083" cy="43110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428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7F69-41ED-30F5-166A-551B5D0C7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/>
              <a:t>Agenda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5B9A5-654F-D10C-C72F-92F9B261CB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2963" y="2483403"/>
            <a:ext cx="434758" cy="385763"/>
          </a:xfrm>
        </p:spPr>
        <p:txBody>
          <a:bodyPr/>
          <a:lstStyle/>
          <a:p>
            <a:r>
              <a:rPr lang="en-GB"/>
              <a:t>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B31C9-771F-A407-D89F-280DF73B2F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1658658" cy="788962"/>
          </a:xfrm>
        </p:spPr>
        <p:txBody>
          <a:bodyPr/>
          <a:lstStyle/>
          <a:p>
            <a:r>
              <a:rPr lang="en-US" noProof="1">
                <a:ea typeface="+mj-lt"/>
                <a:cs typeface="+mj-lt"/>
              </a:rPr>
              <a:t>Project Foundation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71CB5A-5B72-C38E-7D7E-F648B3709E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>
                <a:ea typeface="+mn-lt"/>
                <a:cs typeface="+mn-lt"/>
              </a:rPr>
              <a:t>Problem Statement, Motivation, and Objectives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0E7F64-B964-8C53-CF09-F8CC256DCB1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21805" y="2483403"/>
            <a:ext cx="434758" cy="385763"/>
          </a:xfrm>
        </p:spPr>
        <p:txBody>
          <a:bodyPr/>
          <a:lstStyle/>
          <a:p>
            <a:r>
              <a:rPr lang="en-GB"/>
              <a:t>02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DD5AA2-64EC-A8B5-13D9-726874BEC8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1647452" cy="788962"/>
          </a:xfrm>
        </p:spPr>
        <p:txBody>
          <a:bodyPr/>
          <a:lstStyle/>
          <a:p>
            <a:r>
              <a:rPr lang="en-US" noProof="1">
                <a:ea typeface="+mj-lt"/>
                <a:cs typeface="+mj-lt"/>
              </a:rPr>
              <a:t>Dataset Overview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F48E63-DF4C-5288-C8FE-B465284EA82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129035" cy="7205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>
                <a:ea typeface="+mn-lt"/>
                <a:cs typeface="+mn-lt"/>
              </a:rPr>
              <a:t>Introducing the 33 crude oil properties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627838-9041-CCF7-2CBA-87E0F9E1AD2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994871" y="2483403"/>
            <a:ext cx="434758" cy="385763"/>
          </a:xfrm>
        </p:spPr>
        <p:txBody>
          <a:bodyPr/>
          <a:lstStyle/>
          <a:p>
            <a:r>
              <a:rPr lang="en-GB"/>
              <a:t>03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926C95-B877-91A7-C35C-D42E894A714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/>
          <a:lstStyle/>
          <a:p>
            <a:r>
              <a:rPr lang="en-US" noProof="1">
                <a:ea typeface="+mj-lt"/>
                <a:cs typeface="+mj-lt"/>
              </a:rPr>
              <a:t>Exploratory Data Analysis (EDA)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92148A-47C2-00A7-9F32-9193CDAA3ED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>
                <a:ea typeface="+mn-lt"/>
                <a:cs typeface="+mn-lt"/>
              </a:rPr>
              <a:t>Key Insights from Grouped Statistics and the Correlation Matrix</a:t>
            </a:r>
            <a:endParaRPr lang="en-US">
              <a:cs typeface="Arial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CE4395-2732-DD6C-B289-143F90EC99F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2963" y="4344531"/>
            <a:ext cx="434758" cy="385763"/>
          </a:xfrm>
        </p:spPr>
        <p:txBody>
          <a:bodyPr/>
          <a:lstStyle/>
          <a:p>
            <a:r>
              <a:rPr lang="en-GB"/>
              <a:t>04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99EFA3-031E-E36A-8AD1-8C56185D1B2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599951" cy="788962"/>
          </a:xfrm>
        </p:spPr>
        <p:txBody>
          <a:bodyPr/>
          <a:lstStyle/>
          <a:p>
            <a:r>
              <a:rPr lang="en-US" noProof="1">
                <a:ea typeface="+mj-lt"/>
                <a:cs typeface="+mj-lt"/>
              </a:rPr>
              <a:t>Data Preprocessing and Feature Selection</a:t>
            </a:r>
            <a:endParaRPr lang="en-US" noProof="1">
              <a:ea typeface="Segoe UI Black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2D00FDD-9F14-449E-3CD7-6B5341C37C9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229889" cy="7205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>
                <a:ea typeface="+mn-lt"/>
                <a:cs typeface="+mn-lt"/>
              </a:rPr>
              <a:t>Feature Selection based on EDA, Label Encoding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361CB3E-BCE0-431A-1F87-462AFBA8DD2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21805" y="4344531"/>
            <a:ext cx="434758" cy="385763"/>
          </a:xfrm>
        </p:spPr>
        <p:txBody>
          <a:bodyPr/>
          <a:lstStyle/>
          <a:p>
            <a:r>
              <a:rPr lang="en-GB"/>
              <a:t>05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48AD761-BA58-FB71-0C6C-B8A01131D7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/>
          <a:lstStyle/>
          <a:p>
            <a:r>
              <a:rPr lang="en-US" b="1" noProof="1">
                <a:ea typeface="+mj-lt"/>
                <a:cs typeface="+mj-lt"/>
              </a:rPr>
              <a:t>Machine Learning Models</a:t>
            </a:r>
            <a:r>
              <a:rPr lang="en-US" noProof="1"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414148B-AEBF-596F-19C3-445753A897A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noProof="1">
                <a:ea typeface="+mn-lt"/>
                <a:cs typeface="+mn-lt"/>
              </a:rPr>
              <a:t>Implementation of Classification and Regression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1893011-B4F2-675B-6ABD-AB8CFD0E521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94871" y="4344531"/>
            <a:ext cx="434758" cy="385763"/>
          </a:xfrm>
        </p:spPr>
        <p:txBody>
          <a:bodyPr/>
          <a:lstStyle/>
          <a:p>
            <a:r>
              <a:rPr lang="en-GB"/>
              <a:t>06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3AB34C-AC52-A4BF-66C8-5517AA5B14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280507" cy="788962"/>
          </a:xfrm>
        </p:spPr>
        <p:txBody>
          <a:bodyPr/>
          <a:lstStyle/>
          <a:p>
            <a:r>
              <a:rPr lang="en-US" noProof="1">
                <a:ea typeface="+mj-lt"/>
                <a:cs typeface="+mj-lt"/>
              </a:rPr>
              <a:t>Results &amp; Conclusions</a:t>
            </a:r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119D6F8-1848-56DE-40BE-052E4802C19F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>
                <a:ea typeface="+mn-lt"/>
                <a:cs typeface="+mn-lt"/>
              </a:rPr>
              <a:t>Model performance metrics and Summary of findings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7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C65FA8-076F-597A-68FF-7BDFA2AE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364" y="2558836"/>
            <a:ext cx="4553981" cy="3793838"/>
          </a:xfrm>
        </p:spPr>
        <p:txBody>
          <a:bodyPr/>
          <a:lstStyle/>
          <a:p>
            <a:r>
              <a:rPr lang="en-US"/>
              <a:t>Project Foundation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7428F-8074-BDCD-5B9D-C0ADA88E45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365" y="1649960"/>
            <a:ext cx="831916" cy="597807"/>
          </a:xfrm>
        </p:spPr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  <p:pic>
        <p:nvPicPr>
          <p:cNvPr id="8" name="Picture 7" descr="Building construction workers isometric banner | Free Vector">
            <a:extLst>
              <a:ext uri="{FF2B5EF4-FFF2-40B4-BE49-F238E27FC236}">
                <a16:creationId xmlns:a16="http://schemas.microsoft.com/office/drawing/2014/main" id="{0952770B-0435-7CBE-9438-E46EFC9AD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796" y="2057400"/>
            <a:ext cx="2743200" cy="27432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9364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DBF8C-DE05-CDCC-8A93-E9CF8DD1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395" y="886783"/>
            <a:ext cx="938635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Why Crude Oil Quality Matters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9B94-B996-1CE7-AD33-7FA000997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600" b="1">
                <a:latin typeface="Aptos"/>
              </a:rPr>
              <a:t>The Real-World Challenge: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Refinery Complexity:</a:t>
            </a:r>
            <a:r>
              <a:rPr lang="en-US" sz="1600">
                <a:latin typeface="Aptos"/>
                <a:ea typeface="+mn-lt"/>
                <a:cs typeface="+mn-lt"/>
              </a:rPr>
              <a:t> Crude oil quality (specifically API Gravity and Sulphur) dictates the necessary refinery equipment</a:t>
            </a:r>
            <a:endParaRPr lang="en-US" sz="1600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Cost &amp; Safety: </a:t>
            </a:r>
            <a:r>
              <a:rPr lang="en-US" sz="1600">
                <a:latin typeface="Aptos"/>
                <a:ea typeface="+mn-lt"/>
                <a:cs typeface="+mn-lt"/>
              </a:rPr>
              <a:t>Processing low-quality crude (Heavy/Sour) is expensive, consumes more energy, and can damage catalysts and equipment.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Valuation: </a:t>
            </a:r>
            <a:r>
              <a:rPr lang="en-US" sz="1600">
                <a:latin typeface="Aptos"/>
                <a:ea typeface="+mn-lt"/>
                <a:cs typeface="+mn-lt"/>
              </a:rPr>
              <a:t>Crude price is primarily determined by its API Gravity and Sulphur content. </a:t>
            </a:r>
            <a:endParaRPr lang="en-US" sz="1600">
              <a:latin typeface="Aptos"/>
              <a:cs typeface="Arial"/>
            </a:endParaRPr>
          </a:p>
          <a:p>
            <a:endParaRPr lang="en-US" altLang="zh-CN" sz="1600">
              <a:latin typeface="Aptos"/>
              <a:cs typeface="Arial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CE4109A-9E4A-D613-9191-263328F3E7A6}"/>
              </a:ext>
            </a:extLst>
          </p:cNvPr>
          <p:cNvSpPr txBox="1">
            <a:spLocks/>
          </p:cNvSpPr>
          <p:nvPr/>
        </p:nvSpPr>
        <p:spPr>
          <a:xfrm>
            <a:off x="6465769" y="2693857"/>
            <a:ext cx="4459331" cy="29574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Aptos"/>
              </a:rPr>
              <a:t>Our Solution: Machine Learning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Automation</a:t>
            </a:r>
            <a:r>
              <a:rPr lang="en-US" sz="1600">
                <a:latin typeface="Aptos"/>
                <a:ea typeface="+mn-lt"/>
                <a:cs typeface="+mn-lt"/>
              </a:rPr>
              <a:t>: Build predictive models to rapidly and automatically assess crude quality.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Optimization</a:t>
            </a:r>
            <a:r>
              <a:rPr lang="en-US" sz="1600">
                <a:latin typeface="Aptos"/>
                <a:ea typeface="+mn-lt"/>
                <a:cs typeface="+mn-lt"/>
              </a:rPr>
              <a:t>: Provide data-driven insights to help refiners select the most suitable crude for their specific plant setup.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Prediction</a:t>
            </a:r>
            <a:r>
              <a:rPr lang="en-US" sz="1600">
                <a:latin typeface="Aptos"/>
                <a:ea typeface="+mn-lt"/>
                <a:cs typeface="+mn-lt"/>
              </a:rPr>
              <a:t>: Forecast key quality metrics using underlying chemical properties.</a:t>
            </a:r>
          </a:p>
          <a:p>
            <a:endParaRPr lang="en-US" sz="1600" b="1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2397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149BD4-0FBE-5334-8A1C-D1B7D4FD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Our Machine Learning Objectives</a:t>
            </a:r>
            <a:endParaRPr lang="en-US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EF4104E2-6540-A98C-6910-16A9BDB41C1B}"/>
              </a:ext>
            </a:extLst>
          </p:cNvPr>
          <p:cNvSpPr txBox="1">
            <a:spLocks/>
          </p:cNvSpPr>
          <p:nvPr/>
        </p:nvSpPr>
        <p:spPr>
          <a:xfrm>
            <a:off x="1313396" y="2698032"/>
            <a:ext cx="4459331" cy="29574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Aptos"/>
              </a:rPr>
              <a:t>Objective 1: Crude Oil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Goal:</a:t>
            </a:r>
            <a:r>
              <a:rPr lang="en-US" sz="1600">
                <a:latin typeface="Aptos"/>
                <a:ea typeface="+mn-lt"/>
                <a:cs typeface="+mn-lt"/>
              </a:rPr>
              <a:t> To accurately classify crude samples into their market-relevant categories.</a:t>
            </a:r>
            <a:endParaRPr lang="en-US" sz="1600">
              <a:latin typeface="Aptos"/>
            </a:endParaRPr>
          </a:p>
          <a:p>
            <a:r>
              <a:rPr lang="en-US" sz="1600" b="1">
                <a:latin typeface="Aptos"/>
                <a:ea typeface="+mn-lt"/>
                <a:cs typeface="+mn-lt"/>
              </a:rPr>
              <a:t>Targets:</a:t>
            </a:r>
            <a:r>
              <a:rPr lang="en-US" sz="1600">
                <a:latin typeface="Aptos"/>
                <a:ea typeface="+mn-lt"/>
                <a:cs typeface="+mn-lt"/>
              </a:rPr>
              <a:t> Predict </a:t>
            </a:r>
            <a:r>
              <a:rPr lang="en-US" sz="1600" b="1">
                <a:latin typeface="Aptos"/>
                <a:ea typeface="+mn-lt"/>
                <a:cs typeface="+mn-lt"/>
              </a:rPr>
              <a:t>Crude type</a:t>
            </a:r>
            <a:r>
              <a:rPr lang="en-US" sz="1600">
                <a:latin typeface="Aptos"/>
                <a:ea typeface="+mn-lt"/>
                <a:cs typeface="+mn-lt"/>
              </a:rPr>
              <a:t> (Light, Medium, Heavy) and </a:t>
            </a:r>
            <a:r>
              <a:rPr lang="en-US" sz="1600" b="1">
                <a:latin typeface="Aptos"/>
                <a:ea typeface="+mn-lt"/>
                <a:cs typeface="+mn-lt"/>
              </a:rPr>
              <a:t>Sulfur Flavour</a:t>
            </a:r>
            <a:r>
              <a:rPr lang="en-US" sz="1600">
                <a:latin typeface="Aptos"/>
                <a:ea typeface="+mn-lt"/>
                <a:cs typeface="+mn-lt"/>
              </a:rPr>
              <a:t> (Sweet, Sour).</a:t>
            </a:r>
            <a:endParaRPr lang="en-US" sz="1600">
              <a:latin typeface="Aptos"/>
            </a:endParaRPr>
          </a:p>
          <a:p>
            <a:r>
              <a:rPr lang="en-US" sz="1600" b="1">
                <a:latin typeface="Aptos"/>
                <a:ea typeface="+mn-lt"/>
                <a:cs typeface="+mn-lt"/>
              </a:rPr>
              <a:t>ML Methods:</a:t>
            </a:r>
            <a:r>
              <a:rPr lang="en-US" sz="1600">
                <a:latin typeface="Aptos"/>
                <a:ea typeface="+mn-lt"/>
                <a:cs typeface="+mn-lt"/>
              </a:rPr>
              <a:t> Applying various Classification Models taught in course.</a:t>
            </a:r>
            <a:endParaRPr lang="en-US" sz="1600">
              <a:latin typeface="Apto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Insight:</a:t>
            </a:r>
            <a:r>
              <a:rPr lang="en-US" sz="1600">
                <a:latin typeface="Aptos"/>
                <a:ea typeface="+mn-lt"/>
                <a:cs typeface="+mn-lt"/>
              </a:rPr>
              <a:t> Determines </a:t>
            </a:r>
            <a:r>
              <a:rPr lang="en-US" sz="1600" b="1">
                <a:latin typeface="Aptos"/>
                <a:ea typeface="+mn-lt"/>
                <a:cs typeface="+mn-lt"/>
              </a:rPr>
              <a:t>Refinery Suitability</a:t>
            </a:r>
            <a:r>
              <a:rPr lang="en-US" sz="1600">
                <a:latin typeface="Aptos"/>
                <a:ea typeface="+mn-lt"/>
                <a:cs typeface="+mn-lt"/>
              </a:rPr>
              <a:t> and required processing technology.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5DC6EB1-203C-A868-061C-ABFBC08A878A}"/>
              </a:ext>
            </a:extLst>
          </p:cNvPr>
          <p:cNvSpPr txBox="1">
            <a:spLocks/>
          </p:cNvSpPr>
          <p:nvPr/>
        </p:nvSpPr>
        <p:spPr>
          <a:xfrm>
            <a:off x="6465769" y="2693857"/>
            <a:ext cx="4459331" cy="29574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Aptos"/>
              </a:rPr>
              <a:t>Objective 2: Quality Parameter Regression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Goal:</a:t>
            </a:r>
            <a:r>
              <a:rPr lang="en-US" sz="1600">
                <a:latin typeface="Aptos"/>
                <a:ea typeface="+mn-lt"/>
                <a:cs typeface="+mn-lt"/>
              </a:rPr>
              <a:t> To predict the exact value of the two most critical pricing variables.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Targets</a:t>
            </a:r>
            <a:r>
              <a:rPr lang="en-US" sz="1600">
                <a:latin typeface="Aptos"/>
                <a:ea typeface="+mn-lt"/>
                <a:cs typeface="+mn-lt"/>
              </a:rPr>
              <a:t>: Predict </a:t>
            </a:r>
            <a:r>
              <a:rPr lang="en-US" sz="1600" b="1">
                <a:latin typeface="Aptos"/>
                <a:ea typeface="+mn-lt"/>
                <a:cs typeface="+mn-lt"/>
              </a:rPr>
              <a:t>API Gravity</a:t>
            </a:r>
            <a:r>
              <a:rPr lang="en-US" sz="1600">
                <a:latin typeface="Aptos"/>
                <a:ea typeface="+mn-lt"/>
                <a:cs typeface="+mn-lt"/>
              </a:rPr>
              <a:t> and </a:t>
            </a:r>
            <a:r>
              <a:rPr lang="en-US" sz="1600" b="1">
                <a:latin typeface="Aptos"/>
                <a:ea typeface="+mn-lt"/>
                <a:cs typeface="+mn-lt"/>
              </a:rPr>
              <a:t>Total Sulfur (% </a:t>
            </a:r>
            <a:r>
              <a:rPr lang="en-US" sz="1600" b="1" err="1">
                <a:latin typeface="Aptos"/>
                <a:ea typeface="+mn-lt"/>
                <a:cs typeface="+mn-lt"/>
              </a:rPr>
              <a:t>wt</a:t>
            </a:r>
            <a:r>
              <a:rPr lang="en-US" sz="1600" b="1">
                <a:latin typeface="Aptos"/>
                <a:ea typeface="+mn-lt"/>
                <a:cs typeface="+mn-lt"/>
              </a:rPr>
              <a:t>)</a:t>
            </a:r>
            <a:r>
              <a:rPr lang="en-US" sz="160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ML Methods:</a:t>
            </a:r>
            <a:r>
              <a:rPr lang="en-US" sz="1600">
                <a:latin typeface="Aptos"/>
                <a:ea typeface="+mn-lt"/>
                <a:cs typeface="+mn-lt"/>
              </a:rPr>
              <a:t> Applying various Regression models taught in course.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Insight:</a:t>
            </a:r>
            <a:r>
              <a:rPr lang="en-US" sz="1600">
                <a:latin typeface="Aptos"/>
                <a:ea typeface="+mn-lt"/>
                <a:cs typeface="+mn-lt"/>
              </a:rPr>
              <a:t> Establishes Data-Driven Valuation and identifies primary quality drivers.</a:t>
            </a:r>
          </a:p>
          <a:p>
            <a:endParaRPr lang="en-US" sz="1600" b="1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092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8D147-B183-8713-FBA0-D91A36BD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2564" y="2558836"/>
            <a:ext cx="5379686" cy="3793838"/>
          </a:xfrm>
        </p:spPr>
        <p:txBody>
          <a:bodyPr/>
          <a:lstStyle/>
          <a:p>
            <a:r>
              <a:rPr lang="en-US" altLang="zh-CN"/>
              <a:t>Dataset Overview</a:t>
            </a:r>
            <a:endParaRPr lang="en-US" altLang="zh-CN">
              <a:ea typeface="Segoe UI Black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0F5AFE-E02A-A2DF-1811-094A567F6F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0334" y="1649960"/>
            <a:ext cx="831916" cy="597807"/>
          </a:xfrm>
        </p:spPr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  <p:pic>
        <p:nvPicPr>
          <p:cNvPr id="7" name="Picture 6" descr="This graphic showcases an install dataset icon featuring colorful elements  and data flow connections install dataset icon simple illustration |  Premium AI-generated vector">
            <a:extLst>
              <a:ext uri="{FF2B5EF4-FFF2-40B4-BE49-F238E27FC236}">
                <a16:creationId xmlns:a16="http://schemas.microsoft.com/office/drawing/2014/main" id="{F8B89E93-19EB-E674-3E20-9C54F94A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852" y="1774207"/>
            <a:ext cx="5008323" cy="33095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8613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table of numbers and numbers&#10;&#10;AI-generated content may be incorrect.">
            <a:extLst>
              <a:ext uri="{FF2B5EF4-FFF2-40B4-BE49-F238E27FC236}">
                <a16:creationId xmlns:a16="http://schemas.microsoft.com/office/drawing/2014/main" id="{A1D92EEE-2BA4-7207-30E3-CAD10330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12" y="1284711"/>
            <a:ext cx="10073014" cy="359964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043555-A416-B5F0-14B9-2EA167763A81}"/>
              </a:ext>
            </a:extLst>
          </p:cNvPr>
          <p:cNvSpPr txBox="1"/>
          <p:nvPr/>
        </p:nvSpPr>
        <p:spPr>
          <a:xfrm>
            <a:off x="5280805" y="5473111"/>
            <a:ext cx="16341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Arial"/>
                <a:ea typeface="Segoe UI Black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Crudeoil.xlsx</a:t>
            </a:r>
          </a:p>
        </p:txBody>
      </p:sp>
    </p:spTree>
    <p:extLst>
      <p:ext uri="{BB962C8B-B14F-4D97-AF65-F5344CB8AC3E}">
        <p14:creationId xmlns:p14="http://schemas.microsoft.com/office/powerpoint/2010/main" val="73339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E01A-2585-BE14-CDEA-C2C6982E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The Crude Oil Dataset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5392-14D3-A360-92B3-D2552F9CE0A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1903036"/>
            <a:ext cx="3568837" cy="6096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Scale</a:t>
            </a:r>
            <a:endParaRPr lang="en-US" altLang="zh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4515E-0286-13E0-AD84-9C03D11FD33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2647162"/>
            <a:ext cx="3568837" cy="78965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>
                <a:ea typeface="+mn-lt"/>
                <a:cs typeface="+mn-lt"/>
              </a:rPr>
              <a:t>41</a:t>
            </a:r>
            <a:r>
              <a:rPr lang="en-US">
                <a:ea typeface="+mn-lt"/>
                <a:cs typeface="+mn-lt"/>
              </a:rPr>
              <a:t> Unique Global Crude Oil Samples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8CE55-CE4B-1A71-134D-B30C6033A3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1903036"/>
            <a:ext cx="3568837" cy="60960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Features</a:t>
            </a:r>
            <a:endParaRPr lang="en-US" altLang="zh-C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9A99A9-A761-19E8-D1E9-C8B9DB7F7A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2647162"/>
            <a:ext cx="3568837" cy="78965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1">
                <a:ea typeface="+mn-lt"/>
                <a:cs typeface="+mn-lt"/>
              </a:rPr>
              <a:t>33</a:t>
            </a:r>
            <a:r>
              <a:rPr lang="en-US">
                <a:ea typeface="+mn-lt"/>
                <a:cs typeface="+mn-lt"/>
              </a:rPr>
              <a:t> Properties (No missing data, high quality)</a:t>
            </a:r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443309-3297-DE5C-17D0-3FE8CF284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025998"/>
              </p:ext>
            </p:extLst>
          </p:nvPr>
        </p:nvGraphicFramePr>
        <p:xfrm>
          <a:off x="908137" y="3543405"/>
          <a:ext cx="10384134" cy="29837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61378">
                  <a:extLst>
                    <a:ext uri="{9D8B030D-6E8A-4147-A177-3AD203B41FA5}">
                      <a16:colId xmlns:a16="http://schemas.microsoft.com/office/drawing/2014/main" val="294989358"/>
                    </a:ext>
                  </a:extLst>
                </a:gridCol>
                <a:gridCol w="3461378">
                  <a:extLst>
                    <a:ext uri="{9D8B030D-6E8A-4147-A177-3AD203B41FA5}">
                      <a16:colId xmlns:a16="http://schemas.microsoft.com/office/drawing/2014/main" val="4244732728"/>
                    </a:ext>
                  </a:extLst>
                </a:gridCol>
                <a:gridCol w="3461378">
                  <a:extLst>
                    <a:ext uri="{9D8B030D-6E8A-4147-A177-3AD203B41FA5}">
                      <a16:colId xmlns:a16="http://schemas.microsoft.com/office/drawing/2014/main" val="3199884928"/>
                    </a:ext>
                  </a:extLst>
                </a:gridCol>
              </a:tblGrid>
              <a:tr h="37477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Category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Example Features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Significance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192351"/>
                  </a:ext>
                </a:extLst>
              </a:tr>
              <a:tr h="59099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Physical Descriptors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API Gravity, Density, Viscosity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Measures of weight, flow, and refinement complexity.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026380"/>
                  </a:ext>
                </a:extLst>
              </a:tr>
              <a:tr h="61981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Contaminants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Total Sulphur, Nickel, Vanadium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Indicators of environmental impact and potential for catalyst poisoning.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46303"/>
                  </a:ext>
                </a:extLst>
              </a:tr>
              <a:tr h="59099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Light Components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Propane, Butane, RVP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Measures of volatility and stabilization requirements.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701532"/>
                  </a:ext>
                </a:extLst>
              </a:tr>
              <a:tr h="80720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effectLst/>
                          <a:latin typeface="Aptos"/>
                        </a:rPr>
                        <a:t>Target Labels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Crude type (Light/Medium/Heavy), Sulfur Flavour (Sweet/Sour)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Our primary variables for classification models.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02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692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53A30A-4B1D-5E9A-F615-38DD081D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364" y="2558836"/>
            <a:ext cx="6735597" cy="3793838"/>
          </a:xfrm>
        </p:spPr>
        <p:txBody>
          <a:bodyPr bIns="0"/>
          <a:lstStyle/>
          <a:p>
            <a:r>
              <a:rPr lang="en-US" altLang="zh-CN"/>
              <a:t>Exploratory Data Analysis (EDA)</a:t>
            </a:r>
            <a:endParaRPr lang="en-US" altLang="zh-CN">
              <a:ea typeface="Segoe UI Black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6420B-7618-1496-B5C2-5F8DA83A17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365" y="1649960"/>
            <a:ext cx="831916" cy="597807"/>
          </a:xfrm>
        </p:spPr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  <p:pic>
        <p:nvPicPr>
          <p:cNvPr id="6" name="Picture 5" descr="Data analysis Vectors - Download Free High-Quality Vectors from Freepik |  Freepik">
            <a:extLst>
              <a:ext uri="{FF2B5EF4-FFF2-40B4-BE49-F238E27FC236}">
                <a16:creationId xmlns:a16="http://schemas.microsoft.com/office/drawing/2014/main" id="{18697F66-1ADE-53D3-1612-59DA14DEC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194" y="1620370"/>
            <a:ext cx="3606054" cy="361725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31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3290-150D-4023-3438-A81F0FB7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Univariate Statistics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C32D5-1735-3EFA-6C34-A0CDCB126410}"/>
              </a:ext>
            </a:extLst>
          </p:cNvPr>
          <p:cNvSpPr txBox="1"/>
          <p:nvPr/>
        </p:nvSpPr>
        <p:spPr>
          <a:xfrm>
            <a:off x="910059" y="2310151"/>
            <a:ext cx="4746310" cy="3766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4211C83-9066-2C5E-BEF0-19ADF1C038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7836916"/>
              </p:ext>
            </p:extLst>
          </p:nvPr>
        </p:nvGraphicFramePr>
        <p:xfrm>
          <a:off x="1330123" y="2015892"/>
          <a:ext cx="9529910" cy="362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118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0F01E6D-9FB3-0A73-C4CB-55D5CCC6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Segoe UI Black"/>
              </a:rPr>
              <a:t>Key Statistics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B4AD82-0DF8-D029-8789-A4CA53AF4DE5}"/>
              </a:ext>
            </a:extLst>
          </p:cNvPr>
          <p:cNvSpPr txBox="1"/>
          <p:nvPr/>
        </p:nvSpPr>
        <p:spPr>
          <a:xfrm>
            <a:off x="1047004" y="2196076"/>
            <a:ext cx="455393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cs typeface="Arial"/>
              </a:rPr>
              <a:t>Quality (Numerical)</a:t>
            </a:r>
          </a:p>
          <a:p>
            <a:pPr algn="ctr"/>
            <a:endParaRPr lang="en-US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API Gravity: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Mean:</a:t>
            </a:r>
            <a:r>
              <a:rPr lang="en-US">
                <a:latin typeface="Aptos"/>
                <a:ea typeface="+mn-lt"/>
                <a:cs typeface="+mn-lt"/>
              </a:rPr>
              <a:t> 35.7° (Medium-Light crude).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Range:</a:t>
            </a:r>
            <a:r>
              <a:rPr lang="en-US">
                <a:latin typeface="Aptos"/>
                <a:ea typeface="+mn-lt"/>
                <a:cs typeface="+mn-lt"/>
              </a:rPr>
              <a:t> 17.9° - 73.1° (Diverse quality).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Sulfur Content: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Mean:</a:t>
            </a:r>
            <a:r>
              <a:rPr lang="en-US">
                <a:latin typeface="Aptos"/>
                <a:ea typeface="+mn-lt"/>
                <a:cs typeface="+mn-lt"/>
              </a:rPr>
              <a:t> 0.59% </a:t>
            </a:r>
            <a:r>
              <a:rPr lang="en-US" err="1">
                <a:latin typeface="Aptos"/>
                <a:ea typeface="+mn-lt"/>
                <a:cs typeface="+mn-lt"/>
              </a:rPr>
              <a:t>wt</a:t>
            </a:r>
            <a:r>
              <a:rPr lang="en-US">
                <a:latin typeface="Aptos"/>
                <a:ea typeface="+mn-lt"/>
                <a:cs typeface="+mn-lt"/>
              </a:rPr>
              <a:t> (Low).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Outliers:</a:t>
            </a:r>
            <a:r>
              <a:rPr lang="en-US">
                <a:latin typeface="Aptos"/>
                <a:ea typeface="+mn-lt"/>
                <a:cs typeface="+mn-lt"/>
              </a:rPr>
              <a:t> Max 3.87% (High sour).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Viscosity: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Mean:</a:t>
            </a:r>
            <a:r>
              <a:rPr lang="en-US">
                <a:latin typeface="Aptos"/>
                <a:ea typeface="+mn-lt"/>
                <a:cs typeface="+mn-lt"/>
              </a:rPr>
              <a:t> 65.3 </a:t>
            </a:r>
            <a:r>
              <a:rPr lang="en-US" err="1">
                <a:latin typeface="Aptos"/>
                <a:ea typeface="+mn-lt"/>
                <a:cs typeface="+mn-lt"/>
              </a:rPr>
              <a:t>cSt</a:t>
            </a:r>
            <a:r>
              <a:rPr lang="en-US">
                <a:latin typeface="Aptos"/>
                <a:ea typeface="+mn-lt"/>
                <a:cs typeface="+mn-lt"/>
              </a:rPr>
              <a:t> @ 20°C.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Trend:</a:t>
            </a:r>
            <a:r>
              <a:rPr lang="en-US">
                <a:latin typeface="Aptos"/>
                <a:ea typeface="+mn-lt"/>
                <a:cs typeface="+mn-lt"/>
              </a:rPr>
              <a:t> High variance; some samples extremely heavy/viscous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5FFEB4-57C1-2940-E50E-B4E97483E9C4}"/>
              </a:ext>
            </a:extLst>
          </p:cNvPr>
          <p:cNvSpPr txBox="1"/>
          <p:nvPr/>
        </p:nvSpPr>
        <p:spPr>
          <a:xfrm>
            <a:off x="7028459" y="2199390"/>
            <a:ext cx="410226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Composition &amp; Origin (Categorical)</a:t>
            </a:r>
          </a:p>
          <a:p>
            <a:pPr algn="ctr"/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Crude Type: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Medium:</a:t>
            </a:r>
            <a:r>
              <a:rPr lang="en-US">
                <a:latin typeface="Aptos"/>
                <a:ea typeface="+mn-lt"/>
                <a:cs typeface="+mn-lt"/>
              </a:rPr>
              <a:t> 49% (Dominant).</a:t>
            </a:r>
            <a:endParaRPr lang="en-US">
              <a:latin typeface="Aptos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Light:</a:t>
            </a:r>
            <a:r>
              <a:rPr lang="en-US">
                <a:latin typeface="Aptos"/>
                <a:ea typeface="+mn-lt"/>
                <a:cs typeface="+mn-lt"/>
              </a:rPr>
              <a:t> 37%.</a:t>
            </a:r>
            <a:endParaRPr lang="en-US">
              <a:latin typeface="Aptos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Heavy:</a:t>
            </a:r>
            <a:r>
              <a:rPr lang="en-US">
                <a:latin typeface="Aptos"/>
                <a:ea typeface="+mn-lt"/>
                <a:cs typeface="+mn-lt"/>
              </a:rPr>
              <a:t> 15%.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Sulfur </a:t>
            </a:r>
            <a:r>
              <a:rPr lang="en-US" b="1" err="1">
                <a:latin typeface="Aptos"/>
                <a:ea typeface="+mn-lt"/>
                <a:cs typeface="+mn-lt"/>
              </a:rPr>
              <a:t>Flavour</a:t>
            </a:r>
            <a:r>
              <a:rPr lang="en-US" b="1">
                <a:latin typeface="Aptos"/>
                <a:ea typeface="+mn-lt"/>
                <a:cs typeface="+mn-lt"/>
              </a:rPr>
              <a:t>: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Sweet:</a:t>
            </a:r>
            <a:r>
              <a:rPr lang="en-US">
                <a:latin typeface="Aptos"/>
                <a:ea typeface="+mn-lt"/>
                <a:cs typeface="+mn-lt"/>
              </a:rPr>
              <a:t> 80.5% (High value, low pollution).</a:t>
            </a:r>
            <a:endParaRPr lang="en-US">
              <a:latin typeface="Aptos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Sour:</a:t>
            </a:r>
            <a:r>
              <a:rPr lang="en-US">
                <a:latin typeface="Aptos"/>
                <a:ea typeface="+mn-lt"/>
                <a:cs typeface="+mn-lt"/>
              </a:rPr>
              <a:t> 19.5%.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Geography: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Top Region:</a:t>
            </a:r>
            <a:r>
              <a:rPr lang="en-US">
                <a:latin typeface="Aptos"/>
                <a:ea typeface="+mn-lt"/>
                <a:cs typeface="+mn-lt"/>
              </a:rPr>
              <a:t> Africa (44%).</a:t>
            </a:r>
            <a:endParaRPr lang="en-US">
              <a:latin typeface="Aptos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Top Country:</a:t>
            </a:r>
            <a:r>
              <a:rPr lang="en-US">
                <a:latin typeface="Aptos"/>
                <a:ea typeface="+mn-lt"/>
                <a:cs typeface="+mn-lt"/>
              </a:rPr>
              <a:t> Angola (24%).</a:t>
            </a:r>
            <a:endParaRPr lang="en-US">
              <a:latin typeface="Aptos"/>
              <a:cs typeface="Arial"/>
            </a:endParaRPr>
          </a:p>
          <a:p>
            <a:endParaRPr lang="en-US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977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A567-4E4C-9595-AB6E-F0207C65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E64B-8466-8D39-28CB-C5E417AC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Conclusion &amp; Strategic Value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0E9DE8-12D4-3AA1-8836-F82F9321B35D}"/>
              </a:ext>
            </a:extLst>
          </p:cNvPr>
          <p:cNvSpPr txBox="1"/>
          <p:nvPr/>
        </p:nvSpPr>
        <p:spPr>
          <a:xfrm>
            <a:off x="910059" y="2310151"/>
            <a:ext cx="4746310" cy="3766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76254E2-0F62-B8F9-B5C8-BFDCB4ECBF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4616459"/>
              </p:ext>
            </p:extLst>
          </p:nvPr>
        </p:nvGraphicFramePr>
        <p:xfrm>
          <a:off x="1183987" y="2433426"/>
          <a:ext cx="10375417" cy="3529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6764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BF3AA3-0658-8156-D1FF-2B0F4BF3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ea typeface="Segoe UI Black"/>
              </a:rPr>
              <a:t>Univariate Plots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ED58DB7-0D1C-1EB7-50ED-E739B4905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0103583"/>
              </p:ext>
            </p:extLst>
          </p:nvPr>
        </p:nvGraphicFramePr>
        <p:xfrm>
          <a:off x="1330123" y="2015892"/>
          <a:ext cx="9529910" cy="362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7989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A117BD6-2BE3-F723-416C-30FB726D4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442" y="201706"/>
            <a:ext cx="6151941" cy="617668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2B6B2542-3DCC-E94B-6594-7306A5F14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48" y="1518"/>
            <a:ext cx="5035530" cy="1132258"/>
          </a:xfrm>
        </p:spPr>
        <p:txBody>
          <a:bodyPr/>
          <a:lstStyle/>
          <a:p>
            <a:pPr algn="ctr"/>
            <a:r>
              <a:rPr lang="en-US" sz="1800">
                <a:ea typeface="Segoe UI Black"/>
              </a:rPr>
              <a:t>Box Plot Analysis (Outliers and Extremes)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91404-4F1C-2546-A744-05961E39F6F0}"/>
              </a:ext>
            </a:extLst>
          </p:cNvPr>
          <p:cNvSpPr txBox="1"/>
          <p:nvPr/>
        </p:nvSpPr>
        <p:spPr>
          <a:xfrm>
            <a:off x="439566" y="1128457"/>
            <a:ext cx="4886319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b="1">
                <a:latin typeface="Aptos"/>
                <a:ea typeface="+mn-lt"/>
                <a:cs typeface="+mn-lt"/>
              </a:rPr>
              <a:t>Viscosity (@ 20°C):</a:t>
            </a:r>
            <a:endParaRPr lang="en-US" sz="1700">
              <a:latin typeface="Aptos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Observation:</a:t>
            </a:r>
            <a:r>
              <a:rPr lang="en-US" sz="1700">
                <a:latin typeface="Aptos"/>
                <a:ea typeface="+mn-lt"/>
                <a:cs typeface="+mn-lt"/>
              </a:rPr>
              <a:t> Extreme outliers (up to 1000 </a:t>
            </a:r>
            <a:r>
              <a:rPr lang="en-US" sz="1700" err="1">
                <a:latin typeface="Aptos"/>
                <a:ea typeface="+mn-lt"/>
                <a:cs typeface="+mn-lt"/>
              </a:rPr>
              <a:t>cSt</a:t>
            </a:r>
            <a:r>
              <a:rPr lang="en-US" sz="1700">
                <a:latin typeface="Aptos"/>
                <a:ea typeface="+mn-lt"/>
                <a:cs typeface="+mn-lt"/>
              </a:rPr>
              <a:t>).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Critical Action:</a:t>
            </a:r>
            <a:r>
              <a:rPr lang="en-US" sz="1700">
                <a:latin typeface="Aptos"/>
                <a:ea typeface="+mn-lt"/>
                <a:cs typeface="+mn-lt"/>
              </a:rPr>
              <a:t> "Average" transport methods will fail; specific outlier batches require heated pipelines/tanks to prevent clogging.</a:t>
            </a:r>
          </a:p>
          <a:p>
            <a:pPr marL="285750" indent="-285750">
              <a:buFont typeface="Arial"/>
              <a:buChar char="•"/>
            </a:pPr>
            <a:r>
              <a:rPr lang="en-US" sz="1700" b="1">
                <a:latin typeface="Aptos"/>
                <a:ea typeface="+mn-lt"/>
                <a:cs typeface="+mn-lt"/>
              </a:rPr>
              <a:t>Metals (Nickel/Vanadium):</a:t>
            </a:r>
            <a:endParaRPr lang="en-US" sz="1700">
              <a:latin typeface="Aptos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Observation:</a:t>
            </a:r>
            <a:r>
              <a:rPr lang="en-US" sz="1700">
                <a:latin typeface="Aptos"/>
                <a:ea typeface="+mn-lt"/>
                <a:cs typeface="+mn-lt"/>
              </a:rPr>
              <a:t> Significant outliers far above the median.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Critical Action:</a:t>
            </a:r>
            <a:r>
              <a:rPr lang="en-US" sz="1700">
                <a:latin typeface="Aptos"/>
                <a:ea typeface="+mn-lt"/>
                <a:cs typeface="+mn-lt"/>
              </a:rPr>
              <a:t> High-metal outliers are catalyst poisons; these specific batches must be segregated or demetallized before refining.</a:t>
            </a:r>
          </a:p>
          <a:p>
            <a:pPr marL="285750" indent="-285750">
              <a:buFont typeface="Arial"/>
              <a:buChar char="•"/>
            </a:pPr>
            <a:r>
              <a:rPr lang="en-US" sz="1700" b="1">
                <a:latin typeface="Aptos"/>
                <a:ea typeface="+mn-lt"/>
                <a:cs typeface="+mn-lt"/>
              </a:rPr>
              <a:t>API Gravity:</a:t>
            </a:r>
            <a:endParaRPr lang="en-US" sz="1700">
              <a:latin typeface="Aptos"/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Observation:</a:t>
            </a:r>
            <a:r>
              <a:rPr lang="en-US" sz="1700">
                <a:latin typeface="Aptos"/>
                <a:ea typeface="+mn-lt"/>
                <a:cs typeface="+mn-lt"/>
              </a:rPr>
              <a:t> Wide box (High Variance).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Critical Action:</a:t>
            </a:r>
            <a:r>
              <a:rPr lang="en-US" sz="1700">
                <a:latin typeface="Aptos"/>
                <a:ea typeface="+mn-lt"/>
                <a:cs typeface="+mn-lt"/>
              </a:rPr>
              <a:t> Refinery intake must be flexible enough to handle density swings from 17.9° (Heavy) to 73.1° (Condensate).</a:t>
            </a:r>
          </a:p>
          <a:p>
            <a:pPr algn="l"/>
            <a:endParaRPr lang="en-US" sz="1700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2768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blue and white graphs">
            <a:extLst>
              <a:ext uri="{FF2B5EF4-FFF2-40B4-BE49-F238E27FC236}">
                <a16:creationId xmlns:a16="http://schemas.microsoft.com/office/drawing/2014/main" id="{5FDC4A9B-5AF7-949A-D252-B25316099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23" y="235324"/>
            <a:ext cx="6163236" cy="61632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6C2833FA-D3EA-8C78-DEF6-3DE2C11B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883" y="1519"/>
            <a:ext cx="5035530" cy="1132258"/>
          </a:xfrm>
        </p:spPr>
        <p:txBody>
          <a:bodyPr/>
          <a:lstStyle/>
          <a:p>
            <a:pPr algn="ctr"/>
            <a:r>
              <a:rPr lang="en-US" sz="1800"/>
              <a:t>Histogram Analysis (Distribution &amp; Shape)</a:t>
            </a:r>
            <a:endParaRPr lang="en-US" sz="1800">
              <a:ea typeface="Segoe UI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F0342-3426-8BA2-09DA-28AD6446AD76}"/>
              </a:ext>
            </a:extLst>
          </p:cNvPr>
          <p:cNvSpPr txBox="1"/>
          <p:nvPr/>
        </p:nvSpPr>
        <p:spPr>
          <a:xfrm>
            <a:off x="6773571" y="1369346"/>
            <a:ext cx="4928322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700" b="1">
                <a:latin typeface="Aptos"/>
                <a:ea typeface="+mn-lt"/>
                <a:cs typeface="+mn-lt"/>
              </a:rPr>
              <a:t>API Gravity:</a:t>
            </a:r>
            <a:endParaRPr lang="en-US" sz="1700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Shape:</a:t>
            </a:r>
            <a:r>
              <a:rPr lang="en-US" sz="1700">
                <a:latin typeface="Aptos"/>
                <a:ea typeface="+mn-lt"/>
                <a:cs typeface="+mn-lt"/>
              </a:rPr>
              <a:t> Normal-like distribution.</a:t>
            </a:r>
            <a:endParaRPr lang="en-US" sz="1700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Insight:</a:t>
            </a:r>
            <a:r>
              <a:rPr lang="en-US" sz="1700">
                <a:latin typeface="Aptos"/>
                <a:ea typeface="+mn-lt"/>
                <a:cs typeface="+mn-lt"/>
              </a:rPr>
              <a:t> Balanced portfolio of Light, Medium, and Heavy crudes; suitable for diverse refining needs.</a:t>
            </a:r>
            <a:endParaRPr lang="en-US" sz="17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latin typeface="Aptos"/>
                <a:ea typeface="+mn-lt"/>
                <a:cs typeface="+mn-lt"/>
              </a:rPr>
              <a:t>Viscosity &amp; Metals (Ni/V):</a:t>
            </a:r>
            <a:endParaRPr lang="en-US" sz="1700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Shape:</a:t>
            </a:r>
            <a:r>
              <a:rPr lang="en-US" sz="1700">
                <a:latin typeface="Aptos"/>
                <a:ea typeface="+mn-lt"/>
                <a:cs typeface="+mn-lt"/>
              </a:rPr>
              <a:t> Highly right-skewed (Long tail).</a:t>
            </a:r>
            <a:endParaRPr lang="en-US" sz="1700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Insight:</a:t>
            </a:r>
            <a:r>
              <a:rPr lang="en-US" sz="1700">
                <a:latin typeface="Aptos"/>
                <a:ea typeface="+mn-lt"/>
                <a:cs typeface="+mn-lt"/>
              </a:rPr>
              <a:t> Most samples are high-quality (low viscosity/metals), but the skew indicates a sub-set of "heavy/dirty" samples that distort the average.</a:t>
            </a:r>
            <a:endParaRPr lang="en-US" sz="1700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sz="1700" b="1">
                <a:latin typeface="Aptos"/>
                <a:ea typeface="+mn-lt"/>
                <a:cs typeface="+mn-lt"/>
              </a:rPr>
              <a:t>Total Sulfur:</a:t>
            </a:r>
            <a:endParaRPr lang="en-US" sz="1700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Shape:</a:t>
            </a:r>
            <a:r>
              <a:rPr lang="en-US" sz="1700">
                <a:latin typeface="Aptos"/>
                <a:ea typeface="+mn-lt"/>
                <a:cs typeface="+mn-lt"/>
              </a:rPr>
              <a:t> Right-skewed.</a:t>
            </a:r>
            <a:endParaRPr lang="en-US" sz="1700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700" b="1">
                <a:latin typeface="Aptos"/>
                <a:ea typeface="+mn-lt"/>
                <a:cs typeface="+mn-lt"/>
              </a:rPr>
              <a:t>Insight:</a:t>
            </a:r>
            <a:r>
              <a:rPr lang="en-US" sz="1700">
                <a:latin typeface="Aptos"/>
                <a:ea typeface="+mn-lt"/>
                <a:cs typeface="+mn-lt"/>
              </a:rPr>
              <a:t> The majority of the dataset is "Sweet" (&lt;0.5%), with a smaller frequency of "Sour" crude, confirming the dataset's premium nature.</a:t>
            </a:r>
            <a:endParaRPr lang="en-US" sz="1700">
              <a:latin typeface="Aptos"/>
            </a:endParaRPr>
          </a:p>
          <a:p>
            <a:pPr algn="l"/>
            <a:endParaRPr lang="en-US" sz="1700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307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BCF9-6C49-BF59-E0BA-2DA1C8C2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BEBE-10C7-25E2-3459-60466785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Bivariate Statistics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FB76A-BC99-03C3-5B33-28D250903BED}"/>
              </a:ext>
            </a:extLst>
          </p:cNvPr>
          <p:cNvSpPr txBox="1"/>
          <p:nvPr/>
        </p:nvSpPr>
        <p:spPr>
          <a:xfrm>
            <a:off x="910059" y="2310151"/>
            <a:ext cx="4746310" cy="3766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21DCEE7-57B5-8DCA-DE97-73F5087FDC01}"/>
              </a:ext>
            </a:extLst>
          </p:cNvPr>
          <p:cNvGraphicFramePr/>
          <p:nvPr/>
        </p:nvGraphicFramePr>
        <p:xfrm>
          <a:off x="1330123" y="2015892"/>
          <a:ext cx="9529910" cy="362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184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89F84-28A1-33B6-3CAC-4C504208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CB5020A-D799-541D-8D59-F00E24DF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Critical Feature Relationships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6536C-AE98-D442-F2E4-7A2A3A9FAD1B}"/>
              </a:ext>
            </a:extLst>
          </p:cNvPr>
          <p:cNvSpPr txBox="1"/>
          <p:nvPr/>
        </p:nvSpPr>
        <p:spPr>
          <a:xfrm>
            <a:off x="347633" y="2196076"/>
            <a:ext cx="336395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 (Sulfur ↔ Vanadium)</a:t>
            </a:r>
            <a:endParaRPr lang="en-US">
              <a:latin typeface="Aptos"/>
              <a:ea typeface="+mn-lt"/>
              <a:cs typeface="+mn-lt"/>
            </a:endParaRPr>
          </a:p>
          <a:p>
            <a:pPr algn="ctr"/>
            <a:endParaRPr lang="en-US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Stat:</a:t>
            </a:r>
            <a:r>
              <a:rPr lang="en-US">
                <a:latin typeface="Aptos"/>
                <a:ea typeface="+mn-lt"/>
                <a:cs typeface="+mn-lt"/>
              </a:rPr>
              <a:t> Extremely strong linear correlation (r = 0.92).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Insight:</a:t>
            </a:r>
            <a:r>
              <a:rPr lang="en-US">
                <a:latin typeface="Aptos"/>
                <a:ea typeface="+mn-lt"/>
                <a:cs typeface="+mn-lt"/>
              </a:rPr>
              <a:t> </a:t>
            </a:r>
            <a:r>
              <a:rPr lang="en-US" b="1">
                <a:latin typeface="Aptos"/>
                <a:ea typeface="+mn-lt"/>
                <a:cs typeface="+mn-lt"/>
              </a:rPr>
              <a:t>Total Sulfur</a:t>
            </a:r>
            <a:r>
              <a:rPr lang="en-US">
                <a:latin typeface="Aptos"/>
                <a:ea typeface="+mn-lt"/>
                <a:cs typeface="+mn-lt"/>
              </a:rPr>
              <a:t> is a near-perfect predictor of </a:t>
            </a:r>
            <a:r>
              <a:rPr lang="en-US" b="1">
                <a:latin typeface="Aptos"/>
                <a:ea typeface="+mn-lt"/>
                <a:cs typeface="+mn-lt"/>
              </a:rPr>
              <a:t>Vanadium</a:t>
            </a:r>
            <a:r>
              <a:rPr lang="en-US">
                <a:latin typeface="Aptos"/>
                <a:ea typeface="+mn-lt"/>
                <a:cs typeface="+mn-lt"/>
              </a:rPr>
              <a:t> content.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Action:</a:t>
            </a:r>
            <a:r>
              <a:rPr lang="en-US">
                <a:latin typeface="Aptos"/>
                <a:ea typeface="+mn-lt"/>
                <a:cs typeface="+mn-lt"/>
              </a:rPr>
              <a:t> Use Sulfur lab tests (faster/cheaper) to instantly estimate metal poisoning risks without waiting for complex metal assays.</a:t>
            </a:r>
          </a:p>
          <a:p>
            <a:pPr algn="ctr"/>
            <a:endParaRPr lang="en-US" b="1">
              <a:latin typeface="Aptos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6A8589-40E6-8EF7-277D-EF868C4AC1C8}"/>
              </a:ext>
            </a:extLst>
          </p:cNvPr>
          <p:cNvSpPr txBox="1"/>
          <p:nvPr/>
        </p:nvSpPr>
        <p:spPr>
          <a:xfrm>
            <a:off x="4043089" y="2199390"/>
            <a:ext cx="410226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 (API Gravity ↔ Viscosity)</a:t>
            </a:r>
          </a:p>
          <a:p>
            <a:endParaRPr lang="en-US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Stat:</a:t>
            </a:r>
            <a:r>
              <a:rPr lang="en-US">
                <a:latin typeface="Aptos"/>
                <a:ea typeface="+mn-lt"/>
                <a:cs typeface="+mn-lt"/>
              </a:rPr>
              <a:t> Weak Linear (r = -0.45) vs. Strong Rank Correlation (ρ = -0.95).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Insight:</a:t>
            </a:r>
            <a:r>
              <a:rPr lang="en-US">
                <a:latin typeface="Aptos"/>
                <a:ea typeface="+mn-lt"/>
                <a:cs typeface="+mn-lt"/>
              </a:rPr>
              <a:t> The relationship is </a:t>
            </a:r>
            <a:r>
              <a:rPr lang="en-US" b="1">
                <a:latin typeface="Aptos"/>
                <a:ea typeface="+mn-lt"/>
                <a:cs typeface="+mn-lt"/>
              </a:rPr>
              <a:t>Exponential</a:t>
            </a:r>
            <a:r>
              <a:rPr lang="en-US">
                <a:latin typeface="Aptos"/>
                <a:ea typeface="+mn-lt"/>
                <a:cs typeface="+mn-lt"/>
              </a:rPr>
              <a:t>, not linear. A small drop in API (heavier oil) causes a massive, non-linear spike in viscosity.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Action:</a:t>
            </a:r>
            <a:r>
              <a:rPr lang="en-US">
                <a:latin typeface="Aptos"/>
                <a:ea typeface="+mn-lt"/>
                <a:cs typeface="+mn-lt"/>
              </a:rPr>
              <a:t> Linear models will fail here. </a:t>
            </a:r>
            <a:r>
              <a:rPr lang="en-US" b="1">
                <a:latin typeface="Aptos"/>
                <a:ea typeface="+mn-lt"/>
                <a:cs typeface="+mn-lt"/>
              </a:rPr>
              <a:t>Log-transform Viscosity</a:t>
            </a:r>
            <a:r>
              <a:rPr lang="en-US">
                <a:latin typeface="Aptos"/>
                <a:ea typeface="+mn-lt"/>
                <a:cs typeface="+mn-lt"/>
              </a:rPr>
              <a:t> before any predictive modeling to capture this curve.</a:t>
            </a:r>
            <a:endParaRPr lang="en-US">
              <a:latin typeface="Aptos"/>
              <a:cs typeface="Arial"/>
            </a:endParaRPr>
          </a:p>
          <a:p>
            <a:pPr algn="ctr"/>
            <a:endParaRPr lang="en-US" b="1">
              <a:latin typeface="Aptos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29BDE-8F0F-2FF5-1BB2-371C56A19D45}"/>
              </a:ext>
            </a:extLst>
          </p:cNvPr>
          <p:cNvSpPr txBox="1"/>
          <p:nvPr/>
        </p:nvSpPr>
        <p:spPr>
          <a:xfrm>
            <a:off x="8412734" y="2195080"/>
            <a:ext cx="358455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 (API Gravity ↔  Nickel)</a:t>
            </a:r>
            <a:endParaRPr lang="en-US">
              <a:latin typeface="Aptos"/>
              <a:ea typeface="+mn-lt"/>
              <a:cs typeface="+mn-lt"/>
            </a:endParaRPr>
          </a:p>
          <a:p>
            <a:pPr algn="ctr"/>
            <a:endParaRPr lang="en-US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Stat:</a:t>
            </a:r>
            <a:r>
              <a:rPr lang="en-US">
                <a:latin typeface="Aptos"/>
                <a:ea typeface="+mn-lt"/>
                <a:cs typeface="+mn-lt"/>
              </a:rPr>
              <a:t> Strong Inverse Correlation (ρ = -0.86).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Insight:</a:t>
            </a:r>
            <a:r>
              <a:rPr lang="en-US">
                <a:latin typeface="Aptos"/>
                <a:ea typeface="+mn-lt"/>
                <a:cs typeface="+mn-lt"/>
              </a:rPr>
              <a:t> Lighter crudes (High API) are systematically "cleaner."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Action:</a:t>
            </a:r>
            <a:r>
              <a:rPr lang="en-US">
                <a:latin typeface="Aptos"/>
                <a:ea typeface="+mn-lt"/>
                <a:cs typeface="+mn-lt"/>
              </a:rPr>
              <a:t> API Gravity serves as a dual-indicator: it predicts both yield (light products) and refining safety (low catalyst poisoning).</a:t>
            </a:r>
          </a:p>
          <a:p>
            <a:pPr algn="l"/>
            <a:endParaRPr lang="en-US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985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0B5E-E258-9E08-1B54-9EDD9138F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B5AB-1ED1-6C9F-A135-34ADD6C2A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Summary of Statistical Dependencies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87E6A-DBA4-67AF-0828-B2AB2FF8CC83}"/>
              </a:ext>
            </a:extLst>
          </p:cNvPr>
          <p:cNvSpPr txBox="1"/>
          <p:nvPr/>
        </p:nvSpPr>
        <p:spPr>
          <a:xfrm>
            <a:off x="910059" y="2310151"/>
            <a:ext cx="4746310" cy="3766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678C880-F83C-DB53-12B1-E6D59CC3A7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5957364"/>
              </p:ext>
            </p:extLst>
          </p:nvPr>
        </p:nvGraphicFramePr>
        <p:xfrm>
          <a:off x="1183987" y="1452221"/>
          <a:ext cx="10375417" cy="4927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3754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C9E3-E53A-D1E5-9098-4B62A657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7678D0-8D55-A36F-0ABB-78ABACA90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ea typeface="Segoe UI Black"/>
              </a:rPr>
              <a:t>Multivariate Graphical Analysis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F12B94C-FB24-D98A-6D79-EA85042C7325}"/>
              </a:ext>
            </a:extLst>
          </p:cNvPr>
          <p:cNvGraphicFramePr/>
          <p:nvPr/>
        </p:nvGraphicFramePr>
        <p:xfrm>
          <a:off x="1330123" y="2015892"/>
          <a:ext cx="9529910" cy="362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695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D3C8-3099-4FC1-1AEE-74A13731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065F6C88-5BB3-B9CB-09BC-B434047E5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48" y="1518"/>
            <a:ext cx="5035530" cy="1132258"/>
          </a:xfrm>
        </p:spPr>
        <p:txBody>
          <a:bodyPr/>
          <a:lstStyle/>
          <a:p>
            <a:pPr algn="ctr"/>
            <a:r>
              <a:rPr lang="en-US" sz="1800" b="0">
                <a:ea typeface="+mj-lt"/>
                <a:cs typeface="+mj-lt"/>
              </a:rPr>
              <a:t>Correlation Heatmap (Relationships)</a:t>
            </a:r>
            <a:endParaRPr lang="en-US" b="0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71D23-F2A9-122C-B45E-015E3F721012}"/>
              </a:ext>
            </a:extLst>
          </p:cNvPr>
          <p:cNvSpPr txBox="1"/>
          <p:nvPr/>
        </p:nvSpPr>
        <p:spPr>
          <a:xfrm>
            <a:off x="512634" y="1441608"/>
            <a:ext cx="488631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Visual:</a:t>
            </a:r>
            <a:r>
              <a:rPr lang="en-US">
                <a:latin typeface="Aptos"/>
                <a:ea typeface="+mn-lt"/>
                <a:cs typeface="+mn-lt"/>
              </a:rPr>
              <a:t> The heatmap of critical variables shows distinct "hot spots" (red) and "cold spots" (blue).</a:t>
            </a: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Insight 1 (The Red Block):</a:t>
            </a:r>
            <a:r>
              <a:rPr lang="en-US">
                <a:latin typeface="Aptos"/>
                <a:ea typeface="+mn-lt"/>
                <a:cs typeface="+mn-lt"/>
              </a:rPr>
              <a:t> There is a strong, red rectangular block of correlation between </a:t>
            </a:r>
            <a:r>
              <a:rPr lang="en-US" b="1">
                <a:latin typeface="Aptos"/>
                <a:ea typeface="+mn-lt"/>
                <a:cs typeface="+mn-lt"/>
              </a:rPr>
              <a:t>Sulfur, Nitrogen, Nickel, and Vanadium</a:t>
            </a:r>
            <a:r>
              <a:rPr lang="en-US">
                <a:latin typeface="Aptos"/>
                <a:ea typeface="+mn-lt"/>
                <a:cs typeface="+mn-lt"/>
              </a:rPr>
              <a:t>. This visually confirms that "contaminants travel together." If a crude has one, it likely has them all.</a:t>
            </a: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Insight 2 (The Blue Band):</a:t>
            </a:r>
            <a:r>
              <a:rPr lang="en-US">
                <a:latin typeface="Aptos"/>
                <a:ea typeface="+mn-lt"/>
                <a:cs typeface="+mn-lt"/>
              </a:rPr>
              <a:t> </a:t>
            </a:r>
            <a:r>
              <a:rPr lang="en-US" b="1">
                <a:latin typeface="Aptos"/>
                <a:ea typeface="+mn-lt"/>
                <a:cs typeface="+mn-lt"/>
              </a:rPr>
              <a:t>API Gravity</a:t>
            </a:r>
            <a:r>
              <a:rPr lang="en-US">
                <a:latin typeface="Aptos"/>
                <a:ea typeface="+mn-lt"/>
                <a:cs typeface="+mn-lt"/>
              </a:rPr>
              <a:t> shows strong negative correlation (blue) with all these contaminants. This visually proves the "Quality Rule": Lighter oil (Higher API) is cleaner oil.</a:t>
            </a:r>
            <a:endParaRPr lang="en-US">
              <a:latin typeface="Aptos"/>
            </a:endParaRPr>
          </a:p>
          <a:p>
            <a:pPr marL="285750" indent="-285750" algn="l">
              <a:buFont typeface="Arial"/>
              <a:buChar char="•"/>
            </a:pPr>
            <a:endParaRPr lang="en-US" b="1">
              <a:latin typeface="Aptos"/>
              <a:cs typeface="Arial"/>
            </a:endParaRPr>
          </a:p>
        </p:txBody>
      </p:sp>
      <p:pic>
        <p:nvPicPr>
          <p:cNvPr id="2" name="Picture 1" descr="A red and blue squares with white text">
            <a:extLst>
              <a:ext uri="{FF2B5EF4-FFF2-40B4-BE49-F238E27FC236}">
                <a16:creationId xmlns:a16="http://schemas.microsoft.com/office/drawing/2014/main" id="{29F033E2-6009-9458-8629-63F5518C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066" y="933532"/>
            <a:ext cx="6297387" cy="498565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885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A748-B1CF-EB57-9F64-62C0B9EF5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7F12F119-3A09-1807-A0E4-642F3B7F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883" y="1519"/>
            <a:ext cx="5035530" cy="1132258"/>
          </a:xfrm>
        </p:spPr>
        <p:txBody>
          <a:bodyPr/>
          <a:lstStyle/>
          <a:p>
            <a:pPr algn="ctr"/>
            <a:r>
              <a:rPr lang="en-US" sz="1800" b="0">
                <a:ea typeface="+mj-lt"/>
                <a:cs typeface="+mj-lt"/>
              </a:rPr>
              <a:t>Pair Plot (Cluster Identification)</a:t>
            </a:r>
            <a:endParaRPr lang="en-US" b="0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4C678-97CB-FBFD-921C-F0D675FC39AC}"/>
              </a:ext>
            </a:extLst>
          </p:cNvPr>
          <p:cNvSpPr txBox="1"/>
          <p:nvPr/>
        </p:nvSpPr>
        <p:spPr>
          <a:xfrm>
            <a:off x="6825763" y="1546798"/>
            <a:ext cx="4928322" cy="40164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700" b="1" dirty="0">
                <a:latin typeface="Aptos"/>
                <a:ea typeface="+mn-lt"/>
                <a:cs typeface="+mn-lt"/>
              </a:rPr>
              <a:t>Visual:</a:t>
            </a:r>
            <a:r>
              <a:rPr lang="en-US" sz="1700" dirty="0">
                <a:latin typeface="Aptos"/>
                <a:ea typeface="+mn-lt"/>
                <a:cs typeface="+mn-lt"/>
              </a:rPr>
              <a:t> The pair plot matrix, colored by "Crude Type", reveals distinct clusters.</a:t>
            </a:r>
          </a:p>
          <a:p>
            <a:pPr>
              <a:buFont typeface="Arial"/>
              <a:buChar char="•"/>
            </a:pPr>
            <a:r>
              <a:rPr lang="en-US" sz="1700" b="1" dirty="0">
                <a:latin typeface="Aptos"/>
                <a:ea typeface="+mn-lt"/>
                <a:cs typeface="+mn-lt"/>
              </a:rPr>
              <a:t>Insight:</a:t>
            </a:r>
            <a:endParaRPr lang="en-US" dirty="0">
              <a:latin typeface="Aptos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700" b="1" dirty="0">
                <a:latin typeface="Aptos"/>
                <a:ea typeface="+mn-lt"/>
                <a:cs typeface="+mn-lt"/>
              </a:rPr>
              <a:t>Medium Crudes (Green/Teal):</a:t>
            </a:r>
            <a:r>
              <a:rPr lang="en-US" sz="1700" dirty="0">
                <a:latin typeface="Aptos"/>
                <a:ea typeface="+mn-lt"/>
                <a:cs typeface="+mn-lt"/>
              </a:rPr>
              <a:t> Cluster tightly in the center - consistent and predictable.</a:t>
            </a:r>
            <a:endParaRPr lang="en-US" dirty="0">
              <a:latin typeface="Aptos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700" b="1" dirty="0">
                <a:latin typeface="Aptos"/>
                <a:ea typeface="+mn-lt"/>
                <a:cs typeface="+mn-lt"/>
              </a:rPr>
              <a:t>Heavy Crudes (Yellow/Purple):</a:t>
            </a:r>
            <a:r>
              <a:rPr lang="en-US" sz="1700" dirty="0">
                <a:latin typeface="Aptos"/>
                <a:ea typeface="+mn-lt"/>
                <a:cs typeface="+mn-lt"/>
              </a:rPr>
              <a:t> Appear scattered at the extremes of Viscosity and Metals.</a:t>
            </a:r>
            <a:endParaRPr lang="en-US" dirty="0">
              <a:latin typeface="Aptos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700" b="1" dirty="0">
                <a:latin typeface="Aptos"/>
                <a:ea typeface="+mn-lt"/>
                <a:cs typeface="+mn-lt"/>
              </a:rPr>
              <a:t>Light Crudes:</a:t>
            </a:r>
            <a:r>
              <a:rPr lang="en-US" sz="1700" dirty="0">
                <a:latin typeface="Aptos"/>
                <a:ea typeface="+mn-lt"/>
                <a:cs typeface="+mn-lt"/>
              </a:rPr>
              <a:t> Cluster at the high end of API and near zero for all contaminants.</a:t>
            </a:r>
            <a:endParaRPr lang="en-US" dirty="0">
              <a:latin typeface="Apto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700" b="1" dirty="0">
                <a:latin typeface="Aptos"/>
                <a:ea typeface="+mn-lt"/>
                <a:cs typeface="+mn-lt"/>
              </a:rPr>
              <a:t>Takeaway:</a:t>
            </a:r>
            <a:r>
              <a:rPr lang="en-US" sz="1700" dirty="0">
                <a:latin typeface="Aptos"/>
                <a:ea typeface="+mn-lt"/>
                <a:cs typeface="+mn-lt"/>
              </a:rPr>
              <a:t> The classes are chemically distinct. You can draw clear lines between them based on simple API/Sulfur cutoffs.</a:t>
            </a:r>
            <a:endParaRPr lang="en-US" dirty="0">
              <a:latin typeface="Aptos"/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endParaRPr lang="en-US" sz="1700" b="1">
              <a:latin typeface="Aptos"/>
              <a:cs typeface="Arial"/>
            </a:endParaRPr>
          </a:p>
        </p:txBody>
      </p:sp>
      <p:pic>
        <p:nvPicPr>
          <p:cNvPr id="2" name="Picture 1" descr="A screenshot of a graph">
            <a:extLst>
              <a:ext uri="{FF2B5EF4-FFF2-40B4-BE49-F238E27FC236}">
                <a16:creationId xmlns:a16="http://schemas.microsoft.com/office/drawing/2014/main" id="{6506B40F-C540-F5CC-9E78-7DD127F9E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18" y="239486"/>
            <a:ext cx="6293096" cy="61177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7251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0FBE-A927-8B39-A734-CF18B404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9A76E24C-B5CF-A473-E863-12AE81102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48" y="1518"/>
            <a:ext cx="5035530" cy="1132258"/>
          </a:xfrm>
        </p:spPr>
        <p:txBody>
          <a:bodyPr/>
          <a:lstStyle/>
          <a:p>
            <a:pPr algn="ctr"/>
            <a:r>
              <a:rPr lang="en-US" sz="1800" b="0">
                <a:ea typeface="+mj-lt"/>
                <a:cs typeface="+mj-lt"/>
              </a:rPr>
              <a:t>Scatter Plots (Specific Trends)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0298A-7501-98CD-B7D3-35F14AAA3612}"/>
              </a:ext>
            </a:extLst>
          </p:cNvPr>
          <p:cNvSpPr txBox="1"/>
          <p:nvPr/>
        </p:nvSpPr>
        <p:spPr>
          <a:xfrm>
            <a:off x="512634" y="1441608"/>
            <a:ext cx="466220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Sulfur vs. Vanadium:</a:t>
            </a:r>
            <a:endParaRPr lang="en-US">
              <a:latin typeface="Aptos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Pattern:</a:t>
            </a:r>
            <a:r>
              <a:rPr lang="en-US">
                <a:latin typeface="Aptos"/>
                <a:ea typeface="+mn-lt"/>
                <a:cs typeface="+mn-lt"/>
              </a:rPr>
              <a:t> A tight, linear diagonal line.</a:t>
            </a: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Meaning:</a:t>
            </a:r>
            <a:r>
              <a:rPr lang="en-US">
                <a:latin typeface="Aptos"/>
                <a:ea typeface="+mn-lt"/>
                <a:cs typeface="+mn-lt"/>
              </a:rPr>
              <a:t> High predictability. A simple linear equation can model this relationship perfectly (R</a:t>
            </a:r>
            <a:r>
              <a:rPr lang="en-US" baseline="30000">
                <a:latin typeface="Aptos"/>
                <a:ea typeface="+mn-lt"/>
                <a:cs typeface="+mn-lt"/>
              </a:rPr>
              <a:t>2</a:t>
            </a:r>
            <a:r>
              <a:rPr lang="en-US">
                <a:latin typeface="Aptos"/>
                <a:ea typeface="+mn-lt"/>
                <a:cs typeface="+mn-lt"/>
              </a:rPr>
              <a:t> &gt; 0.9).</a:t>
            </a:r>
            <a:endParaRPr lang="en-US">
              <a:latin typeface="Aptos"/>
              <a:cs typeface="Arial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API vs. Viscosity:</a:t>
            </a:r>
            <a:endParaRPr lang="en-US">
              <a:latin typeface="Aptos"/>
            </a:endParaRP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Pattern:</a:t>
            </a:r>
            <a:r>
              <a:rPr lang="en-US">
                <a:latin typeface="Aptos"/>
                <a:ea typeface="+mn-lt"/>
                <a:cs typeface="+mn-lt"/>
              </a:rPr>
              <a:t> An "L-shape" or exponential decay curve.</a:t>
            </a:r>
            <a:endParaRPr lang="en-US">
              <a:latin typeface="Aptos"/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Meaning:</a:t>
            </a:r>
            <a:r>
              <a:rPr lang="en-US">
                <a:latin typeface="Aptos"/>
                <a:ea typeface="+mn-lt"/>
                <a:cs typeface="+mn-lt"/>
              </a:rPr>
              <a:t> Viscosity stays low and flat for a long time as density increases, then suddenly spikes vertically for heavy crudes. This visualizes the operational risk of heavy oil—once you cross a threshold, flow assurance becomes a nightmare.</a:t>
            </a:r>
          </a:p>
          <a:p>
            <a:pPr algn="l">
              <a:buFont typeface="Arial"/>
              <a:buChar char="•"/>
            </a:pPr>
            <a:endParaRPr lang="en-US">
              <a:latin typeface="Aptos"/>
              <a:cs typeface="Arial"/>
            </a:endParaRPr>
          </a:p>
        </p:txBody>
      </p:sp>
      <p:pic>
        <p:nvPicPr>
          <p:cNvPr id="6" name="Picture 5" descr="A graph with different colored dots&#10;&#10;AI-generated content may be incorrect.">
            <a:extLst>
              <a:ext uri="{FF2B5EF4-FFF2-40B4-BE49-F238E27FC236}">
                <a16:creationId xmlns:a16="http://schemas.microsoft.com/office/drawing/2014/main" id="{AED0B864-A58E-8FA1-CAFA-AA1F8BC31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4383" y="3328146"/>
            <a:ext cx="4427803" cy="32143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graph with different colored dots&#10;&#10;AI-generated content may be incorrect.">
            <a:extLst>
              <a:ext uri="{FF2B5EF4-FFF2-40B4-BE49-F238E27FC236}">
                <a16:creationId xmlns:a16="http://schemas.microsoft.com/office/drawing/2014/main" id="{28D91877-C3B5-6424-B2CD-8801A771D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382" y="-1"/>
            <a:ext cx="4426323" cy="33281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5818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F3E1E9-91F3-D594-7B6B-7298782A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123" y="2558836"/>
            <a:ext cx="5839127" cy="3793838"/>
          </a:xfrm>
        </p:spPr>
        <p:txBody>
          <a:bodyPr bIns="0"/>
          <a:lstStyle/>
          <a:p>
            <a:r>
              <a:rPr lang="en-US" altLang="zh-CN"/>
              <a:t>Data Preprocessing and Feature Selection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F5C731-0B26-AFBA-1D25-E6AE3BB1DD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0334" y="1649960"/>
            <a:ext cx="831916" cy="597807"/>
          </a:xfrm>
        </p:spPr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  <p:pic>
        <p:nvPicPr>
          <p:cNvPr id="6" name="Picture 5" descr="78,200+ Data Collection Stock Illustrations, Royalty-Free Vector Graphics &amp;  Clip Art - iStock | Data collection icon, Data, Big data">
            <a:extLst>
              <a:ext uri="{FF2B5EF4-FFF2-40B4-BE49-F238E27FC236}">
                <a16:creationId xmlns:a16="http://schemas.microsoft.com/office/drawing/2014/main" id="{E5104218-5B59-6D48-A715-98FF0564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791" y="1729348"/>
            <a:ext cx="3397624" cy="33880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6084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1A37-3B7F-A974-7ADD-10E19705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178" y="876608"/>
            <a:ext cx="6357939" cy="541464"/>
          </a:xfrm>
        </p:spPr>
        <p:txBody>
          <a:bodyPr/>
          <a:lstStyle/>
          <a:p>
            <a:r>
              <a:rPr lang="en-US" altLang="zh-CN"/>
              <a:t>Feature Selection</a:t>
            </a:r>
            <a:br>
              <a:rPr lang="en-US" altLang="zh-CN"/>
            </a:br>
            <a:r>
              <a:rPr lang="en-US" altLang="zh-CN">
                <a:ea typeface="Segoe UI Black"/>
              </a:rPr>
              <a:t>(Regression)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18D6-B204-F755-9709-4C5ADE9A9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385" y="1878292"/>
            <a:ext cx="5082055" cy="4831416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>
                <a:latin typeface="Aptos"/>
              </a:rPr>
              <a:t>Target A: API Gravity</a:t>
            </a:r>
            <a:endParaRPr lang="en-US" sz="1600">
              <a:latin typeface="Aptos"/>
            </a:endParaRPr>
          </a:p>
          <a:p>
            <a:pPr marL="285750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Goal:</a:t>
            </a:r>
            <a:r>
              <a:rPr lang="en-US" sz="1600">
                <a:latin typeface="Aptos"/>
                <a:ea typeface="+mn-lt"/>
                <a:cs typeface="+mn-lt"/>
              </a:rPr>
              <a:t> Predict crude density/quality</a:t>
            </a:r>
            <a:r>
              <a:rPr lang="en-US" sz="1600" noProof="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  <a:ea typeface="+mn-lt"/>
              <a:cs typeface="+mn-lt"/>
            </a:endParaRPr>
          </a:p>
          <a:p>
            <a:pPr marL="285750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Variables</a:t>
            </a:r>
            <a:r>
              <a:rPr lang="en-US" sz="1600" b="1" noProof="0">
                <a:latin typeface="Aptos"/>
                <a:ea typeface="+mn-lt"/>
                <a:cs typeface="+mn-lt"/>
              </a:rPr>
              <a:t> to </a:t>
            </a:r>
            <a:r>
              <a:rPr lang="en-US" sz="1600" b="1">
                <a:latin typeface="Aptos"/>
                <a:ea typeface="+mn-lt"/>
                <a:cs typeface="+mn-lt"/>
              </a:rPr>
              <a:t>Use:</a:t>
            </a:r>
            <a:endParaRPr lang="en-US" sz="1600">
              <a:latin typeface="Aptos"/>
              <a:cs typeface="Arial"/>
            </a:endParaRP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Light Ends: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b="1">
                <a:latin typeface="Aptos"/>
              </a:rPr>
              <a:t>C7 paraffins</a:t>
            </a:r>
            <a:r>
              <a:rPr lang="en-US" sz="1600" b="1">
                <a:latin typeface="Aptos"/>
                <a:ea typeface="+mn-lt"/>
                <a:cs typeface="+mn-lt"/>
              </a:rPr>
              <a:t>, </a:t>
            </a:r>
            <a:r>
              <a:rPr lang="en-US" sz="1600" b="1">
                <a:latin typeface="Aptos"/>
              </a:rPr>
              <a:t>C6 paraffins</a:t>
            </a:r>
            <a:r>
              <a:rPr lang="en-US" sz="1600" b="1">
                <a:latin typeface="Aptos"/>
                <a:ea typeface="+mn-lt"/>
                <a:cs typeface="+mn-lt"/>
              </a:rPr>
              <a:t>, </a:t>
            </a:r>
            <a:r>
              <a:rPr lang="en-US" sz="1600" b="1">
                <a:latin typeface="Aptos"/>
              </a:rPr>
              <a:t>n-pentane</a:t>
            </a:r>
            <a:r>
              <a:rPr lang="en-US" sz="1600" b="1">
                <a:latin typeface="Aptos"/>
                <a:ea typeface="+mn-lt"/>
                <a:cs typeface="+mn-lt"/>
              </a:rPr>
              <a:t>, </a:t>
            </a:r>
            <a:r>
              <a:rPr lang="en-US" sz="1600" b="1">
                <a:latin typeface="Aptos"/>
              </a:rPr>
              <a:t>n-butane</a:t>
            </a:r>
            <a:r>
              <a:rPr lang="en-US" sz="1600" b="1" noProof="0">
                <a:latin typeface="Aptos"/>
                <a:ea typeface="+mn-lt"/>
                <a:cs typeface="+mn-lt"/>
              </a:rPr>
              <a:t>.</a:t>
            </a:r>
            <a:r>
              <a:rPr lang="en-US" sz="1600" noProof="0">
                <a:latin typeface="Aptos"/>
                <a:ea typeface="+mn-lt"/>
                <a:cs typeface="+mn-lt"/>
              </a:rPr>
              <a:t> </a:t>
            </a:r>
            <a:r>
              <a:rPr lang="en-US" sz="1600">
                <a:latin typeface="Aptos"/>
                <a:ea typeface="+mn-lt"/>
                <a:cs typeface="+mn-lt"/>
              </a:rPr>
              <a:t>(These are light hydrocarbons; their presence directly increases API).</a:t>
            </a:r>
            <a:endParaRPr lang="en-US" sz="1600">
              <a:latin typeface="Aptos"/>
              <a:cs typeface="Arial"/>
            </a:endParaRP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Contaminants (Inverse):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b="1">
                <a:latin typeface="Aptos"/>
              </a:rPr>
              <a:t>Total Nitrogen</a:t>
            </a:r>
            <a:r>
              <a:rPr lang="en-US" sz="1600" b="1" noProof="0">
                <a:latin typeface="Aptos"/>
                <a:ea typeface="+mn-lt"/>
                <a:cs typeface="+mn-lt"/>
              </a:rPr>
              <a:t>, </a:t>
            </a:r>
            <a:r>
              <a:rPr lang="en-US" sz="1600" b="1">
                <a:latin typeface="Aptos"/>
              </a:rPr>
              <a:t>Total Sulfur</a:t>
            </a:r>
            <a:r>
              <a:rPr lang="en-US" sz="1600" noProof="0">
                <a:latin typeface="Aptos"/>
                <a:ea typeface="+mn-lt"/>
                <a:cs typeface="+mn-lt"/>
              </a:rPr>
              <a:t>. </a:t>
            </a:r>
            <a:r>
              <a:rPr lang="en-US" sz="1600">
                <a:latin typeface="Aptos"/>
                <a:ea typeface="+mn-lt"/>
                <a:cs typeface="+mn-lt"/>
              </a:rPr>
              <a:t>(High contaminants generally mean heavier, lower API crude).</a:t>
            </a:r>
            <a:endParaRPr lang="en-US" sz="1600">
              <a:latin typeface="Aptos"/>
              <a:cs typeface="Arial"/>
            </a:endParaRP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Physical: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b="1">
                <a:latin typeface="Aptos"/>
              </a:rPr>
              <a:t>Pour Point</a:t>
            </a:r>
            <a:r>
              <a:rPr lang="en-US" sz="1600" b="1">
                <a:latin typeface="Aptos"/>
                <a:ea typeface="+mn-lt"/>
                <a:cs typeface="+mn-lt"/>
              </a:rPr>
              <a:t>.</a:t>
            </a:r>
            <a:endParaRPr lang="en-US" sz="1600" b="1">
              <a:latin typeface="Aptos"/>
              <a:cs typeface="Arial"/>
            </a:endParaRP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>
                <a:latin typeface="Aptos"/>
                <a:ea typeface="+mn-lt"/>
                <a:cs typeface="+mn-lt"/>
              </a:rPr>
              <a:t>Excluded </a:t>
            </a:r>
            <a:r>
              <a:rPr lang="en-US" sz="1600" b="1">
                <a:latin typeface="Aptos"/>
              </a:rPr>
              <a:t>Density</a:t>
            </a:r>
            <a:r>
              <a:rPr lang="en-US" sz="1600" b="1">
                <a:latin typeface="Aptos"/>
                <a:ea typeface="+mn-lt"/>
                <a:cs typeface="+mn-lt"/>
              </a:rPr>
              <a:t> </a:t>
            </a:r>
            <a:r>
              <a:rPr lang="en-US" sz="1600">
                <a:latin typeface="Aptos"/>
                <a:ea typeface="+mn-lt"/>
                <a:cs typeface="+mn-lt"/>
              </a:rPr>
              <a:t>from this analysis because it is mathematically identical </a:t>
            </a:r>
            <a:r>
              <a:rPr lang="en-US" sz="1600" noProof="0">
                <a:latin typeface="Aptos"/>
                <a:ea typeface="+mn-lt"/>
                <a:cs typeface="+mn-lt"/>
              </a:rPr>
              <a:t>to </a:t>
            </a:r>
            <a:r>
              <a:rPr lang="en-US" sz="1600">
                <a:latin typeface="Aptos"/>
                <a:ea typeface="+mn-lt"/>
                <a:cs typeface="+mn-lt"/>
              </a:rPr>
              <a:t>API Gravity</a:t>
            </a:r>
            <a:r>
              <a:rPr lang="en-US" sz="1600" noProof="0">
                <a:latin typeface="Aptos"/>
                <a:ea typeface="+mn-lt"/>
                <a:cs typeface="+mn-lt"/>
              </a:rPr>
              <a:t>. </a:t>
            </a:r>
            <a:r>
              <a:rPr lang="en-US" sz="1600">
                <a:latin typeface="Aptos"/>
                <a:ea typeface="+mn-lt"/>
                <a:cs typeface="+mn-lt"/>
              </a:rPr>
              <a:t>Do not use Density to predict API</a:t>
            </a:r>
            <a:r>
              <a:rPr lang="en-US" sz="1600" noProof="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altLang="zh-CN" sz="1600">
              <a:latin typeface="Aptos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48583-B79D-1DDD-186E-7541F5EE22C8}"/>
              </a:ext>
            </a:extLst>
          </p:cNvPr>
          <p:cNvSpPr txBox="1"/>
          <p:nvPr/>
        </p:nvSpPr>
        <p:spPr>
          <a:xfrm>
            <a:off x="6415189" y="1876122"/>
            <a:ext cx="4816314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 b="1">
                <a:latin typeface="Aptos"/>
              </a:rPr>
              <a:t>Target B: Total Sulfur (% wt)</a:t>
            </a:r>
            <a:endParaRPr lang="en-US" sz="1600">
              <a:latin typeface="Aptos"/>
              <a:cs typeface="Arial"/>
            </a:endParaRPr>
          </a:p>
          <a:p>
            <a:pPr algn="ctr">
              <a:spcBef>
                <a:spcPct val="0"/>
              </a:spcBef>
            </a:pPr>
            <a:endParaRPr lang="en-US" sz="1600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Goal:</a:t>
            </a:r>
            <a:r>
              <a:rPr lang="en-US" sz="1600">
                <a:latin typeface="Aptos"/>
                <a:ea typeface="+mn-lt"/>
                <a:cs typeface="+mn-lt"/>
              </a:rPr>
              <a:t> Predict sulfur impurity levels.</a:t>
            </a:r>
          </a:p>
          <a:p>
            <a:pPr>
              <a:spcBef>
                <a:spcPct val="0"/>
              </a:spcBef>
            </a:pPr>
            <a:endParaRPr lang="en-US" sz="1600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Variables to Use:</a:t>
            </a:r>
            <a:endParaRPr lang="en-US" sz="1600">
              <a:latin typeface="Aptos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Metals (The Best Predictor):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>
                <a:latin typeface="Aptos"/>
              </a:rPr>
              <a:t>Vanadium</a:t>
            </a:r>
            <a:r>
              <a:rPr lang="en-US" sz="1600">
                <a:latin typeface="Aptos"/>
                <a:ea typeface="+mn-lt"/>
                <a:cs typeface="+mn-lt"/>
              </a:rPr>
              <a:t> is by far the strongest predictor. As seen in the EDA, Vanadium and Sulfur are chemically linked.</a:t>
            </a:r>
            <a:endParaRPr lang="en-US" sz="1600">
              <a:latin typeface="Aptos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Geography: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</a:rPr>
              <a:t>Region_North</a:t>
            </a:r>
            <a:r>
              <a:rPr lang="en-US" sz="1600">
                <a:latin typeface="Aptos"/>
              </a:rPr>
              <a:t> America</a:t>
            </a:r>
            <a:r>
              <a:rPr lang="en-US" sz="1600">
                <a:latin typeface="Aptos"/>
                <a:ea typeface="+mn-lt"/>
                <a:cs typeface="+mn-lt"/>
              </a:rPr>
              <a:t> and </a:t>
            </a:r>
            <a:r>
              <a:rPr lang="en-US" sz="1600" err="1">
                <a:latin typeface="Aptos"/>
              </a:rPr>
              <a:t>Country_UAE</a:t>
            </a:r>
            <a:r>
              <a:rPr lang="en-US" sz="1600">
                <a:latin typeface="Aptos"/>
                <a:ea typeface="+mn-lt"/>
                <a:cs typeface="+mn-lt"/>
              </a:rPr>
              <a:t>. (Geology determines sulfur content).</a:t>
            </a:r>
            <a:endParaRPr lang="en-US" sz="1600">
              <a:latin typeface="Aptos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Acidity:</a:t>
            </a:r>
            <a:r>
              <a:rPr lang="en-US" sz="1600">
                <a:latin typeface="Aptos"/>
                <a:ea typeface="+mn-lt"/>
                <a:cs typeface="+mn-lt"/>
              </a:rPr>
              <a:t> </a:t>
            </a:r>
            <a:r>
              <a:rPr lang="en-US" sz="1600">
                <a:latin typeface="Aptos"/>
              </a:rPr>
              <a:t>Total Acid Number</a:t>
            </a:r>
            <a:r>
              <a:rPr lang="en-US" sz="1600">
                <a:latin typeface="Aptos"/>
                <a:ea typeface="+mn-lt"/>
                <a:cs typeface="+mn-lt"/>
              </a:rPr>
              <a:t> and </a:t>
            </a:r>
            <a:r>
              <a:rPr lang="en-US" sz="1600">
                <a:latin typeface="Aptos"/>
              </a:rPr>
              <a:t>Mercaptan Sulfur</a:t>
            </a:r>
            <a:r>
              <a:rPr lang="en-US" sz="160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latin typeface="Aptos"/>
                <a:ea typeface="+mn-lt"/>
                <a:cs typeface="+mn-lt"/>
              </a:rPr>
              <a:t>Sulfur</a:t>
            </a:r>
            <a:r>
              <a:rPr lang="en-US" sz="1600">
                <a:latin typeface="Aptos"/>
              </a:rPr>
              <a:t> </a:t>
            </a:r>
            <a:r>
              <a:rPr lang="en-US" sz="1600" err="1">
                <a:latin typeface="Aptos"/>
              </a:rPr>
              <a:t>Flavour</a:t>
            </a:r>
            <a:r>
              <a:rPr lang="en-US" sz="1600">
                <a:latin typeface="Aptos"/>
                <a:ea typeface="+mn-lt"/>
                <a:cs typeface="+mn-lt"/>
              </a:rPr>
              <a:t> (Sweet/Sour) was excluded as it is a direct label for Sulfur content.</a:t>
            </a:r>
            <a:endParaRPr lang="en-US" sz="1600">
              <a:latin typeface="Aptos"/>
            </a:endParaRPr>
          </a:p>
          <a:p>
            <a:pPr algn="l">
              <a:spcBef>
                <a:spcPct val="0"/>
              </a:spcBef>
            </a:pPr>
            <a:endParaRPr lang="en-US" sz="1600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1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6651-E662-53EE-7832-9F66BC4BB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8459-5E2F-A62F-2280-9906EF70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178" y="876608"/>
            <a:ext cx="6357939" cy="541464"/>
          </a:xfrm>
        </p:spPr>
        <p:txBody>
          <a:bodyPr/>
          <a:lstStyle/>
          <a:p>
            <a:r>
              <a:rPr lang="en-US" altLang="zh-CN"/>
              <a:t>Feature Selection</a:t>
            </a:r>
            <a:br>
              <a:rPr lang="en-US" altLang="zh-CN"/>
            </a:br>
            <a:r>
              <a:rPr lang="en-US" altLang="zh-CN">
                <a:ea typeface="Segoe UI Black"/>
              </a:rPr>
              <a:t>(Classification)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52048-86FB-201A-704D-75382CEEB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032" y="1967940"/>
            <a:ext cx="4095938" cy="2926416"/>
          </a:xfrm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latin typeface="Aptos"/>
              </a:rPr>
              <a:t>Target C: Crude Type (Light / Medium / Heavy)</a:t>
            </a:r>
            <a:endParaRPr lang="en-US" sz="1600" dirty="0">
              <a:latin typeface="Aptos"/>
            </a:endParaRPr>
          </a:p>
          <a:p>
            <a:pPr marL="285750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Goal:</a:t>
            </a:r>
            <a:r>
              <a:rPr lang="en-US" sz="1600">
                <a:latin typeface="Aptos"/>
                <a:ea typeface="+mn-lt"/>
                <a:cs typeface="+mn-lt"/>
              </a:rPr>
              <a:t> Classify the crude category</a:t>
            </a:r>
            <a:r>
              <a:rPr lang="en-US" sz="1600" noProof="0">
                <a:latin typeface="Aptos"/>
                <a:ea typeface="+mn-lt"/>
                <a:cs typeface="+mn-lt"/>
              </a:rPr>
              <a:t>.</a:t>
            </a:r>
            <a:endParaRPr lang="en-US" sz="1600">
              <a:latin typeface="Aptos"/>
              <a:ea typeface="+mn-lt"/>
              <a:cs typeface="+mn-lt"/>
            </a:endParaRPr>
          </a:p>
          <a:p>
            <a:pPr marL="285750" algn="l">
              <a:lnSpc>
                <a:spcPct val="100000"/>
              </a:lnSpc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Variables</a:t>
            </a:r>
            <a:r>
              <a:rPr lang="en-US" sz="1600" b="1" noProof="0">
                <a:latin typeface="Aptos"/>
                <a:ea typeface="+mn-lt"/>
                <a:cs typeface="+mn-lt"/>
              </a:rPr>
              <a:t> to </a:t>
            </a:r>
            <a:r>
              <a:rPr lang="en-US" sz="1600" b="1">
                <a:latin typeface="Aptos"/>
                <a:ea typeface="+mn-lt"/>
                <a:cs typeface="+mn-lt"/>
              </a:rPr>
              <a:t>Use:</a:t>
            </a:r>
            <a:endParaRPr lang="en-US" sz="1600">
              <a:latin typeface="Aptos"/>
              <a:ea typeface="+mn-lt"/>
              <a:cs typeface="+mn-lt"/>
            </a:endParaRP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Density/API: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dirty="0">
                <a:latin typeface="Aptos"/>
              </a:rPr>
              <a:t>Density @ 15°C</a:t>
            </a:r>
            <a:r>
              <a:rPr lang="en-US" sz="1600" dirty="0">
                <a:latin typeface="Aptos"/>
                <a:ea typeface="+mn-lt"/>
                <a:cs typeface="+mn-lt"/>
              </a:rPr>
              <a:t>, </a:t>
            </a:r>
            <a:r>
              <a:rPr lang="en-US" sz="1600" dirty="0">
                <a:latin typeface="Aptos"/>
              </a:rPr>
              <a:t>API</a:t>
            </a:r>
            <a:r>
              <a:rPr lang="en-US" sz="1600" dirty="0">
                <a:latin typeface="Aptos"/>
                <a:ea typeface="+mn-lt"/>
                <a:cs typeface="+mn-lt"/>
              </a:rPr>
              <a:t> Gravity</a:t>
            </a:r>
            <a:r>
              <a:rPr lang="en-US" sz="1600" noProof="0" dirty="0">
                <a:latin typeface="Aptos"/>
                <a:ea typeface="+mn-lt"/>
                <a:cs typeface="+mn-lt"/>
              </a:rPr>
              <a:t>. </a:t>
            </a:r>
            <a:r>
              <a:rPr lang="en-US" sz="1600" dirty="0">
                <a:latin typeface="Aptos"/>
                <a:ea typeface="+mn-lt"/>
                <a:cs typeface="+mn-lt"/>
              </a:rPr>
              <a:t>(These define the class).</a:t>
            </a: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Viscosity:</a:t>
            </a:r>
            <a:r>
              <a:rPr lang="en-US" sz="1600" dirty="0">
                <a:latin typeface="Aptos"/>
                <a:ea typeface="+mn-lt"/>
                <a:cs typeface="+mn-lt"/>
              </a:rPr>
              <a:t> Viscosity @ 20°C</a:t>
            </a:r>
            <a:r>
              <a:rPr lang="en-US" sz="1600" noProof="0" dirty="0">
                <a:latin typeface="Aptos"/>
                <a:ea typeface="+mn-lt"/>
                <a:cs typeface="+mn-lt"/>
              </a:rPr>
              <a:t>, </a:t>
            </a:r>
            <a:r>
              <a:rPr lang="en-US" sz="1600" dirty="0">
                <a:latin typeface="Aptos"/>
              </a:rPr>
              <a:t>Viscosity @ 40°C</a:t>
            </a:r>
            <a:r>
              <a:rPr lang="en-US" sz="1600" noProof="0" dirty="0">
                <a:latin typeface="Aptos"/>
                <a:ea typeface="+mn-lt"/>
                <a:cs typeface="+mn-lt"/>
              </a:rPr>
              <a:t>. </a:t>
            </a:r>
            <a:r>
              <a:rPr lang="en-US" sz="1600" dirty="0">
                <a:latin typeface="Aptos"/>
                <a:ea typeface="+mn-lt"/>
                <a:cs typeface="+mn-lt"/>
              </a:rPr>
              <a:t>(Heavy crudes are exponentially more viscous).</a:t>
            </a: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Composition: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dirty="0">
                <a:latin typeface="Aptos"/>
              </a:rPr>
              <a:t>C7 </a:t>
            </a:r>
            <a:r>
              <a:rPr lang="en-US" sz="1600" dirty="0" err="1">
                <a:latin typeface="Aptos"/>
              </a:rPr>
              <a:t>naphthenes</a:t>
            </a:r>
            <a:r>
              <a:rPr lang="en-US" sz="1600" dirty="0">
                <a:latin typeface="Aptos"/>
                <a:ea typeface="+mn-lt"/>
                <a:cs typeface="+mn-lt"/>
              </a:rPr>
              <a:t>, </a:t>
            </a:r>
            <a:r>
              <a:rPr lang="en-US" sz="1600" dirty="0">
                <a:latin typeface="Aptos"/>
              </a:rPr>
              <a:t>C7 paraffins</a:t>
            </a:r>
            <a:r>
              <a:rPr lang="en-US" sz="1600" dirty="0">
                <a:latin typeface="Aptos"/>
                <a:ea typeface="+mn-lt"/>
                <a:cs typeface="+mn-lt"/>
              </a:rPr>
              <a:t>.</a:t>
            </a:r>
          </a:p>
          <a:p>
            <a:pPr marL="742950" lvl="1" algn="l">
              <a:lnSpc>
                <a:spcPct val="100000"/>
              </a:lnSpc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Contaminants:</a:t>
            </a:r>
            <a:r>
              <a:rPr lang="en-US" sz="1600" dirty="0">
                <a:latin typeface="Aptos"/>
                <a:ea typeface="+mn-lt"/>
                <a:cs typeface="+mn-lt"/>
              </a:rPr>
              <a:t> Total Nitrogen, Nickel</a:t>
            </a:r>
            <a:r>
              <a:rPr lang="en-US" sz="1600" noProof="0" dirty="0">
                <a:latin typeface="Aptos"/>
                <a:ea typeface="+mn-lt"/>
                <a:cs typeface="+mn-lt"/>
              </a:rPr>
              <a:t>.</a:t>
            </a:r>
            <a:endParaRPr lang="en-US" sz="1600" dirty="0">
              <a:latin typeface="Aptos"/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600" b="1">
              <a:latin typeface="Aptos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C6B4F-6BDA-BAB1-B6B6-0A76E68D235A}"/>
              </a:ext>
            </a:extLst>
          </p:cNvPr>
          <p:cNvSpPr txBox="1"/>
          <p:nvPr/>
        </p:nvSpPr>
        <p:spPr>
          <a:xfrm>
            <a:off x="6101424" y="1965769"/>
            <a:ext cx="4816314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dirty="0">
                <a:latin typeface="Aptos"/>
              </a:rPr>
              <a:t>Target D: Sulfur </a:t>
            </a:r>
            <a:r>
              <a:rPr lang="en-US" sz="1600" b="1" dirty="0" err="1">
                <a:latin typeface="Aptos"/>
              </a:rPr>
              <a:t>Flavour</a:t>
            </a:r>
            <a:r>
              <a:rPr lang="en-US" sz="1600" b="1" dirty="0">
                <a:latin typeface="Aptos"/>
              </a:rPr>
              <a:t> (Sweet / Sour)</a:t>
            </a:r>
            <a:endParaRPr lang="en-US" sz="1600" dirty="0">
              <a:latin typeface="Aptos"/>
              <a:cs typeface="Arial"/>
            </a:endParaRPr>
          </a:p>
          <a:p>
            <a:pPr algn="ctr"/>
            <a:endParaRPr lang="en-US" sz="1600" b="1">
              <a:latin typeface="Aptos"/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Goal:</a:t>
            </a:r>
            <a:r>
              <a:rPr lang="en-US" sz="1600" dirty="0">
                <a:latin typeface="Aptos"/>
                <a:ea typeface="+mn-lt"/>
                <a:cs typeface="+mn-lt"/>
              </a:rPr>
              <a:t> Classify if the crude is Sweet or Sour.</a:t>
            </a:r>
          </a:p>
          <a:p>
            <a:pPr marL="285750">
              <a:buFont typeface="Arial"/>
              <a:buChar char="•"/>
            </a:pPr>
            <a:endParaRPr lang="en-US" sz="1600" dirty="0">
              <a:latin typeface="Aptos"/>
              <a:ea typeface="+mn-lt"/>
              <a:cs typeface="+mn-lt"/>
            </a:endParaRPr>
          </a:p>
          <a:p>
            <a:pPr marL="285750"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Variables to Use:</a:t>
            </a:r>
            <a:endParaRPr lang="en-US" sz="1600" dirty="0">
              <a:latin typeface="Aptos"/>
              <a:ea typeface="+mn-lt"/>
              <a:cs typeface="+mn-lt"/>
            </a:endParaRPr>
          </a:p>
          <a:p>
            <a:pPr marL="742950" lvl="1"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Metals: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dirty="0">
                <a:latin typeface="Aptos"/>
              </a:rPr>
              <a:t>Vanadium</a:t>
            </a:r>
            <a:r>
              <a:rPr lang="en-US" sz="1600" dirty="0">
                <a:latin typeface="Aptos"/>
                <a:ea typeface="+mn-lt"/>
                <a:cs typeface="+mn-lt"/>
              </a:rPr>
              <a:t>. (High Vanadium almost guarantees a "Sour" classification).</a:t>
            </a:r>
            <a:endParaRPr lang="en-US" sz="1600" dirty="0">
              <a:latin typeface="Aptos"/>
              <a:cs typeface="Arial"/>
            </a:endParaRPr>
          </a:p>
          <a:p>
            <a:pPr marL="742950" lvl="1"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Region: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dirty="0" err="1">
                <a:latin typeface="Aptos"/>
              </a:rPr>
              <a:t>Region_North</a:t>
            </a:r>
            <a:r>
              <a:rPr lang="en-US" sz="1600" dirty="0">
                <a:latin typeface="Aptos"/>
              </a:rPr>
              <a:t> America</a:t>
            </a:r>
            <a:r>
              <a:rPr lang="en-US" sz="1600" dirty="0">
                <a:latin typeface="Aptos"/>
                <a:ea typeface="+mn-lt"/>
                <a:cs typeface="+mn-lt"/>
              </a:rPr>
              <a:t>. (High probability of Sour crude).</a:t>
            </a:r>
          </a:p>
          <a:p>
            <a:pPr marL="742950" lvl="1">
              <a:buFont typeface="Arial"/>
              <a:buChar char="•"/>
            </a:pPr>
            <a:r>
              <a:rPr lang="en-US" sz="1600" b="1" dirty="0">
                <a:latin typeface="Aptos"/>
                <a:ea typeface="+mn-lt"/>
                <a:cs typeface="+mn-lt"/>
              </a:rPr>
              <a:t>Crude Type: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dirty="0">
                <a:latin typeface="Aptos"/>
              </a:rPr>
              <a:t>Crude </a:t>
            </a:r>
            <a:r>
              <a:rPr lang="en-US" sz="1600" dirty="0" err="1">
                <a:latin typeface="Aptos"/>
              </a:rPr>
              <a:t>type_Light</a:t>
            </a:r>
            <a:r>
              <a:rPr lang="en-US" sz="1600" dirty="0">
                <a:latin typeface="Aptos"/>
                <a:ea typeface="+mn-lt"/>
                <a:cs typeface="+mn-lt"/>
              </a:rPr>
              <a:t>. (Light crudes are usually Sweet).</a:t>
            </a:r>
            <a:endParaRPr lang="en-US" sz="1600" dirty="0">
              <a:latin typeface="Aptos"/>
              <a:cs typeface="Arial"/>
            </a:endParaRPr>
          </a:p>
          <a:p>
            <a:pPr marL="742950" lvl="1">
              <a:buFont typeface="Arial"/>
              <a:buChar char="•"/>
            </a:pPr>
            <a:r>
              <a:rPr lang="en-US" sz="1600" dirty="0">
                <a:latin typeface="Aptos"/>
                <a:ea typeface="+mn-lt"/>
                <a:cs typeface="+mn-lt"/>
              </a:rPr>
              <a:t>Excluded Total Sulfur to simulate a real-world scenario where you might want to predict "sourness" from other chemical markers (like metals) without a direct sulfur test.</a:t>
            </a:r>
          </a:p>
          <a:p>
            <a:pPr algn="ctr">
              <a:spcBef>
                <a:spcPct val="0"/>
              </a:spcBef>
            </a:pPr>
            <a:endParaRPr lang="en-US" sz="1600" b="1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1756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B3D04-D52C-A568-F969-92970C7A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E225-135E-4BA6-B89F-87BED164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178" y="876608"/>
            <a:ext cx="6357939" cy="541464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Data Preprocessing &amp; Encoding Strategy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A28D1-CF4B-85BA-C068-08904BEBD748}"/>
              </a:ext>
            </a:extLst>
          </p:cNvPr>
          <p:cNvSpPr txBox="1"/>
          <p:nvPr/>
        </p:nvSpPr>
        <p:spPr>
          <a:xfrm>
            <a:off x="1170837" y="1976976"/>
            <a:ext cx="1000463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Aptos"/>
                <a:ea typeface="+mn-lt"/>
                <a:cs typeface="+mn-lt"/>
              </a:rPr>
              <a:t>Handling Categorical Data (Encoding):</a:t>
            </a:r>
            <a:endParaRPr lang="en-US" sz="1600">
              <a:latin typeface="Aptos"/>
            </a:endParaRPr>
          </a:p>
          <a:p>
            <a:pPr algn="ctr"/>
            <a:endParaRPr lang="en-US" sz="1600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Region (5 unique values):</a:t>
            </a:r>
            <a:r>
              <a:rPr lang="en-US" sz="1600">
                <a:latin typeface="Aptos"/>
                <a:ea typeface="+mn-lt"/>
                <a:cs typeface="+mn-lt"/>
              </a:rPr>
              <a:t> Used </a:t>
            </a:r>
            <a:r>
              <a:rPr lang="en-US" sz="1600" b="1">
                <a:latin typeface="Aptos"/>
                <a:ea typeface="+mn-lt"/>
                <a:cs typeface="+mn-lt"/>
              </a:rPr>
              <a:t>One-Hot Encoding</a:t>
            </a:r>
            <a:r>
              <a:rPr lang="en-US" sz="1600">
                <a:latin typeface="Aptos"/>
                <a:ea typeface="+mn-lt"/>
                <a:cs typeface="+mn-lt"/>
              </a:rPr>
              <a:t>. (e.g., Region_Africa, </a:t>
            </a:r>
            <a:r>
              <a:rPr lang="en-US" sz="1600">
                <a:latin typeface="Aptos"/>
              </a:rPr>
              <a:t>Region_NorthAmerica</a:t>
            </a:r>
            <a:r>
              <a:rPr lang="en-US" sz="1600">
                <a:latin typeface="Aptos"/>
                <a:ea typeface="+mn-lt"/>
                <a:cs typeface="+mn-lt"/>
              </a:rPr>
              <a:t>).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latin typeface="Aptos"/>
                <a:ea typeface="+mn-lt"/>
                <a:cs typeface="+mn-lt"/>
              </a:rPr>
              <a:t>Sulfur Flavour (2 unique values):</a:t>
            </a:r>
            <a:r>
              <a:rPr lang="en-US" sz="1600">
                <a:latin typeface="Aptos"/>
                <a:ea typeface="+mn-lt"/>
                <a:cs typeface="+mn-lt"/>
              </a:rPr>
              <a:t> Used </a:t>
            </a:r>
            <a:r>
              <a:rPr lang="en-US" sz="1600" b="1">
                <a:latin typeface="Aptos"/>
                <a:ea typeface="+mn-lt"/>
                <a:cs typeface="+mn-lt"/>
              </a:rPr>
              <a:t>Binary Encoding</a:t>
            </a:r>
            <a:r>
              <a:rPr lang="en-US" sz="1600">
                <a:latin typeface="Aptos"/>
                <a:ea typeface="+mn-lt"/>
                <a:cs typeface="+mn-lt"/>
              </a:rPr>
              <a:t> (0 for Sour, 1 for Sweet).</a:t>
            </a:r>
          </a:p>
          <a:p>
            <a:endParaRPr lang="en-US" sz="1600">
              <a:latin typeface="Aptos"/>
              <a:ea typeface="+mn-lt"/>
              <a:cs typeface="+mn-lt"/>
            </a:endParaRPr>
          </a:p>
          <a:p>
            <a:pPr algn="ctr"/>
            <a:endParaRPr lang="en-US" sz="1600" b="1">
              <a:latin typeface="Aptos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4BE08-38A0-FD2D-9629-5020E702150F}"/>
              </a:ext>
            </a:extLst>
          </p:cNvPr>
          <p:cNvSpPr txBox="1"/>
          <p:nvPr/>
        </p:nvSpPr>
        <p:spPr>
          <a:xfrm>
            <a:off x="1170837" y="3545799"/>
            <a:ext cx="1000463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Aptos"/>
                <a:ea typeface="+mn-lt"/>
                <a:cs typeface="+mn-lt"/>
              </a:rPr>
              <a:t>Scaling (Normalization):</a:t>
            </a:r>
            <a:endParaRPr lang="en-US" sz="1600">
              <a:latin typeface="Aptos"/>
              <a:ea typeface="+mn-lt"/>
              <a:cs typeface="+mn-lt"/>
            </a:endParaRPr>
          </a:p>
          <a:p>
            <a:pPr algn="ctr"/>
            <a:endParaRPr lang="en-US" sz="1600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Aptos"/>
                <a:ea typeface="+mn-lt"/>
                <a:cs typeface="+mn-lt"/>
              </a:rPr>
              <a:t>Since our features have vastly different scales (e.g., Density is 0.8, Viscosity is 1000, Metals are 50), we </a:t>
            </a:r>
            <a:r>
              <a:rPr lang="en-US" sz="1600" b="1">
                <a:latin typeface="Aptos"/>
                <a:ea typeface="+mn-lt"/>
                <a:cs typeface="+mn-lt"/>
              </a:rPr>
              <a:t>must</a:t>
            </a:r>
            <a:r>
              <a:rPr lang="en-US" sz="1600">
                <a:latin typeface="Aptos"/>
                <a:ea typeface="+mn-lt"/>
                <a:cs typeface="+mn-lt"/>
              </a:rPr>
              <a:t> scale data.</a:t>
            </a:r>
            <a:endParaRPr lang="en-US" sz="1600">
              <a:latin typeface="Aptos"/>
            </a:endParaRPr>
          </a:p>
          <a:p>
            <a:endParaRPr lang="en-US" sz="1600">
              <a:latin typeface="Aptos"/>
              <a:ea typeface="+mn-lt"/>
              <a:cs typeface="+mn-lt"/>
            </a:endParaRPr>
          </a:p>
          <a:p>
            <a:pPr algn="ctr"/>
            <a:endParaRPr lang="en-US" sz="1600" b="1">
              <a:latin typeface="Aptos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74C48E-A382-117D-B05C-13C5AF833773}"/>
              </a:ext>
            </a:extLst>
          </p:cNvPr>
          <p:cNvSpPr txBox="1"/>
          <p:nvPr/>
        </p:nvSpPr>
        <p:spPr>
          <a:xfrm>
            <a:off x="1170835" y="5114623"/>
            <a:ext cx="1000463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Aptos"/>
                <a:ea typeface="+mn-lt"/>
                <a:cs typeface="+mn-lt"/>
              </a:rPr>
              <a:t>Handling Outliers:</a:t>
            </a:r>
            <a:endParaRPr lang="en-US" sz="1600" dirty="0">
              <a:latin typeface="Aptos"/>
            </a:endParaRPr>
          </a:p>
          <a:p>
            <a:pPr algn="ctr"/>
            <a:endParaRPr lang="en-US" sz="1600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latin typeface="Aptos"/>
                <a:ea typeface="+mn-lt"/>
                <a:cs typeface="+mn-lt"/>
              </a:rPr>
              <a:t>Applied a </a:t>
            </a:r>
            <a:r>
              <a:rPr lang="en-US" sz="1600" b="1" dirty="0">
                <a:latin typeface="Aptos"/>
                <a:ea typeface="+mn-lt"/>
                <a:cs typeface="+mn-lt"/>
              </a:rPr>
              <a:t>Log Transformation</a:t>
            </a:r>
            <a:r>
              <a:rPr lang="en-US" sz="1600" dirty="0">
                <a:latin typeface="Aptos"/>
                <a:ea typeface="+mn-lt"/>
                <a:cs typeface="+mn-lt"/>
              </a:rPr>
              <a:t> (log(x+1)) to Viscosity, Nickel, and Vanadium columns to reduce the impact of the extreme outliers we found in the EDA.</a:t>
            </a:r>
          </a:p>
          <a:p>
            <a:pPr algn="ctr"/>
            <a:endParaRPr lang="en-US" sz="1600" b="1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4500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38915E-2F20-69EC-E31B-DEC14825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364" y="2558836"/>
            <a:ext cx="5858775" cy="3793838"/>
          </a:xfrm>
        </p:spPr>
        <p:txBody>
          <a:bodyPr/>
          <a:lstStyle/>
          <a:p>
            <a:r>
              <a:rPr lang="en-US" altLang="zh-CN"/>
              <a:t>Machine Learning Models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AA989-BEE2-83F0-65D3-24D10A52C7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2365" y="1649960"/>
            <a:ext cx="831916" cy="597807"/>
          </a:xfrm>
        </p:spPr>
        <p:txBody>
          <a:bodyPr/>
          <a:lstStyle/>
          <a:p>
            <a:r>
              <a:rPr lang="en-US" altLang="zh-CN"/>
              <a:t>05</a:t>
            </a:r>
            <a:endParaRPr lang="zh-CN" altLang="en-US"/>
          </a:p>
        </p:txBody>
      </p:sp>
      <p:pic>
        <p:nvPicPr>
          <p:cNvPr id="6" name="Picture 5" descr="Machine learning model Images - Free Download on Freepik">
            <a:extLst>
              <a:ext uri="{FF2B5EF4-FFF2-40B4-BE49-F238E27FC236}">
                <a16:creationId xmlns:a16="http://schemas.microsoft.com/office/drawing/2014/main" id="{737B5864-3474-B64E-AC74-4F166453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756" y="1618988"/>
            <a:ext cx="3651336" cy="362002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4723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6A66-88E2-5153-48B8-AEA74C18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3E24CB-1CC3-83BD-51D5-8599D12E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ea typeface="Segoe UI Black"/>
              </a:rPr>
              <a:t>Classification</a:t>
            </a:r>
            <a:endParaRPr lang="en-US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3DC869A3-3BE9-D8F0-384B-D69DF36EA5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749127"/>
              </p:ext>
            </p:extLst>
          </p:nvPr>
        </p:nvGraphicFramePr>
        <p:xfrm>
          <a:off x="839521" y="1452221"/>
          <a:ext cx="10302346" cy="4646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1935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73BE-7EA3-9112-EEF5-A20D374D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B227E-8B9B-EA71-B4A0-D9EA31FD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9386350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Task 1: Crude Type (Multi-Class)</a:t>
            </a:r>
            <a:endParaRPr lang="en-US">
              <a:latin typeface="Segoe UI Black"/>
              <a:ea typeface="Segoe UI Blac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9D606-6E25-08F8-B467-E950B1558FA6}"/>
              </a:ext>
            </a:extLst>
          </p:cNvPr>
          <p:cNvSpPr txBox="1"/>
          <p:nvPr/>
        </p:nvSpPr>
        <p:spPr>
          <a:xfrm>
            <a:off x="1050145" y="1433063"/>
            <a:ext cx="36395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</a:rPr>
              <a:t>Crude Type Classification Results (Light / Medium / Heavy)</a:t>
            </a:r>
            <a:endParaRPr lang="en-US" b="1">
              <a:latin typeface="Aptos"/>
              <a:cs typeface="Arial"/>
            </a:endParaRPr>
          </a:p>
          <a:p>
            <a:pPr algn="ctr"/>
            <a:endParaRPr lang="en-US" b="1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Linear SVM</a:t>
            </a:r>
            <a:r>
              <a:rPr lang="en-US">
                <a:latin typeface="Aptos"/>
                <a:ea typeface="+mn-lt"/>
                <a:cs typeface="+mn-lt"/>
              </a:rPr>
              <a:t> achieved perfect accuracy (100%) on the test set.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Why?</a:t>
            </a:r>
            <a:r>
              <a:rPr lang="en-US">
                <a:latin typeface="Aptos"/>
                <a:ea typeface="+mn-lt"/>
                <a:cs typeface="+mn-lt"/>
              </a:rPr>
              <a:t> The classes ("Light", "Medium", "Heavy") are likely </a:t>
            </a:r>
            <a:r>
              <a:rPr lang="en-US" b="1">
                <a:latin typeface="Aptos"/>
                <a:ea typeface="+mn-lt"/>
                <a:cs typeface="+mn-lt"/>
              </a:rPr>
              <a:t>linearly separable</a:t>
            </a:r>
            <a:r>
              <a:rPr lang="en-US">
                <a:latin typeface="Aptos"/>
                <a:ea typeface="+mn-lt"/>
                <a:cs typeface="+mn-lt"/>
              </a:rPr>
              <a:t> in the high-dimensional space created by features like Density and Viscosity. Since we defined these classes based on physical properties (API Gravity), a linear boundary works perfectly to separate them.</a:t>
            </a:r>
            <a:endParaRPr lang="en-US">
              <a:latin typeface="Aptos"/>
              <a:cs typeface="Arial"/>
            </a:endParaRPr>
          </a:p>
          <a:p>
            <a:pPr algn="ctr"/>
            <a:endParaRPr lang="en-US" b="1">
              <a:latin typeface="Aptos"/>
              <a:cs typeface="Arial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023CF89-C40D-F25E-1D39-9547AD660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652435"/>
              </p:ext>
            </p:extLst>
          </p:nvPr>
        </p:nvGraphicFramePr>
        <p:xfrm>
          <a:off x="5390029" y="2407024"/>
          <a:ext cx="6600370" cy="3080366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320074">
                  <a:extLst>
                    <a:ext uri="{9D8B030D-6E8A-4147-A177-3AD203B41FA5}">
                      <a16:colId xmlns:a16="http://schemas.microsoft.com/office/drawing/2014/main" val="565514947"/>
                    </a:ext>
                  </a:extLst>
                </a:gridCol>
                <a:gridCol w="1320074">
                  <a:extLst>
                    <a:ext uri="{9D8B030D-6E8A-4147-A177-3AD203B41FA5}">
                      <a16:colId xmlns:a16="http://schemas.microsoft.com/office/drawing/2014/main" val="151656753"/>
                    </a:ext>
                  </a:extLst>
                </a:gridCol>
                <a:gridCol w="1320074">
                  <a:extLst>
                    <a:ext uri="{9D8B030D-6E8A-4147-A177-3AD203B41FA5}">
                      <a16:colId xmlns:a16="http://schemas.microsoft.com/office/drawing/2014/main" val="3532252655"/>
                    </a:ext>
                  </a:extLst>
                </a:gridCol>
                <a:gridCol w="1320074">
                  <a:extLst>
                    <a:ext uri="{9D8B030D-6E8A-4147-A177-3AD203B41FA5}">
                      <a16:colId xmlns:a16="http://schemas.microsoft.com/office/drawing/2014/main" val="1918148005"/>
                    </a:ext>
                  </a:extLst>
                </a:gridCol>
                <a:gridCol w="1320074">
                  <a:extLst>
                    <a:ext uri="{9D8B030D-6E8A-4147-A177-3AD203B41FA5}">
                      <a16:colId xmlns:a16="http://schemas.microsoft.com/office/drawing/2014/main" val="2015880646"/>
                    </a:ext>
                  </a:extLst>
                </a:gridCol>
              </a:tblGrid>
              <a:tr h="42860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Model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Accuracy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Precision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Recall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F1 Score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73496151"/>
                  </a:ext>
                </a:extLst>
              </a:tr>
              <a:tr h="42860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SVM (Linear Kernel)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100%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1.00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1.00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1.00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51942694"/>
                  </a:ext>
                </a:extLst>
              </a:tr>
              <a:tr h="42860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SVM (RBF Kernel)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88.9%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0.91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0.89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0.88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67139376"/>
                  </a:ext>
                </a:extLst>
              </a:tr>
              <a:tr h="42860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Logistic Regression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77.8%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0.78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0.78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Aptos"/>
                        </a:rPr>
                        <a:t>0.78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93983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501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79FCF-1602-3A41-7E97-52CA70C0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415E-865E-CFE2-5BD9-0B33C71B7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8108880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Linear SVM on Crude Type</a:t>
            </a:r>
            <a:endParaRPr lang="en-US">
              <a:ea typeface="Segoe UI Black"/>
            </a:endParaRPr>
          </a:p>
        </p:txBody>
      </p:sp>
      <p:pic>
        <p:nvPicPr>
          <p:cNvPr id="3" name="Picture 2" descr="A graph of different types of crude&#10;&#10;AI-generated content may be incorrect.">
            <a:extLst>
              <a:ext uri="{FF2B5EF4-FFF2-40B4-BE49-F238E27FC236}">
                <a16:creationId xmlns:a16="http://schemas.microsoft.com/office/drawing/2014/main" id="{2EA4C851-17E0-3EE3-CF29-6878A7F7B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53" y="1283073"/>
            <a:ext cx="7788089" cy="323850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57FD68-EF83-88F2-B158-DD48F28E6502}"/>
              </a:ext>
            </a:extLst>
          </p:cNvPr>
          <p:cNvSpPr txBox="1"/>
          <p:nvPr/>
        </p:nvSpPr>
        <p:spPr>
          <a:xfrm>
            <a:off x="1602442" y="4908176"/>
            <a:ext cx="956982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</a:rPr>
              <a:t>Crude Type (Linear SVM):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Aptos"/>
              </a:rPr>
              <a:t>Confusion Matrix:</a:t>
            </a:r>
            <a:r>
              <a:rPr lang="en-US">
                <a:latin typeface="Aptos"/>
              </a:rPr>
              <a:t> Shows perfect classification (diagonal populated, off-diagonals are zero). This aligns with the 100% accuracy we saw earlier.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Aptos"/>
              </a:rPr>
              <a:t>ROC Curve:</a:t>
            </a:r>
            <a:r>
              <a:rPr lang="en-US">
                <a:latin typeface="Aptos"/>
              </a:rPr>
              <a:t> All classes have an AUC (Area Under Curve) of 1.00, confirming perfect separability. The lines hug the top-left corner perfectly.</a:t>
            </a:r>
          </a:p>
          <a:p>
            <a:pPr algn="ctr"/>
            <a:endParaRPr lang="en-US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17954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720D-6B75-365B-0803-B8954C677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149D-C72C-4124-AF40-06DB2424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9072585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Linear SVM</a:t>
            </a:r>
            <a:r>
              <a:rPr lang="en-US" b="0">
                <a:solidFill>
                  <a:srgbClr val="000000"/>
                </a:solidFill>
                <a:ea typeface="+mj-lt"/>
                <a:cs typeface="+mj-lt"/>
              </a:rPr>
              <a:t> decision boundary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" name="Picture 3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5A33066D-B2CB-CFD3-1349-A685BE3D4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103" y="1299882"/>
            <a:ext cx="5972736" cy="47737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BFDAF8-93C7-F3AB-E252-4D67EFA684E9}"/>
              </a:ext>
            </a:extLst>
          </p:cNvPr>
          <p:cNvSpPr txBox="1"/>
          <p:nvPr/>
        </p:nvSpPr>
        <p:spPr>
          <a:xfrm>
            <a:off x="327302" y="1422374"/>
            <a:ext cx="544692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Since decision boundaries are best viewed in 2-Dimensional space, We selected the two most critical physical features for determining Crude Type: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API Gravity</a:t>
            </a:r>
            <a:r>
              <a:rPr lang="en-US">
                <a:latin typeface="Aptos"/>
                <a:ea typeface="+mn-lt"/>
                <a:cs typeface="+mn-lt"/>
              </a:rPr>
              <a:t> (X-axis): Represents density.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Viscosity</a:t>
            </a:r>
            <a:r>
              <a:rPr lang="en-US">
                <a:latin typeface="Aptos"/>
                <a:ea typeface="+mn-lt"/>
                <a:cs typeface="+mn-lt"/>
              </a:rPr>
              <a:t> (Y-axis): Represents flow resistance (Log-transformed).</a:t>
            </a:r>
            <a:endParaRPr lang="en-US">
              <a:latin typeface="Aptos"/>
              <a:cs typeface="Arial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The Regions:</a:t>
            </a:r>
            <a:r>
              <a:rPr lang="en-US">
                <a:latin typeface="Aptos"/>
                <a:ea typeface="+mn-lt"/>
                <a:cs typeface="+mn-lt"/>
              </a:rPr>
              <a:t> You will see three distinct colored regions (Blue, White/Grey, Red) representing the model's prediction zones for </a:t>
            </a:r>
            <a:r>
              <a:rPr lang="en-US" b="1">
                <a:latin typeface="Aptos"/>
                <a:ea typeface="+mn-lt"/>
                <a:cs typeface="+mn-lt"/>
              </a:rPr>
              <a:t>Light</a:t>
            </a:r>
            <a:r>
              <a:rPr lang="en-US">
                <a:latin typeface="Aptos"/>
                <a:ea typeface="+mn-lt"/>
                <a:cs typeface="+mn-lt"/>
              </a:rPr>
              <a:t>, </a:t>
            </a:r>
            <a:r>
              <a:rPr lang="en-US" b="1">
                <a:latin typeface="Aptos"/>
                <a:ea typeface="+mn-lt"/>
                <a:cs typeface="+mn-lt"/>
              </a:rPr>
              <a:t>Medium</a:t>
            </a:r>
            <a:r>
              <a:rPr lang="en-US">
                <a:latin typeface="Aptos"/>
                <a:ea typeface="+mn-lt"/>
                <a:cs typeface="+mn-lt"/>
              </a:rPr>
              <a:t>, and </a:t>
            </a:r>
            <a:r>
              <a:rPr lang="en-US" b="1">
                <a:latin typeface="Aptos"/>
                <a:ea typeface="+mn-lt"/>
                <a:cs typeface="+mn-lt"/>
              </a:rPr>
              <a:t>Heavy</a:t>
            </a:r>
            <a:r>
              <a:rPr lang="en-US">
                <a:latin typeface="Aptos"/>
                <a:ea typeface="+mn-lt"/>
                <a:cs typeface="+mn-lt"/>
              </a:rPr>
              <a:t>.</a:t>
            </a:r>
            <a:endParaRPr lang="en-US">
              <a:latin typeface="Aptos"/>
              <a:cs typeface="Arial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The Lines:</a:t>
            </a:r>
            <a:r>
              <a:rPr lang="en-US">
                <a:latin typeface="Aptos"/>
                <a:ea typeface="+mn-lt"/>
                <a:cs typeface="+mn-lt"/>
              </a:rPr>
              <a:t> The straight lines separating these regions are the "Hyperplanes." This confirms why the </a:t>
            </a:r>
            <a:r>
              <a:rPr lang="en-US" b="1">
                <a:latin typeface="Aptos"/>
                <a:ea typeface="+mn-lt"/>
                <a:cs typeface="+mn-lt"/>
              </a:rPr>
              <a:t>Linear SVM</a:t>
            </a:r>
            <a:r>
              <a:rPr lang="en-US">
                <a:latin typeface="Aptos"/>
                <a:ea typeface="+mn-lt"/>
                <a:cs typeface="+mn-lt"/>
              </a:rPr>
              <a:t> performed so well (100% accuracy)—the physics of crude oil allows for clean, straight-line cuts between types.</a:t>
            </a:r>
            <a:endParaRPr lang="en-US">
              <a:latin typeface="Aptos"/>
            </a:endParaRPr>
          </a:p>
          <a:p>
            <a:pPr algn="l"/>
            <a:endParaRPr lang="en-US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7576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B3CC-5D55-DB3B-BAEA-E220159FF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EFDB-2379-A010-3D6E-B1396882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9386350" cy="1132258"/>
          </a:xfrm>
        </p:spPr>
        <p:txBody>
          <a:bodyPr/>
          <a:lstStyle/>
          <a:p>
            <a:r>
              <a:rPr lang="en-US">
                <a:latin typeface="Segoe UI Black"/>
                <a:ea typeface="Segoe UI Black"/>
                <a:cs typeface="Calibri"/>
              </a:rPr>
              <a:t>Task 2: Sulfur </a:t>
            </a:r>
            <a:r>
              <a:rPr lang="en-US" err="1">
                <a:latin typeface="Segoe UI Black"/>
                <a:ea typeface="Segoe UI Black"/>
                <a:cs typeface="Calibri"/>
              </a:rPr>
              <a:t>Flavour</a:t>
            </a:r>
            <a:r>
              <a:rPr lang="en-US">
                <a:latin typeface="Segoe UI Black"/>
                <a:ea typeface="Segoe UI Black"/>
                <a:cs typeface="Calibri"/>
              </a:rPr>
              <a:t> (Binary)</a:t>
            </a:r>
            <a:endParaRPr lang="en-US">
              <a:latin typeface="Segoe UI Black"/>
              <a:ea typeface="Segoe UI Blac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70E07-2C34-20F9-470A-3C9CAB1B31E4}"/>
              </a:ext>
            </a:extLst>
          </p:cNvPr>
          <p:cNvSpPr txBox="1"/>
          <p:nvPr/>
        </p:nvSpPr>
        <p:spPr>
          <a:xfrm>
            <a:off x="893263" y="1578739"/>
            <a:ext cx="363956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Sulfur </a:t>
            </a:r>
            <a:r>
              <a:rPr lang="en-US" b="1" err="1">
                <a:latin typeface="Aptos"/>
                <a:ea typeface="+mn-lt"/>
                <a:cs typeface="+mn-lt"/>
              </a:rPr>
              <a:t>Flavour</a:t>
            </a:r>
            <a:r>
              <a:rPr lang="en-US" b="1">
                <a:latin typeface="Aptos"/>
                <a:ea typeface="+mn-lt"/>
                <a:cs typeface="+mn-lt"/>
              </a:rPr>
              <a:t> Classification Results (Sweet / Sour)</a:t>
            </a:r>
          </a:p>
          <a:p>
            <a:endParaRPr lang="en-US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All models (Logistic Regression, SVMs) performed identically with ~89% Accuracy.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Why?</a:t>
            </a:r>
            <a:r>
              <a:rPr lang="en-US">
                <a:latin typeface="Aptos"/>
                <a:ea typeface="+mn-lt"/>
                <a:cs typeface="+mn-lt"/>
              </a:rPr>
              <a:t> The feature Vanadium is such a strong predictor (proxy for sulfur) that the problem becomes trivial. The model just learns a simple rule: "If Vanadium &gt; X, it is Sour."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Used </a:t>
            </a:r>
            <a:r>
              <a:rPr lang="en-US" b="1">
                <a:latin typeface="Aptos"/>
                <a:ea typeface="+mn-lt"/>
                <a:cs typeface="+mn-lt"/>
              </a:rPr>
              <a:t>Logistic Regression</a:t>
            </a:r>
            <a:r>
              <a:rPr lang="en-US">
                <a:latin typeface="Aptos"/>
                <a:ea typeface="+mn-lt"/>
                <a:cs typeface="+mn-lt"/>
              </a:rPr>
              <a:t>. Since performance is identical, choose the simplest model. </a:t>
            </a:r>
          </a:p>
          <a:p>
            <a:pPr algn="ctr"/>
            <a:endParaRPr lang="en-US">
              <a:latin typeface="Aptos"/>
              <a:ea typeface="+mn-lt"/>
              <a:cs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6AACAB-02A8-E2FE-23D8-6F89F01E7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513343"/>
              </p:ext>
            </p:extLst>
          </p:nvPr>
        </p:nvGraphicFramePr>
        <p:xfrm>
          <a:off x="5367618" y="3237603"/>
          <a:ext cx="6277925" cy="853440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255585">
                  <a:extLst>
                    <a:ext uri="{9D8B030D-6E8A-4147-A177-3AD203B41FA5}">
                      <a16:colId xmlns:a16="http://schemas.microsoft.com/office/drawing/2014/main" val="1609581724"/>
                    </a:ext>
                  </a:extLst>
                </a:gridCol>
                <a:gridCol w="1255585">
                  <a:extLst>
                    <a:ext uri="{9D8B030D-6E8A-4147-A177-3AD203B41FA5}">
                      <a16:colId xmlns:a16="http://schemas.microsoft.com/office/drawing/2014/main" val="3835495936"/>
                    </a:ext>
                  </a:extLst>
                </a:gridCol>
                <a:gridCol w="1255585">
                  <a:extLst>
                    <a:ext uri="{9D8B030D-6E8A-4147-A177-3AD203B41FA5}">
                      <a16:colId xmlns:a16="http://schemas.microsoft.com/office/drawing/2014/main" val="3095914843"/>
                    </a:ext>
                  </a:extLst>
                </a:gridCol>
                <a:gridCol w="1255585">
                  <a:extLst>
                    <a:ext uri="{9D8B030D-6E8A-4147-A177-3AD203B41FA5}">
                      <a16:colId xmlns:a16="http://schemas.microsoft.com/office/drawing/2014/main" val="1968176060"/>
                    </a:ext>
                  </a:extLst>
                </a:gridCol>
                <a:gridCol w="1255585">
                  <a:extLst>
                    <a:ext uri="{9D8B030D-6E8A-4147-A177-3AD203B41FA5}">
                      <a16:colId xmlns:a16="http://schemas.microsoft.com/office/drawing/2014/main" val="4220396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Model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Accuracy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Precision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Recall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F1 Score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3211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All Models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88.9%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1.00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0.93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2740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676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B73E-29DF-4353-8163-4A4DFFBE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602A-BD5C-E18C-F80B-0D471F42C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9980262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Logistic Regression on Sulfur Flavour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DEEA3-02A8-8AB0-8A04-7367D8D4205E}"/>
              </a:ext>
            </a:extLst>
          </p:cNvPr>
          <p:cNvSpPr txBox="1"/>
          <p:nvPr/>
        </p:nvSpPr>
        <p:spPr>
          <a:xfrm>
            <a:off x="1602442" y="4908176"/>
            <a:ext cx="956982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Aptos"/>
                <a:ea typeface="+mn-lt"/>
                <a:cs typeface="+mn-lt"/>
              </a:rPr>
              <a:t>Sulfur </a:t>
            </a:r>
            <a:r>
              <a:rPr lang="en-US" b="1" err="1">
                <a:latin typeface="Aptos"/>
                <a:ea typeface="+mn-lt"/>
                <a:cs typeface="+mn-lt"/>
              </a:rPr>
              <a:t>Flavour</a:t>
            </a:r>
            <a:r>
              <a:rPr lang="en-US" b="1">
                <a:latin typeface="Aptos"/>
                <a:ea typeface="+mn-lt"/>
                <a:cs typeface="+mn-lt"/>
              </a:rPr>
              <a:t> (Logistic Regression):</a:t>
            </a:r>
            <a:endParaRPr lang="en-US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Confusion Matrix:</a:t>
            </a:r>
            <a:r>
              <a:rPr lang="en-US">
                <a:latin typeface="Aptos"/>
                <a:ea typeface="+mn-lt"/>
                <a:cs typeface="+mn-lt"/>
              </a:rPr>
              <a:t> Shows correct predictions for most samples, but likely 1 misclassification (since accuracy was ~89%).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ROC Curve:</a:t>
            </a:r>
            <a:r>
              <a:rPr lang="en-US">
                <a:latin typeface="Aptos"/>
                <a:ea typeface="+mn-lt"/>
                <a:cs typeface="+mn-lt"/>
              </a:rPr>
              <a:t> Shows a very high AUC (close to 1.00), indicating excellent discrimination between Sweet and Sour crudes.</a:t>
            </a:r>
          </a:p>
          <a:p>
            <a:endParaRPr lang="en-US" b="1"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B3670-1459-085D-49F0-FC4204E87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617" y="1137397"/>
            <a:ext cx="8314765" cy="34065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8589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C225B-D39F-3C7C-85B4-AFD256B8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A392-2D4A-4796-C351-EA407177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10596585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ea typeface="+mj-lt"/>
                <a:cs typeface="+mj-lt"/>
              </a:rPr>
              <a:t>Logistic Regression</a:t>
            </a:r>
            <a:r>
              <a:rPr lang="en-US" b="0">
                <a:solidFill>
                  <a:srgbClr val="000000"/>
                </a:solidFill>
                <a:ea typeface="+mj-lt"/>
                <a:cs typeface="+mj-lt"/>
              </a:rPr>
              <a:t> decision boundary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5B11B-4761-D21D-5DF1-BE7144B1D849}"/>
              </a:ext>
            </a:extLst>
          </p:cNvPr>
          <p:cNvSpPr txBox="1"/>
          <p:nvPr/>
        </p:nvSpPr>
        <p:spPr>
          <a:xfrm>
            <a:off x="6568979" y="1377550"/>
            <a:ext cx="5278833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We selected </a:t>
            </a:r>
            <a:r>
              <a:rPr lang="en-US" b="1">
                <a:latin typeface="Aptos"/>
                <a:ea typeface="+mn-lt"/>
                <a:cs typeface="+mn-lt"/>
              </a:rPr>
              <a:t>Vanadium</a:t>
            </a:r>
            <a:r>
              <a:rPr lang="en-US">
                <a:latin typeface="Aptos"/>
                <a:ea typeface="+mn-lt"/>
                <a:cs typeface="+mn-lt"/>
              </a:rPr>
              <a:t> (Log-transformed) as the X-axis because our analysis identified it as the strongest proxy for sulfur, and </a:t>
            </a:r>
            <a:r>
              <a:rPr lang="en-US" b="1">
                <a:latin typeface="Aptos"/>
                <a:ea typeface="+mn-lt"/>
                <a:cs typeface="+mn-lt"/>
              </a:rPr>
              <a:t>API Gravity</a:t>
            </a:r>
            <a:r>
              <a:rPr lang="en-US">
                <a:latin typeface="Aptos"/>
                <a:ea typeface="+mn-lt"/>
                <a:cs typeface="+mn-lt"/>
              </a:rPr>
              <a:t> as the Y-axis to represent crude density.</a:t>
            </a: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The Vertical Split:</a:t>
            </a:r>
            <a:r>
              <a:rPr lang="en-US">
                <a:latin typeface="Aptos"/>
                <a:ea typeface="+mn-lt"/>
                <a:cs typeface="+mn-lt"/>
              </a:rPr>
              <a:t> Notice how the decision boundary (the line between Red and Green) is almost perfectly </a:t>
            </a:r>
            <a:r>
              <a:rPr lang="en-US" b="1">
                <a:latin typeface="Aptos"/>
                <a:ea typeface="+mn-lt"/>
                <a:cs typeface="+mn-lt"/>
              </a:rPr>
              <a:t>vertical</a:t>
            </a:r>
            <a:r>
              <a:rPr lang="en-US">
                <a:latin typeface="Aptos"/>
                <a:ea typeface="+mn-lt"/>
                <a:cs typeface="+mn-lt"/>
              </a:rPr>
              <a:t>.</a:t>
            </a: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Meaning:</a:t>
            </a:r>
            <a:r>
              <a:rPr lang="en-US">
                <a:latin typeface="Aptos"/>
                <a:ea typeface="+mn-lt"/>
                <a:cs typeface="+mn-lt"/>
              </a:rPr>
              <a:t> The model depends almost entirely on </a:t>
            </a:r>
            <a:r>
              <a:rPr lang="en-US" b="1">
                <a:latin typeface="Aptos"/>
                <a:ea typeface="+mn-lt"/>
                <a:cs typeface="+mn-lt"/>
              </a:rPr>
              <a:t>Vanadium</a:t>
            </a:r>
            <a:r>
              <a:rPr lang="en-US">
                <a:latin typeface="Aptos"/>
                <a:ea typeface="+mn-lt"/>
                <a:cs typeface="+mn-lt"/>
              </a:rPr>
              <a:t> (X-axis) to make its decision. API Gravity (Y-axis) matters very little.</a:t>
            </a:r>
            <a:endParaRPr lang="en-US">
              <a:latin typeface="Aptos"/>
            </a:endParaRP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Insight:</a:t>
            </a:r>
            <a:r>
              <a:rPr lang="en-US">
                <a:latin typeface="Aptos"/>
                <a:ea typeface="+mn-lt"/>
                <a:cs typeface="+mn-lt"/>
              </a:rPr>
              <a:t> There is a clear "Metal Threshold" (around 3 on the log scale, or </a:t>
            </a:r>
            <a:r>
              <a:rPr lang="en-US" err="1">
                <a:latin typeface="Aptos"/>
                <a:ea typeface="+mn-lt"/>
                <a:cs typeface="+mn-lt"/>
              </a:rPr>
              <a:t>approx</a:t>
            </a:r>
            <a:r>
              <a:rPr lang="en-US">
                <a:latin typeface="Aptos"/>
                <a:ea typeface="+mn-lt"/>
                <a:cs typeface="+mn-lt"/>
              </a:rPr>
              <a:t> 20 ppm). If Vanadium is higher than this, the crude is classified as </a:t>
            </a:r>
            <a:r>
              <a:rPr lang="en-US" b="1">
                <a:latin typeface="Aptos"/>
                <a:ea typeface="+mn-lt"/>
                <a:cs typeface="+mn-lt"/>
              </a:rPr>
              <a:t>Sour</a:t>
            </a:r>
            <a:r>
              <a:rPr lang="en-US">
                <a:latin typeface="Aptos"/>
                <a:ea typeface="+mn-lt"/>
                <a:cs typeface="+mn-lt"/>
              </a:rPr>
              <a:t> (Red). If it's lower, it's </a:t>
            </a:r>
            <a:r>
              <a:rPr lang="en-US" b="1">
                <a:latin typeface="Aptos"/>
                <a:ea typeface="+mn-lt"/>
                <a:cs typeface="+mn-lt"/>
              </a:rPr>
              <a:t>Sweet</a:t>
            </a:r>
            <a:r>
              <a:rPr lang="en-US">
                <a:latin typeface="Aptos"/>
                <a:ea typeface="+mn-lt"/>
                <a:cs typeface="+mn-lt"/>
              </a:rPr>
              <a:t> (Green).</a:t>
            </a:r>
            <a:endParaRPr lang="en-US">
              <a:latin typeface="Aptos"/>
            </a:endParaRPr>
          </a:p>
          <a:p>
            <a:pPr>
              <a:buFont typeface="Arial"/>
              <a:buChar char="•"/>
            </a:pPr>
            <a:endParaRPr lang="en-US">
              <a:latin typeface="Aptos"/>
              <a:cs typeface="Arial"/>
            </a:endParaRPr>
          </a:p>
          <a:p>
            <a:pPr algn="l"/>
            <a:endParaRPr lang="en-US">
              <a:latin typeface="Aptos"/>
              <a:cs typeface="Arial"/>
            </a:endParaRPr>
          </a:p>
        </p:txBody>
      </p:sp>
      <p:pic>
        <p:nvPicPr>
          <p:cNvPr id="3" name="Picture 2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9BD7178D-9094-5D7A-E063-5DF34ADC2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91" y="1381040"/>
            <a:ext cx="5732659" cy="45560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74681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99B15-FB91-1C5D-8463-E9867C7D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23D541-32E6-5B09-A63A-EE8095DC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ea typeface="Segoe UI Black"/>
              </a:rPr>
              <a:t>Regression</a:t>
            </a:r>
            <a:endParaRPr lang="en-US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9306455A-ADD0-5DAE-7C98-D8613C8A1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759628"/>
              </p:ext>
            </p:extLst>
          </p:nvPr>
        </p:nvGraphicFramePr>
        <p:xfrm>
          <a:off x="839521" y="1828002"/>
          <a:ext cx="10302346" cy="4646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8405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05F7B-83CA-703A-5FF3-1B41ABC5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6C943-997D-EEF2-D42C-691CBB03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8801803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Task 1: Estimate API Gravity</a:t>
            </a:r>
            <a:endParaRPr lang="en-US">
              <a:latin typeface="Segoe UI Black"/>
              <a:ea typeface="Segoe UI Blac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C66BE-25C2-D00A-F19F-31D72A6ADDEE}"/>
              </a:ext>
            </a:extLst>
          </p:cNvPr>
          <p:cNvSpPr txBox="1"/>
          <p:nvPr/>
        </p:nvSpPr>
        <p:spPr>
          <a:xfrm>
            <a:off x="298583" y="1433063"/>
            <a:ext cx="477734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API Gravity Prediction Results</a:t>
            </a:r>
            <a:endParaRPr lang="en-US" b="1">
              <a:latin typeface="Aptos"/>
            </a:endParaRPr>
          </a:p>
          <a:p>
            <a:pPr algn="ctr"/>
            <a:endParaRPr lang="en-US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Linear SVR</a:t>
            </a:r>
            <a:r>
              <a:rPr lang="en-US">
                <a:latin typeface="Aptos"/>
                <a:ea typeface="+mn-lt"/>
                <a:cs typeface="+mn-lt"/>
              </a:rPr>
              <a:t> is the best model, explaining </a:t>
            </a:r>
            <a:r>
              <a:rPr lang="en-US" b="1">
                <a:latin typeface="Aptos"/>
                <a:ea typeface="+mn-lt"/>
                <a:cs typeface="+mn-lt"/>
              </a:rPr>
              <a:t>95.1% of the variance</a:t>
            </a:r>
            <a:r>
              <a:rPr lang="en-US">
                <a:latin typeface="Aptos"/>
                <a:ea typeface="+mn-lt"/>
                <a:cs typeface="+mn-lt"/>
              </a:rPr>
              <a:t> in API Gravity. Ridge Regression is a very close second.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Why Linear Works:</a:t>
            </a:r>
            <a:r>
              <a:rPr lang="en-US">
                <a:latin typeface="Aptos"/>
                <a:ea typeface="+mn-lt"/>
                <a:cs typeface="+mn-lt"/>
              </a:rPr>
              <a:t> API Gravity is physically defined by the mixture of light hydrocarbons. The selected features (C7 paraffins, C6, n-Pentane) have a direct, additive (linear) contribution to density.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Why RBF Failed:</a:t>
            </a:r>
            <a:r>
              <a:rPr lang="en-US">
                <a:latin typeface="Aptos"/>
                <a:ea typeface="+mn-lt"/>
                <a:cs typeface="+mn-lt"/>
              </a:rPr>
              <a:t> The RBF kernel (non-linear) performed poorly (R</a:t>
            </a:r>
            <a:r>
              <a:rPr lang="en-US" baseline="30000">
                <a:latin typeface="Aptos"/>
                <a:ea typeface="+mn-lt"/>
                <a:cs typeface="+mn-lt"/>
              </a:rPr>
              <a:t>2</a:t>
            </a:r>
            <a:r>
              <a:rPr lang="en-US">
                <a:latin typeface="Aptos"/>
                <a:ea typeface="+mn-lt"/>
                <a:cs typeface="+mn-lt"/>
              </a:rPr>
              <a:t> = 0.16), likely due to the small dataset size (41 samples). Complex models often overfit or fail to converge on small data, whereas linear models are robust.</a:t>
            </a:r>
          </a:p>
          <a:p>
            <a:pPr algn="ctr"/>
            <a:endParaRPr lang="en-US">
              <a:latin typeface="Aptos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DF4584-7556-7E7C-ACE9-13F66B0C5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068755"/>
              </p:ext>
            </p:extLst>
          </p:nvPr>
        </p:nvGraphicFramePr>
        <p:xfrm>
          <a:off x="5532328" y="2265123"/>
          <a:ext cx="6354210" cy="316024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710732">
                  <a:extLst>
                    <a:ext uri="{9D8B030D-6E8A-4147-A177-3AD203B41FA5}">
                      <a16:colId xmlns:a16="http://schemas.microsoft.com/office/drawing/2014/main" val="341892547"/>
                    </a:ext>
                  </a:extLst>
                </a:gridCol>
                <a:gridCol w="1134102">
                  <a:extLst>
                    <a:ext uri="{9D8B030D-6E8A-4147-A177-3AD203B41FA5}">
                      <a16:colId xmlns:a16="http://schemas.microsoft.com/office/drawing/2014/main" val="4078318974"/>
                    </a:ext>
                  </a:extLst>
                </a:gridCol>
                <a:gridCol w="1904144">
                  <a:extLst>
                    <a:ext uri="{9D8B030D-6E8A-4147-A177-3AD203B41FA5}">
                      <a16:colId xmlns:a16="http://schemas.microsoft.com/office/drawing/2014/main" val="4130852914"/>
                    </a:ext>
                  </a:extLst>
                </a:gridCol>
                <a:gridCol w="1605232">
                  <a:extLst>
                    <a:ext uri="{9D8B030D-6E8A-4147-A177-3AD203B41FA5}">
                      <a16:colId xmlns:a16="http://schemas.microsoft.com/office/drawing/2014/main" val="867616370"/>
                    </a:ext>
                  </a:extLst>
                </a:gridCol>
              </a:tblGrid>
              <a:tr h="413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Model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R</a:t>
                      </a:r>
                      <a:r>
                        <a:rPr lang="en-US" sz="1600" baseline="30000">
                          <a:effectLst/>
                          <a:latin typeface="Aptos"/>
                        </a:rPr>
                        <a:t>2</a:t>
                      </a:r>
                      <a:r>
                        <a:rPr lang="en-US" sz="1600">
                          <a:effectLst/>
                          <a:latin typeface="Aptos"/>
                        </a:rPr>
                        <a:t> 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RMSE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MAE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4781145"/>
                  </a:ext>
                </a:extLst>
              </a:tr>
              <a:tr h="413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effectLst/>
                          <a:latin typeface="Aptos"/>
                        </a:rPr>
                        <a:t>SVR (Linear)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effectLst/>
                          <a:latin typeface="Aptos"/>
                        </a:rPr>
                        <a:t>0.951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effectLst/>
                          <a:latin typeface="Aptos"/>
                        </a:rPr>
                        <a:t>2.10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>
                          <a:effectLst/>
                          <a:latin typeface="Aptos"/>
                        </a:rPr>
                        <a:t>1.75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4872152"/>
                  </a:ext>
                </a:extLst>
              </a:tr>
              <a:tr h="413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Ridge Regression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0.949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2.14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1.55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97710220"/>
                  </a:ext>
                </a:extLst>
              </a:tr>
              <a:tr h="413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Linear Regression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0.927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2.57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1.56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44431117"/>
                  </a:ext>
                </a:extLst>
              </a:tr>
              <a:tr h="413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LASSO Regression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0.919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2.70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2.01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97717723"/>
                  </a:ext>
                </a:extLst>
              </a:tr>
              <a:tr h="413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SVR (RBF)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0.159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8.72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>
                          <a:effectLst/>
                          <a:latin typeface="Aptos"/>
                        </a:rPr>
                        <a:t>5.37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62680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479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294A-2768-EE8E-6613-4709FC8F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2BA7-F5FE-C024-FC5F-547371D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8108880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Linear SVR for API Gravity</a:t>
            </a:r>
            <a:endParaRPr lang="en-US">
              <a:ea typeface="Segoe UI Blac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17414-2E8A-15EE-4489-A60B1463E092}"/>
              </a:ext>
            </a:extLst>
          </p:cNvPr>
          <p:cNvSpPr txBox="1"/>
          <p:nvPr/>
        </p:nvSpPr>
        <p:spPr>
          <a:xfrm>
            <a:off x="437030" y="2151530"/>
            <a:ext cx="565897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API Gravity Plot (Linear SVR)</a:t>
            </a:r>
            <a:endParaRPr lang="en-US">
              <a:latin typeface="Aptos"/>
              <a:ea typeface="+mn-lt"/>
              <a:cs typeface="+mn-lt"/>
            </a:endParaRPr>
          </a:p>
          <a:p>
            <a:pPr algn="ctr"/>
            <a:endParaRPr lang="en-US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What to look for:</a:t>
            </a:r>
            <a:r>
              <a:rPr lang="en-US">
                <a:latin typeface="Aptos"/>
                <a:ea typeface="+mn-lt"/>
                <a:cs typeface="+mn-lt"/>
              </a:rPr>
              <a:t> You will see the blue dots hugging the red dashed line very tightly.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 The scatter plot demonstrates a strong linear alignment (R</a:t>
            </a:r>
            <a:r>
              <a:rPr lang="en-US" baseline="30000">
                <a:latin typeface="Aptos"/>
                <a:ea typeface="+mn-lt"/>
                <a:cs typeface="+mn-lt"/>
              </a:rPr>
              <a:t>2</a:t>
            </a:r>
            <a:r>
              <a:rPr lang="en-US">
                <a:latin typeface="Aptos"/>
                <a:ea typeface="+mn-lt"/>
                <a:cs typeface="+mn-lt"/>
              </a:rPr>
              <a:t> = 0.951), confirming that the selected light hydrocarbon features are excellent predictors of API Gravity. The low spread of residuals indicates high model precision.</a:t>
            </a:r>
            <a:endParaRPr lang="en-US">
              <a:latin typeface="Aptos"/>
            </a:endParaRPr>
          </a:p>
          <a:p>
            <a:endParaRPr lang="en-US" b="1">
              <a:latin typeface="Aptos"/>
            </a:endParaRPr>
          </a:p>
        </p:txBody>
      </p:sp>
      <p:pic>
        <p:nvPicPr>
          <p:cNvPr id="4" name="Picture 3" descr="A graph with a red line and blue dots">
            <a:extLst>
              <a:ext uri="{FF2B5EF4-FFF2-40B4-BE49-F238E27FC236}">
                <a16:creationId xmlns:a16="http://schemas.microsoft.com/office/drawing/2014/main" id="{E2BDE3F7-85D2-6BBC-D95F-89645A30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185" y="1034337"/>
            <a:ext cx="5165913" cy="509867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0265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4F711-4375-71D7-5778-4B9945D0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1CB54-CA6C-B4E9-118D-E12B6B33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8801803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Task 1: Estimate Total Sulphur</a:t>
            </a:r>
            <a:endParaRPr lang="en-US">
              <a:latin typeface="Segoe UI Black"/>
              <a:ea typeface="Segoe UI Blac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10A7F-37A7-0A44-09D6-E4B59820CCB6}"/>
              </a:ext>
            </a:extLst>
          </p:cNvPr>
          <p:cNvSpPr txBox="1"/>
          <p:nvPr/>
        </p:nvSpPr>
        <p:spPr>
          <a:xfrm>
            <a:off x="298583" y="1130504"/>
            <a:ext cx="495664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Total Sulfur Prediction Results</a:t>
            </a:r>
          </a:p>
          <a:p>
            <a:pPr algn="ctr"/>
            <a:endParaRPr lang="en-US" b="1">
              <a:latin typeface="Apto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Issue:</a:t>
            </a:r>
            <a:r>
              <a:rPr lang="en-US">
                <a:latin typeface="Aptos"/>
                <a:ea typeface="+mn-lt"/>
                <a:cs typeface="+mn-lt"/>
              </a:rPr>
              <a:t> Negative R2 means the models are performing worse than a simple horizontal line (mean value).</a:t>
            </a: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Cause:</a:t>
            </a:r>
            <a:r>
              <a:rPr lang="en-US">
                <a:latin typeface="Aptos"/>
                <a:ea typeface="+mn-lt"/>
                <a:cs typeface="+mn-lt"/>
              </a:rPr>
              <a:t> The "Total Sulfur" variable is highly skewed with extreme outliers (3.87%, Mean 0.59%). The test set likely contained one of these outliers that the model failed to predict, causing massive penalization in the R</a:t>
            </a:r>
            <a:r>
              <a:rPr lang="en-US" baseline="30000">
                <a:latin typeface="Aptos"/>
                <a:ea typeface="+mn-lt"/>
                <a:cs typeface="+mn-lt"/>
              </a:rPr>
              <a:t>2</a:t>
            </a:r>
            <a:r>
              <a:rPr lang="en-US">
                <a:latin typeface="Aptos"/>
                <a:ea typeface="+mn-lt"/>
                <a:cs typeface="+mn-lt"/>
              </a:rPr>
              <a:t> score. However, look at the </a:t>
            </a:r>
            <a:r>
              <a:rPr lang="en-US" b="1">
                <a:latin typeface="Aptos"/>
                <a:ea typeface="+mn-lt"/>
                <a:cs typeface="+mn-lt"/>
              </a:rPr>
              <a:t>RMSE (0.22)</a:t>
            </a:r>
            <a:r>
              <a:rPr lang="en-US">
                <a:latin typeface="Aptos"/>
                <a:ea typeface="+mn-lt"/>
                <a:cs typeface="+mn-lt"/>
              </a:rPr>
              <a:t>. The average error is actually quite low (0.22% sulfur error).</a:t>
            </a:r>
            <a:endParaRPr lang="en-US">
              <a:latin typeface="Aptos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Recommendation:</a:t>
            </a:r>
            <a:r>
              <a:rPr lang="en-US">
                <a:latin typeface="Aptos"/>
                <a:ea typeface="+mn-lt"/>
                <a:cs typeface="+mn-lt"/>
              </a:rPr>
              <a:t> While the R</a:t>
            </a:r>
            <a:r>
              <a:rPr lang="en-US" baseline="30000">
                <a:latin typeface="Aptos"/>
                <a:ea typeface="+mn-lt"/>
                <a:cs typeface="+mn-lt"/>
              </a:rPr>
              <a:t>2</a:t>
            </a:r>
            <a:r>
              <a:rPr lang="en-US">
                <a:latin typeface="Aptos"/>
                <a:ea typeface="+mn-lt"/>
                <a:cs typeface="+mn-lt"/>
              </a:rPr>
              <a:t> is bad (due to outliers), an error of </a:t>
            </a:r>
            <a:r>
              <a:rPr lang="en-US" b="1">
                <a:latin typeface="Aptos"/>
                <a:ea typeface="+mn-lt"/>
                <a:cs typeface="+mn-lt"/>
              </a:rPr>
              <a:t>0.22% </a:t>
            </a:r>
            <a:r>
              <a:rPr lang="en-US" b="1" err="1">
                <a:latin typeface="Aptos"/>
                <a:ea typeface="+mn-lt"/>
                <a:cs typeface="+mn-lt"/>
              </a:rPr>
              <a:t>wt</a:t>
            </a:r>
            <a:r>
              <a:rPr lang="en-US">
                <a:latin typeface="Aptos"/>
                <a:ea typeface="+mn-lt"/>
                <a:cs typeface="+mn-lt"/>
              </a:rPr>
              <a:t> might be acceptable for rough screening. To improve this, we would need more data or a specialized model for outliers</a:t>
            </a:r>
            <a:endParaRPr lang="en-US">
              <a:latin typeface="Aptos"/>
            </a:endParaRPr>
          </a:p>
          <a:p>
            <a:pPr algn="ctr"/>
            <a:endParaRPr lang="en-US">
              <a:latin typeface="Aptos"/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1E8799E-F614-D09E-E4B9-0D78B45EF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59395"/>
              </p:ext>
            </p:extLst>
          </p:nvPr>
        </p:nvGraphicFramePr>
        <p:xfrm>
          <a:off x="5580530" y="2283759"/>
          <a:ext cx="6460344" cy="2748718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615086">
                  <a:extLst>
                    <a:ext uri="{9D8B030D-6E8A-4147-A177-3AD203B41FA5}">
                      <a16:colId xmlns:a16="http://schemas.microsoft.com/office/drawing/2014/main" val="2325204345"/>
                    </a:ext>
                  </a:extLst>
                </a:gridCol>
                <a:gridCol w="1615086">
                  <a:extLst>
                    <a:ext uri="{9D8B030D-6E8A-4147-A177-3AD203B41FA5}">
                      <a16:colId xmlns:a16="http://schemas.microsoft.com/office/drawing/2014/main" val="2002736250"/>
                    </a:ext>
                  </a:extLst>
                </a:gridCol>
                <a:gridCol w="1615086">
                  <a:extLst>
                    <a:ext uri="{9D8B030D-6E8A-4147-A177-3AD203B41FA5}">
                      <a16:colId xmlns:a16="http://schemas.microsoft.com/office/drawing/2014/main" val="777754788"/>
                    </a:ext>
                  </a:extLst>
                </a:gridCol>
                <a:gridCol w="1615086">
                  <a:extLst>
                    <a:ext uri="{9D8B030D-6E8A-4147-A177-3AD203B41FA5}">
                      <a16:colId xmlns:a16="http://schemas.microsoft.com/office/drawing/2014/main" val="2272714408"/>
                    </a:ext>
                  </a:extLst>
                </a:gridCol>
              </a:tblGrid>
              <a:tr h="4457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Model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R</a:t>
                      </a:r>
                      <a:r>
                        <a:rPr lang="en-US" baseline="30000">
                          <a:effectLst/>
                          <a:latin typeface="Aptos"/>
                        </a:rPr>
                        <a:t>2</a:t>
                      </a:r>
                      <a:r>
                        <a:rPr lang="en-US">
                          <a:effectLst/>
                          <a:latin typeface="Aptos"/>
                        </a:rPr>
                        <a:t> 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RMSE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MAE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09663400"/>
                  </a:ext>
                </a:extLst>
              </a:tr>
              <a:tr h="4457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effectLst/>
                          <a:latin typeface="Aptos"/>
                        </a:rPr>
                        <a:t>SVR (RBF)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effectLst/>
                          <a:latin typeface="Aptos"/>
                        </a:rPr>
                        <a:t>-0.08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effectLst/>
                          <a:latin typeface="Aptos"/>
                        </a:rPr>
                        <a:t>0.22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effectLst/>
                          <a:latin typeface="Aptos"/>
                        </a:rPr>
                        <a:t>0.18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49615126"/>
                  </a:ext>
                </a:extLst>
              </a:tr>
              <a:tr h="4457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SVR (Linear)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-0.35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0.21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61647264"/>
                  </a:ext>
                </a:extLst>
              </a:tr>
              <a:tr h="4457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Ridge Regression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-3.37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0.44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0.38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69864061"/>
                  </a:ext>
                </a:extLst>
              </a:tr>
              <a:tr h="71041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Linear Regression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-4.39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0.49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0.42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09068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736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76DE-EC98-6024-A7C7-BA852F5D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8864-8BA9-AA15-C188-B934E698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8108880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SVR (RBF) for Total Sulphur</a:t>
            </a:r>
            <a:endParaRPr lang="en-US">
              <a:ea typeface="Segoe UI Blac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1C22F-D331-EFD9-345F-2EED66B5264F}"/>
              </a:ext>
            </a:extLst>
          </p:cNvPr>
          <p:cNvSpPr txBox="1"/>
          <p:nvPr/>
        </p:nvSpPr>
        <p:spPr>
          <a:xfrm>
            <a:off x="437030" y="2005854"/>
            <a:ext cx="577102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Total Sulphur Plot (SVR - RBF)</a:t>
            </a:r>
            <a:endParaRPr lang="en-US">
              <a:latin typeface="Aptos"/>
              <a:ea typeface="+mn-lt"/>
              <a:cs typeface="+mn-lt"/>
            </a:endParaRPr>
          </a:p>
          <a:p>
            <a:pPr algn="ctr"/>
            <a:endParaRPr lang="en-US" b="1">
              <a:latin typeface="Aptos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What to look for:</a:t>
            </a:r>
            <a:r>
              <a:rPr lang="en-US">
                <a:latin typeface="Aptos"/>
                <a:ea typeface="+mn-lt"/>
                <a:cs typeface="+mn-lt"/>
              </a:rPr>
              <a:t> You will likely see a cluster of points near the bottom-left (low sulfur) that fit reasonably well, but one or two points far away from the red line.</a:t>
            </a:r>
          </a:p>
          <a:p>
            <a:pPr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The dispersion in the Sulfur prediction plot highlights the challenge of outliers. While the model predicts low-sulfur samples accurately, the extreme 'sour' samples deviate from the trend line, reducing the overall R</a:t>
            </a:r>
            <a:r>
              <a:rPr lang="en-US" baseline="30000">
                <a:latin typeface="Aptos"/>
                <a:ea typeface="+mn-lt"/>
                <a:cs typeface="+mn-lt"/>
              </a:rPr>
              <a:t>2</a:t>
            </a:r>
            <a:r>
              <a:rPr lang="en-US">
                <a:latin typeface="Aptos"/>
                <a:ea typeface="+mn-lt"/>
                <a:cs typeface="+mn-lt"/>
              </a:rPr>
              <a:t> score.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Aptos"/>
              <a:cs typeface="Arial"/>
            </a:endParaRPr>
          </a:p>
          <a:p>
            <a:endParaRPr lang="en-US" b="1">
              <a:latin typeface="Aptos"/>
            </a:endParaRPr>
          </a:p>
        </p:txBody>
      </p:sp>
      <p:pic>
        <p:nvPicPr>
          <p:cNvPr id="3" name="Picture 2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4F303129-CA59-992B-5411-F019A429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512" y="1136276"/>
            <a:ext cx="5145741" cy="514574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2795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898F-1E55-A6EB-7103-440AA2D92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043E2B-6523-8C66-7D05-C3F5E696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>
                <a:ea typeface="Segoe UI Black"/>
              </a:rPr>
              <a:t>Clustering</a:t>
            </a:r>
            <a:endParaRPr lang="en-US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54449CA-A5A2-9DDB-F9F6-66599D7378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1660068"/>
              </p:ext>
            </p:extLst>
          </p:nvPr>
        </p:nvGraphicFramePr>
        <p:xfrm>
          <a:off x="839521" y="886708"/>
          <a:ext cx="10302346" cy="5408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8968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1768-8827-3B7E-53A2-C2896A57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4CA7-01AB-6822-FCFB-88AFAFB7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10036291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Segoe UI Black"/>
                <a:cs typeface="Calibri"/>
              </a:rPr>
              <a:t>K-means Clustering (Visual Insight) </a:t>
            </a:r>
            <a:endParaRPr lang="en-US" b="0">
              <a:solidFill>
                <a:srgbClr val="000000"/>
              </a:solidFill>
              <a:latin typeface="Segoe UI Black"/>
              <a:ea typeface="Segoe UI Black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E3D13-3113-6287-3F30-6B28E1D8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059" y="1137397"/>
            <a:ext cx="7384678" cy="30367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C65BFF-0BA8-2450-40AA-BE0733E864BF}"/>
              </a:ext>
            </a:extLst>
          </p:cNvPr>
          <p:cNvSpPr txBox="1"/>
          <p:nvPr/>
        </p:nvSpPr>
        <p:spPr>
          <a:xfrm>
            <a:off x="800409" y="4544475"/>
            <a:ext cx="1107559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  <a:ea typeface="+mn-lt"/>
                <a:cs typeface="+mn-lt"/>
              </a:rPr>
              <a:t>We performed </a:t>
            </a:r>
            <a:r>
              <a:rPr lang="en-US" b="1">
                <a:latin typeface="Aptos"/>
                <a:ea typeface="+mn-lt"/>
                <a:cs typeface="+mn-lt"/>
              </a:rPr>
              <a:t>K-Means Clustering</a:t>
            </a:r>
            <a:r>
              <a:rPr lang="en-US">
                <a:latin typeface="Aptos"/>
                <a:ea typeface="+mn-lt"/>
                <a:cs typeface="+mn-lt"/>
              </a:rPr>
              <a:t> (using the Elbow Method to determine the optimal number of groups)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The analysis found a distinct sub-group (Cluster 0) of extremely high API, low-sulfur crudes that are chemically distinct even from the standard "Light" category. These are likely highly valuable </a:t>
            </a:r>
            <a:r>
              <a:rPr lang="en-US" b="1">
                <a:latin typeface="Aptos"/>
                <a:ea typeface="+mn-lt"/>
                <a:cs typeface="+mn-lt"/>
              </a:rPr>
              <a:t>Condensates</a:t>
            </a:r>
            <a:r>
              <a:rPr lang="en-US">
                <a:latin typeface="Aptos"/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The scatter plot (generated in the code output) shows:</a:t>
            </a:r>
            <a:endParaRPr lang="en-US">
              <a:latin typeface="Aptos"/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Cluster 2 (Heavy)</a:t>
            </a:r>
            <a:r>
              <a:rPr lang="en-US">
                <a:latin typeface="Aptos"/>
                <a:ea typeface="+mn-lt"/>
                <a:cs typeface="+mn-lt"/>
              </a:rPr>
              <a:t> is isolated far away from the others, confirming it is chemically unique.</a:t>
            </a:r>
            <a:endParaRPr lang="en-US">
              <a:latin typeface="Aptos"/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Cluster 0 (Super Light)</a:t>
            </a:r>
            <a:r>
              <a:rPr lang="en-US">
                <a:latin typeface="Aptos"/>
                <a:ea typeface="+mn-lt"/>
                <a:cs typeface="+mn-lt"/>
              </a:rPr>
              <a:t> and </a:t>
            </a:r>
            <a:r>
              <a:rPr lang="en-US" b="1">
                <a:latin typeface="Aptos"/>
                <a:ea typeface="+mn-lt"/>
                <a:cs typeface="+mn-lt"/>
              </a:rPr>
              <a:t>Cluster 1 (Medium)</a:t>
            </a:r>
            <a:r>
              <a:rPr lang="en-US">
                <a:latin typeface="Aptos"/>
                <a:ea typeface="+mn-lt"/>
                <a:cs typeface="+mn-lt"/>
              </a:rPr>
              <a:t> are closer but still distinct, suggesting a continuous spectrum of quality that K-Means successfully segmented.</a:t>
            </a:r>
            <a:endParaRPr lang="en-US">
              <a:latin typeface="Aptos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3908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85BA-6FD2-78DC-360B-DA6CBCFB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EFA5-534E-11C0-ADB4-A8EE668B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6795951" cy="113225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latin typeface="Segoe UI Black"/>
                <a:ea typeface="Calibri"/>
                <a:cs typeface="Calibri"/>
              </a:rPr>
              <a:t>K-means (3 Clusters)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4F6DA-3670-B3EA-2994-E5EB85A0248A}"/>
              </a:ext>
            </a:extLst>
          </p:cNvPr>
          <p:cNvSpPr txBox="1"/>
          <p:nvPr/>
        </p:nvSpPr>
        <p:spPr>
          <a:xfrm>
            <a:off x="6360965" y="760710"/>
            <a:ext cx="49566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  <a:ea typeface="+mn-lt"/>
                <a:cs typeface="+mn-lt"/>
              </a:rPr>
              <a:t>Clustering Results (K-Means, k=3)</a:t>
            </a:r>
            <a:endParaRPr lang="en-US" b="1">
              <a:latin typeface="Apto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33BFF8-E72C-3F21-43EA-A717C0BA0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73892"/>
              </p:ext>
            </p:extLst>
          </p:nvPr>
        </p:nvGraphicFramePr>
        <p:xfrm>
          <a:off x="369793" y="1490382"/>
          <a:ext cx="11154936" cy="4419343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1859156">
                  <a:extLst>
                    <a:ext uri="{9D8B030D-6E8A-4147-A177-3AD203B41FA5}">
                      <a16:colId xmlns:a16="http://schemas.microsoft.com/office/drawing/2014/main" val="3629414185"/>
                    </a:ext>
                  </a:extLst>
                </a:gridCol>
                <a:gridCol w="1859156">
                  <a:extLst>
                    <a:ext uri="{9D8B030D-6E8A-4147-A177-3AD203B41FA5}">
                      <a16:colId xmlns:a16="http://schemas.microsoft.com/office/drawing/2014/main" val="1772625104"/>
                    </a:ext>
                  </a:extLst>
                </a:gridCol>
                <a:gridCol w="1859156">
                  <a:extLst>
                    <a:ext uri="{9D8B030D-6E8A-4147-A177-3AD203B41FA5}">
                      <a16:colId xmlns:a16="http://schemas.microsoft.com/office/drawing/2014/main" val="751956167"/>
                    </a:ext>
                  </a:extLst>
                </a:gridCol>
                <a:gridCol w="1859156">
                  <a:extLst>
                    <a:ext uri="{9D8B030D-6E8A-4147-A177-3AD203B41FA5}">
                      <a16:colId xmlns:a16="http://schemas.microsoft.com/office/drawing/2014/main" val="1160635977"/>
                    </a:ext>
                  </a:extLst>
                </a:gridCol>
                <a:gridCol w="1859156">
                  <a:extLst>
                    <a:ext uri="{9D8B030D-6E8A-4147-A177-3AD203B41FA5}">
                      <a16:colId xmlns:a16="http://schemas.microsoft.com/office/drawing/2014/main" val="2052425106"/>
                    </a:ext>
                  </a:extLst>
                </a:gridCol>
                <a:gridCol w="1859156">
                  <a:extLst>
                    <a:ext uri="{9D8B030D-6E8A-4147-A177-3AD203B41FA5}">
                      <a16:colId xmlns:a16="http://schemas.microsoft.com/office/drawing/2014/main" val="3020133637"/>
                    </a:ext>
                  </a:extLst>
                </a:gridCol>
              </a:tblGrid>
              <a:tr h="43819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Cluster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API Gravity (Mean)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Viscosity (Mean)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Sulfur (Mean)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Nickel (Mean)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Interpretation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9664455"/>
                  </a:ext>
                </a:extLst>
              </a:tr>
              <a:tr h="114196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Cluster 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59.4°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0.8 </a:t>
                      </a:r>
                      <a:r>
                        <a:rPr lang="en-US" sz="1400" err="1">
                          <a:effectLst/>
                          <a:latin typeface="Aptos"/>
                        </a:rPr>
                        <a:t>cSt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0.02%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0.16 ppm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"</a:t>
                      </a:r>
                      <a:r>
                        <a:rPr lang="en-US" sz="1400" b="1">
                          <a:effectLst/>
                          <a:latin typeface="Aptos"/>
                        </a:rPr>
                        <a:t>Super Light / Condensate</a:t>
                      </a:r>
                      <a:r>
                        <a:rPr lang="en-US" sz="1400">
                          <a:effectLst/>
                          <a:latin typeface="Aptos"/>
                        </a:rPr>
                        <a:t>"</a:t>
                      </a:r>
                      <a:endParaRPr lang="en-US" sz="1400">
                        <a:effectLst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Extremely pure, almost water-like viscosity.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6459061"/>
                  </a:ext>
                </a:extLst>
              </a:tr>
              <a:tr h="146064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Cluster 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34.9°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13.0 </a:t>
                      </a:r>
                      <a:r>
                        <a:rPr lang="en-US" sz="1400" err="1">
                          <a:effectLst/>
                          <a:latin typeface="Aptos"/>
                        </a:rPr>
                        <a:t>cSt</a:t>
                      </a:r>
                      <a:endParaRPr lang="en-US" sz="1400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0.45%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8.33 ppm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"</a:t>
                      </a:r>
                      <a:r>
                        <a:rPr lang="en-US" sz="1400" b="1">
                          <a:effectLst/>
                          <a:latin typeface="Aptos"/>
                        </a:rPr>
                        <a:t>Conventional Light/Medium</a:t>
                      </a:r>
                      <a:r>
                        <a:rPr lang="en-US" sz="1400">
                          <a:effectLst/>
                          <a:latin typeface="Aptos"/>
                        </a:rPr>
                        <a:t>"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The standard refinery baseload (matches most "Medium" samples).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89398146"/>
                  </a:ext>
                </a:extLst>
              </a:tr>
              <a:tr h="130130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Cluster 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22.1°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328.3 </a:t>
                      </a:r>
                      <a:r>
                        <a:rPr lang="en-US" sz="1400" err="1">
                          <a:effectLst/>
                          <a:latin typeface="Aptos"/>
                        </a:rPr>
                        <a:t>cSt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1.56%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31.2 ppm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"</a:t>
                      </a:r>
                      <a:r>
                        <a:rPr lang="en-US" sz="1400" b="1">
                          <a:effectLst/>
                          <a:latin typeface="Aptos"/>
                        </a:rPr>
                        <a:t>Heavy / Sour</a:t>
                      </a:r>
                      <a:r>
                        <a:rPr lang="en-US" sz="1400">
                          <a:effectLst/>
                          <a:latin typeface="Aptos"/>
                        </a:rPr>
                        <a:t>"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>
                          <a:effectLst/>
                          <a:latin typeface="Aptos"/>
                        </a:rPr>
                        <a:t>High viscosity, high metal, high sulfur. Requires complex processing.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6047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827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71DD-0F88-EB81-F189-114D48523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0AAB-08A1-4ED4-AA8A-C1696F4A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6874392" cy="1132258"/>
          </a:xfrm>
        </p:spPr>
        <p:txBody>
          <a:bodyPr/>
          <a:lstStyle/>
          <a:p>
            <a:r>
              <a:rPr lang="en-US" b="0">
                <a:solidFill>
                  <a:srgbClr val="000000"/>
                </a:solidFill>
                <a:ea typeface="+mj-lt"/>
                <a:cs typeface="+mj-lt"/>
              </a:rPr>
              <a:t>Hierarchical Clustering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6CC1B-F122-B482-C1A0-4A830B5D6E15}"/>
              </a:ext>
            </a:extLst>
          </p:cNvPr>
          <p:cNvSpPr txBox="1"/>
          <p:nvPr/>
        </p:nvSpPr>
        <p:spPr>
          <a:xfrm>
            <a:off x="1030580" y="1453351"/>
            <a:ext cx="10136662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ptos"/>
                <a:ea typeface="+mn-lt"/>
                <a:cs typeface="+mn-lt"/>
              </a:rPr>
              <a:t>Dendrogram Analysis (The "Family Tree" of Crude)</a:t>
            </a:r>
          </a:p>
          <a:p>
            <a:pPr algn="ctr"/>
            <a:endParaRPr lang="en-US" sz="2000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b="1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Colored Branches = Distinct Chemical Families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Aptos"/>
                <a:ea typeface="+mn-lt"/>
                <a:cs typeface="+mn-lt"/>
              </a:rPr>
              <a:t>Different colors represent crude oils that are </a:t>
            </a:r>
            <a:r>
              <a:rPr lang="en-US" b="1">
                <a:latin typeface="Aptos"/>
                <a:ea typeface="+mn-lt"/>
                <a:cs typeface="+mn-lt"/>
              </a:rPr>
              <a:t>chemically distinct</a:t>
            </a:r>
            <a:r>
              <a:rPr lang="en-US">
                <a:latin typeface="Aptos"/>
                <a:ea typeface="+mn-lt"/>
                <a:cs typeface="+mn-lt"/>
              </a:rPr>
              <a:t> enough to be treated as separate groups by a refinery.</a:t>
            </a: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Height of Color Change:</a:t>
            </a:r>
            <a:r>
              <a:rPr lang="en-US">
                <a:latin typeface="Aptos"/>
                <a:ea typeface="+mn-lt"/>
                <a:cs typeface="+mn-lt"/>
              </a:rPr>
              <a:t> The lower the color change happens, the more specific the subgroup.</a:t>
            </a:r>
            <a:endParaRPr lang="en-US">
              <a:latin typeface="Aptos"/>
            </a:endParaRPr>
          </a:p>
          <a:p>
            <a:endParaRPr lang="en-US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Cluster 1 (Green Branch): The "Complex" Group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Composition:</a:t>
            </a:r>
            <a:r>
              <a:rPr lang="en-US">
                <a:latin typeface="Aptos"/>
                <a:ea typeface="+mn-lt"/>
                <a:cs typeface="+mn-lt"/>
              </a:rPr>
              <a:t> Heavy, Sour, High-Viscosity oils.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Refining Need:</a:t>
            </a:r>
            <a:r>
              <a:rPr lang="en-US">
                <a:latin typeface="Aptos"/>
                <a:ea typeface="+mn-lt"/>
                <a:cs typeface="+mn-lt"/>
              </a:rPr>
              <a:t> Requires specialized hardware (Cokers/Hydrotreaters).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Risk:</a:t>
            </a:r>
            <a:r>
              <a:rPr lang="en-US">
                <a:latin typeface="Aptos"/>
                <a:ea typeface="+mn-lt"/>
                <a:cs typeface="+mn-lt"/>
              </a:rPr>
              <a:t> High metal content (Catalyst poisons).</a:t>
            </a:r>
            <a:endParaRPr lang="en-US">
              <a:latin typeface="Aptos"/>
            </a:endParaRPr>
          </a:p>
          <a:p>
            <a:pPr lvl="1"/>
            <a:endParaRPr lang="en-US"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+mn-lt"/>
                <a:cs typeface="+mn-lt"/>
              </a:rPr>
              <a:t>Cluster 2 (Orange Branch): The "Clean" Group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Composition:</a:t>
            </a:r>
            <a:r>
              <a:rPr lang="en-US">
                <a:latin typeface="Aptos"/>
                <a:ea typeface="+mn-lt"/>
                <a:cs typeface="+mn-lt"/>
              </a:rPr>
              <a:t> Light, Sweet, Low-Metal oils.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Refining Need:</a:t>
            </a:r>
            <a:r>
              <a:rPr lang="en-US">
                <a:latin typeface="Aptos"/>
                <a:ea typeface="+mn-lt"/>
                <a:cs typeface="+mn-lt"/>
              </a:rPr>
              <a:t> Simple distillation; high yield of gasoline/diesel.</a:t>
            </a:r>
            <a:endParaRPr lang="en-US">
              <a:latin typeface="Aptos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latin typeface="Aptos"/>
                <a:ea typeface="+mn-lt"/>
                <a:cs typeface="+mn-lt"/>
              </a:rPr>
              <a:t>Value:</a:t>
            </a:r>
            <a:r>
              <a:rPr lang="en-US">
                <a:latin typeface="Aptos"/>
                <a:ea typeface="+mn-lt"/>
                <a:cs typeface="+mn-lt"/>
              </a:rPr>
              <a:t> Premium market price.</a:t>
            </a:r>
            <a:endParaRPr lang="en-US">
              <a:latin typeface="Aptos"/>
            </a:endParaRPr>
          </a:p>
          <a:p>
            <a:pPr algn="l"/>
            <a:endParaRPr lang="en-US"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98553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B9301-2515-442C-9C90-760B864E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26C-36E8-20DA-0D7E-AEEA13EA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" y="1518"/>
            <a:ext cx="5159893" cy="1132258"/>
          </a:xfrm>
        </p:spPr>
        <p:txBody>
          <a:bodyPr/>
          <a:lstStyle/>
          <a:p>
            <a:r>
              <a:rPr lang="en-US" b="0">
                <a:solidFill>
                  <a:srgbClr val="000000"/>
                </a:solidFill>
                <a:ea typeface="+mj-lt"/>
                <a:cs typeface="+mj-lt"/>
              </a:rPr>
              <a:t>Dendrogram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E8676-BC3D-5F95-E9E7-D5D0E560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12" y="1131794"/>
            <a:ext cx="8348384" cy="549088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03560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894509-4CDF-2BC4-DABE-86D592B1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653" y="2558836"/>
            <a:ext cx="6735597" cy="3793838"/>
          </a:xfrm>
        </p:spPr>
        <p:txBody>
          <a:bodyPr/>
          <a:lstStyle/>
          <a:p>
            <a:r>
              <a:rPr lang="en-US" altLang="zh-CN"/>
              <a:t>Results and Conclusions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D3822D-53D9-989F-ED9D-19A259050E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50334" y="1649960"/>
            <a:ext cx="831916" cy="597807"/>
          </a:xfrm>
        </p:spPr>
        <p:txBody>
          <a:bodyPr/>
          <a:lstStyle/>
          <a:p>
            <a:r>
              <a:rPr lang="en-US" altLang="zh-CN"/>
              <a:t>06</a:t>
            </a:r>
            <a:endParaRPr lang="zh-CN" altLang="en-US"/>
          </a:p>
        </p:txBody>
      </p:sp>
      <p:pic>
        <p:nvPicPr>
          <p:cNvPr id="6" name="Picture 5" descr="Conclusion Stock Illustrations – 18,404 Conclusion Stock Illustrations,  Vectors &amp; Clipart - Dreamstime">
            <a:extLst>
              <a:ext uri="{FF2B5EF4-FFF2-40B4-BE49-F238E27FC236}">
                <a16:creationId xmlns:a16="http://schemas.microsoft.com/office/drawing/2014/main" id="{7FF78E13-E6F2-EAE6-706B-8237F2BFF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51" y="1701452"/>
            <a:ext cx="3350714" cy="345509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212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1893A-DF1D-7DD3-0C05-8A427767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kern="1200" dirty="0">
                <a:latin typeface="+mj-lt"/>
                <a:ea typeface="+mj-ea"/>
                <a:cs typeface="+mj-cs"/>
              </a:rPr>
              <a:t>Executive Summary</a:t>
            </a:r>
            <a:endParaRPr lang="en-US" sz="4800" kern="1200">
              <a:latin typeface="+mj-lt"/>
              <a:ea typeface="Segoe UI Black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5" name="TextBox 8">
            <a:extLst>
              <a:ext uri="{FF2B5EF4-FFF2-40B4-BE49-F238E27FC236}">
                <a16:creationId xmlns:a16="http://schemas.microsoft.com/office/drawing/2014/main" id="{2D8C83ED-E994-08C8-895C-9E7D1BF28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943324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6958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26215-D57C-C424-CC08-E35D8747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5BD824-6572-5E0A-6C5A-F2CD27FA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b="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Physicochemical Insights (EDA)</a:t>
            </a:r>
            <a:endParaRPr lang="en-US" sz="3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555F24E9-1C48-0120-3B71-0A63054AE6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8622425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6371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19DD3-948C-249F-A94F-9286D12F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16ED69FA-FE97-BC8B-6D25-B60A198887F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104" r="9085" b="894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D1338-B2E9-2229-EFC9-27C5E59DA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 b="0" dirty="0"/>
              <a:t>Predictive Modeling Results</a:t>
            </a:r>
            <a:endParaRPr lang="en-US" sz="4300" dirty="0">
              <a:ea typeface="Segoe UI Black"/>
            </a:endParaRP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CD75BDD7-09C1-EC69-FA3C-3F890123EA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1023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1527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BEF7B-3ACF-5441-66E5-B03DBF1C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EC64E-3B2F-259E-2DE5-B4ECFD8C2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036" y="354687"/>
            <a:ext cx="12430948" cy="13568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 b="0" kern="1200" dirty="0">
                <a:latin typeface="+mj-lt"/>
                <a:ea typeface="+mj-ea"/>
                <a:cs typeface="+mj-cs"/>
              </a:rPr>
              <a:t>Unsupervised </a:t>
            </a:r>
            <a:r>
              <a:rPr lang="en-US" sz="4300" b="0" dirty="0"/>
              <a:t>Discovery - </a:t>
            </a:r>
            <a:r>
              <a:rPr lang="en-US" sz="4300" b="0" kern="1200" dirty="0">
                <a:latin typeface="+mj-lt"/>
                <a:ea typeface="+mj-ea"/>
                <a:cs typeface="+mj-cs"/>
              </a:rPr>
              <a:t>Clustering</a:t>
            </a:r>
            <a:endParaRPr lang="en-US" sz="4300" kern="1200" dirty="0">
              <a:latin typeface="+mj-lt"/>
              <a:ea typeface="+mj-ea"/>
              <a:cs typeface="+mj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E7800CCC-52F8-10F4-52D8-1CE33B5C34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38565"/>
              </p:ext>
            </p:extLst>
          </p:nvPr>
        </p:nvGraphicFramePr>
        <p:xfrm>
          <a:off x="1120036" y="171080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90436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32234D-9429-C6D6-BF22-0BB56D87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850B5-554A-48EF-4AAC-D7D100A4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227" y="386002"/>
            <a:ext cx="984223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300" b="0" kern="1200" dirty="0">
                <a:latin typeface="+mj-lt"/>
                <a:ea typeface="+mj-ea"/>
                <a:cs typeface="+mj-cs"/>
              </a:rPr>
              <a:t>Strategic Recommendations</a:t>
            </a:r>
            <a:endParaRPr lang="en-US" sz="4300" kern="1200" dirty="0">
              <a:latin typeface="+mj-lt"/>
              <a:ea typeface="Segoe UI Black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6D4AB2AA-E5C9-0075-6112-D57EDEB7FD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7894595"/>
              </p:ext>
            </p:extLst>
          </p:nvPr>
        </p:nvGraphicFramePr>
        <p:xfrm>
          <a:off x="1203542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7856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0FB4AB-7EBB-ED7D-2267-A21053E4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64" y="1532081"/>
            <a:ext cx="5273221" cy="3793838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GB"/>
          </a:p>
        </p:txBody>
      </p:sp>
      <p:pic>
        <p:nvPicPr>
          <p:cNvPr id="7" name="Picture 6" descr="A large industrial area with a large sun in the background&#10;&#10;AI-generated content may be incorrect.">
            <a:extLst>
              <a:ext uri="{FF2B5EF4-FFF2-40B4-BE49-F238E27FC236}">
                <a16:creationId xmlns:a16="http://schemas.microsoft.com/office/drawing/2014/main" id="{D134150C-7FED-15DE-3460-5214DF49E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054" y="1210850"/>
            <a:ext cx="3288083" cy="43110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0898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E86BAD-86C6-47EA-A0F9-642802C2FE2B}">
  <ds:schemaRefs>
    <ds:schemaRef ds:uri="21705155-b4ce-4c69-95dc-4fd6cb8c5571"/>
    <ds:schemaRef ds:uri="38de0ec0-4312-429b-9ba4-a6f7899b8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1333B44-FF7C-4DD4-AB3A-1FC68C05FF35}">
  <ds:schemaRefs>
    <ds:schemaRef ds:uri="21705155-b4ce-4c69-95dc-4fd6cb8c5571"/>
    <ds:schemaRef ds:uri="38de0ec0-4312-429b-9ba4-a6f7899b86f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31DED828-D6B6-42DA-8DEE-DE8638CBB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Custom</vt:lpstr>
      <vt:lpstr>Crude Oil Characterization and Quality Prediction</vt:lpstr>
      <vt:lpstr>Agenda</vt:lpstr>
      <vt:lpstr>Project Foundation</vt:lpstr>
      <vt:lpstr>Why Crude Oil Quality Matters</vt:lpstr>
      <vt:lpstr>Our Machine Learning Objectives</vt:lpstr>
      <vt:lpstr>Dataset Overview</vt:lpstr>
      <vt:lpstr>PowerPoint Presentation</vt:lpstr>
      <vt:lpstr>The Crude Oil Dataset</vt:lpstr>
      <vt:lpstr>Exploratory Data Analysis (EDA)</vt:lpstr>
      <vt:lpstr>Univariate Statistics</vt:lpstr>
      <vt:lpstr>Key Statistics</vt:lpstr>
      <vt:lpstr>Conclusion &amp; Strategic Value</vt:lpstr>
      <vt:lpstr>Univariate Plots</vt:lpstr>
      <vt:lpstr>Box Plot Analysis (Outliers and Extremes)</vt:lpstr>
      <vt:lpstr>Histogram Analysis (Distribution &amp; Shape)</vt:lpstr>
      <vt:lpstr>Bivariate Statistics</vt:lpstr>
      <vt:lpstr>Critical Feature Relationships</vt:lpstr>
      <vt:lpstr>Summary of Statistical Dependencies</vt:lpstr>
      <vt:lpstr>Multivariate Graphical Analysis</vt:lpstr>
      <vt:lpstr>Correlation Heatmap (Relationships)</vt:lpstr>
      <vt:lpstr>Pair Plot (Cluster Identification)</vt:lpstr>
      <vt:lpstr>Scatter Plots (Specific Trends)</vt:lpstr>
      <vt:lpstr>Data Preprocessing and Feature Selection</vt:lpstr>
      <vt:lpstr>Feature Selection (Regression)</vt:lpstr>
      <vt:lpstr>Feature Selection (Classification)</vt:lpstr>
      <vt:lpstr>Data Preprocessing &amp; Encoding Strategy</vt:lpstr>
      <vt:lpstr>Machine Learning Models</vt:lpstr>
      <vt:lpstr>Classification</vt:lpstr>
      <vt:lpstr>Task 1: Crude Type (Multi-Class)</vt:lpstr>
      <vt:lpstr>Linear SVM on Crude Type</vt:lpstr>
      <vt:lpstr>Linear SVM decision boundary</vt:lpstr>
      <vt:lpstr>Task 2: Sulfur Flavour (Binary)</vt:lpstr>
      <vt:lpstr>Logistic Regression on Sulfur Flavour</vt:lpstr>
      <vt:lpstr>Logistic Regression decision boundary</vt:lpstr>
      <vt:lpstr>Regression</vt:lpstr>
      <vt:lpstr>Task 1: Estimate API Gravity</vt:lpstr>
      <vt:lpstr>Linear SVR for API Gravity</vt:lpstr>
      <vt:lpstr>Task 1: Estimate Total Sulphur</vt:lpstr>
      <vt:lpstr>SVR (RBF) for Total Sulphur</vt:lpstr>
      <vt:lpstr>Clustering</vt:lpstr>
      <vt:lpstr>K-means Clustering (Visual Insight) </vt:lpstr>
      <vt:lpstr>K-means (3 Clusters)</vt:lpstr>
      <vt:lpstr>Hierarchical Clustering</vt:lpstr>
      <vt:lpstr>Dendrogram</vt:lpstr>
      <vt:lpstr>Results and Conclusions</vt:lpstr>
      <vt:lpstr>Executive Summary</vt:lpstr>
      <vt:lpstr>Key Physicochemical Insights (EDA)</vt:lpstr>
      <vt:lpstr>Predictive Modeling Results</vt:lpstr>
      <vt:lpstr>Unsupervised Discovery - Clustering</vt:lpstr>
      <vt:lpstr>Strategic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179</cp:revision>
  <dcterms:created xsi:type="dcterms:W3CDTF">2025-11-25T16:45:30Z</dcterms:created>
  <dcterms:modified xsi:type="dcterms:W3CDTF">2025-11-26T11:06:25Z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